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507" autoAdjust="0"/>
  </p:normalViewPr>
  <p:slideViewPr>
    <p:cSldViewPr snapToGrid="0">
      <p:cViewPr varScale="1">
        <p:scale>
          <a:sx n="67" d="100"/>
          <a:sy n="67" d="100"/>
        </p:scale>
        <p:origin x="126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mở đầu bằng việc giới thiệu đề tài, mục tiêu lớn là xây dựng một pipeline từ phân loại bệnh đến định vị vùng bệnh trên lá sầu riêng. Điểm cần nhấn mạnh là luận văn không chỉ dự đoán nhãn ảnh, mà còn thử giải quyết bài toán phân đoạn khi thiếu nhãn pixel đầy đủ.</a:t>
            </a:r>
          </a:p>
          <a:p>
            <a:endParaRPr/>
          </a:p>
          <a:p>
            <a:r>
              <a:t>Key message: Đề tài đi từ nhận diện bệnh đến định vị vùng bệnh bằng weak supervision.</a:t>
            </a:r>
          </a:p>
          <a:p>
            <a:endParaRPr/>
          </a:p>
          <a:p>
            <a:r>
              <a:t>Transition: Trước hết, em trình bày vì sao bài toán này đáng giải quyết.</a:t>
            </a:r>
          </a:p>
          <a:p>
            <a:endParaRPr/>
          </a:p>
          <a:p>
            <a:r>
              <a:t>[Sources]</a:t>
            </a:r>
          </a:p>
          <a:p>
            <a:r>
              <a:t>- DOCX luận văn hiện tại</a:t>
            </a:r>
          </a:p>
          <a:p>
            <a:r>
              <a:t>- notebooks/visualizations/eda/sample_images_per_class.png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đặt bối cảnh thực tế. Em nên nói gọn rằng trong nông nghiệp, phát hiện sớm giúp can thiệp kịp thời, nhưng quan sát thủ công có giới hạn về thời gian và tính nhất quán. Computer Vision phù hợp vì dữ liệu ảnh có thể thu từ điện thoại, và segmentation giúp tiến thêm một bước so với classification.</a:t>
            </a:r>
          </a:p>
          <a:p>
            <a:endParaRPr/>
          </a:p>
          <a:p>
            <a:r>
              <a:t>Key message: Bài toán cần cả phân loại lẫn định vị vùng bệnh.</a:t>
            </a:r>
          </a:p>
          <a:p>
            <a:endParaRPr/>
          </a:p>
          <a:p>
            <a:r>
              <a:t>Transition: Từ nhu cầu thực tế đó, em định nghĩa bài toán nghiên cứu.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giải thích rằng bài toán được chia thành hai tầng. Tầng đầu là classification, tương đối thuận lợi vì dataset có nhãn ảnh. Tầng hai là segmentation, khó hơn vì không có ground truth pixel đầy đủ, nên luận văn phải sinh nhãn giả từ mô hình phân loại và kiểm chứng lại bằng GT_OK.</a:t>
            </a:r>
          </a:p>
          <a:p>
            <a:endParaRPr/>
          </a:p>
          <a:p>
            <a:r>
              <a:t>Key message: Segmentation là phần khó vì nhãn pixel không có sẵn.</a:t>
            </a:r>
          </a:p>
          <a:p>
            <a:endParaRPr/>
          </a:p>
          <a:p>
            <a:r>
              <a:t>Transition: Các mục tiêu nghiên cứu được xây dựng xoay quanh hai đầu ra này.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trình bày bốn mục tiêu chính, tránh đi vào quá nhiều mục tiêu phụ. Điểm nên nhấn mạnh là mỗi mục tiêu đều có cách kiểm chứng bằng notebook hoặc metric cụ thể. Đặc biệt, câu hỏi cuối về GT_OK là điểm giúp luận văn không overclaim kết quả segmentation.</a:t>
            </a:r>
          </a:p>
          <a:p>
            <a:endParaRPr/>
          </a:p>
          <a:p>
            <a:r>
              <a:t>Key message: Mỗi mục tiêu đều gắn với một câu hỏi có thể kiểm chứng.</a:t>
            </a:r>
          </a:p>
          <a:p>
            <a:endParaRPr/>
          </a:p>
          <a:p>
            <a:r>
              <a:t>Transition: Để giải quyết các mục tiêu đó, em dựa trên một số nhóm phương pháp nền.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không cần biến thành literature review dài. Em nói rõ vai trò của từng nhóm: EfficientNet giải quyết classification, U-Net/UNet++ giải quyết segmentation, Grad-CAM++ tạo cầu nối bằng pseudo-label, còn SAM được kiểm tra thực nghiệm chứ không mặc định là tốt.</a:t>
            </a:r>
          </a:p>
          <a:p>
            <a:endParaRPr/>
          </a:p>
          <a:p>
            <a:r>
              <a:t>Key message: Mỗi thành phần có vai trò rõ trong pipeline, không dùng như danh sách mô hình rời rạc.</a:t>
            </a:r>
          </a:p>
          <a:p>
            <a:endParaRPr/>
          </a:p>
          <a:p>
            <a:r>
              <a:t>Transition: Khi ghép các thành phần lại, pipeline tổng thể như sau.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xương sống của bài nói. Em đi từng bước: dữ liệu, mô hình phân loại, giải thích bằng Grad-CAM++, sinh nhãn giả, train segmentation, và đánh giá bằng GT_OK. Câu quan trọng nhất: pseudo-label là công cụ huấn luyện, không phải chuẩn sự thật.</a:t>
            </a:r>
          </a:p>
          <a:p>
            <a:endParaRPr/>
          </a:p>
          <a:p>
            <a:r>
              <a:t>Key message: GT_OK là điểm neo để đọc kết quả segmentation.</a:t>
            </a:r>
          </a:p>
          <a:p>
            <a:endParaRPr/>
          </a:p>
          <a:p>
            <a:r>
              <a:t>Transition: Tiếp theo là dữ liệu, vì dữ liệu quyết định cách đọc toàn bộ kết quả.</a:t>
            </a:r>
          </a:p>
          <a:p>
            <a:endParaRPr/>
          </a:p>
          <a:p>
            <a:r>
              <a:t>[Sources]</a:t>
            </a:r>
          </a:p>
          <a:p>
            <a:r>
              <a:t>- Kaggle dataset</a:t>
            </a:r>
          </a:p>
          <a:p>
            <a:r>
              <a:t>- notebooks 01-12</a:t>
            </a:r>
          </a:p>
          <a:p>
            <a:r>
              <a:t>- docs/thesis/SOURCE_AUDIT_2026-08-30.md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nêu nguồn Kaggle và các con số chính. Dữ liệu có 4.437 ảnh, chia thành train 3.104, validation 443 và test 890. Phân bố lớp tương đối cân bằng nhưng không hoàn toàn đều, vì vậy vẫn cần xem metric theo lớp.</a:t>
            </a:r>
          </a:p>
          <a:p>
            <a:endParaRPr/>
          </a:p>
          <a:p>
            <a:r>
              <a:t>Key message: Dataset đủ để huấn luyện classification, nhưng segmentation vẫn thiếu mask pixel đầy đủ.</a:t>
            </a:r>
          </a:p>
          <a:p>
            <a:endParaRPr/>
          </a:p>
          <a:p>
            <a:r>
              <a:t>Transition: Với dữ liệu ảnh thực địa, bước tiền xử lý và augmentation rất quan trọng.</a:t>
            </a:r>
          </a:p>
          <a:p>
            <a:endParaRPr/>
          </a:p>
          <a:p>
            <a:r>
              <a:t>[Sources]</a:t>
            </a:r>
          </a:p>
          <a:p>
            <a:r>
              <a:t>- https://www.kaggle.com/datasets/cthng123/durian-leaf-disease-dataset/data</a:t>
            </a:r>
          </a:p>
          <a:p>
            <a:r>
              <a:t>- notebooks/data/processed/dataset_summary_clean.json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giải thích ngắn: tiền xử lý cho classification khá chuẩn, còn segmentation cần cẩn thận hơn vì ảnh và mask phải biến đổi đồng bộ. Nếu augmentation làm lệch ảnh và mask, mô hình sẽ học nhãn sai. Đây là lý do luận văn ghi rõ augmentation cho từng nhóm thí nghiệm.</a:t>
            </a:r>
          </a:p>
          <a:p>
            <a:endParaRPr/>
          </a:p>
          <a:p>
            <a:r>
              <a:t>Key message: Với segmentation, transform phải bảo toàn quan hệ ảnh-mask.</a:t>
            </a:r>
          </a:p>
          <a:p>
            <a:endParaRPr/>
          </a:p>
          <a:p>
            <a:r>
              <a:t>Transition: Sau khi chuẩn bị dữ liệu, mô hình đầu tiên là mô hình phân loại.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EfficientNet-B0 được chọn vì cân bằng giữa hiệu năng và chi phí. Trong luận văn, mô hình này không chỉ là mô hình phân loại cuối cùng mà còn là nền để sinh bản đồ chú ý. Vì vậy nếu classification yếu thì các bước sau cũng sẽ yếu.</a:t>
            </a:r>
          </a:p>
          <a:p>
            <a:endParaRPr/>
          </a:p>
          <a:p>
            <a:r>
              <a:t>Key message: Classification mạnh là điều kiện nền cho bước sinh pseudo-label.</a:t>
            </a:r>
          </a:p>
          <a:p>
            <a:endParaRPr/>
          </a:p>
          <a:p>
            <a:r>
              <a:t>Transition: Từ mô hình phân loại, em chuyển sang explainability.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nói rằng Grad-CAM++ không phải segmentation model. Nó chỉ cho biết mô hình phân loại chú ý vào đâu. Luận văn tận dụng tín hiệu này để sinh mask giả, sau đó hậu xử lý. Với Healthy Leaf, ép mask rỗng là hợp lý vì không có vùng bệnh.</a:t>
            </a:r>
          </a:p>
          <a:p>
            <a:endParaRPr/>
          </a:p>
          <a:p>
            <a:r>
              <a:t>Key message: Grad-CAM++ là cầu nối từ nhãn ảnh sang nhãn pixel giả.</a:t>
            </a:r>
          </a:p>
          <a:p>
            <a:endParaRPr/>
          </a:p>
          <a:p>
            <a:r>
              <a:t>Transition: Từ đó, luận văn thiết kế các thí nghiệm segmentation E1-E4.</a:t>
            </a:r>
          </a:p>
          <a:p>
            <a:endParaRPr/>
          </a:p>
          <a:p>
            <a:r>
              <a:t>[Sources]</a:t>
            </a:r>
          </a:p>
          <a:p>
            <a:r>
              <a:t>- notebooks/visualizations/gradcam/gradcam_best_per_class.png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slide này cần tránh nói V1-V5. Em dùng E1-E4 để hội đồng không bị thắc mắc thiếu V4. E1 là baseline, E2 cải thiện Grad-CAM, E3 kiểm tra SAM, E4 dùng prior màu. F1 là fusion/hậu xử lý, không phải mô hình được train mới.</a:t>
            </a:r>
          </a:p>
          <a:p>
            <a:endParaRPr/>
          </a:p>
          <a:p>
            <a:r>
              <a:t>Key message: Các thí nghiệm kiểm tra từng hướng tạo pseudo-label, còn F1 là cấu hình final.</a:t>
            </a:r>
          </a:p>
          <a:p>
            <a:endParaRPr/>
          </a:p>
          <a:p>
            <a:r>
              <a:t>Transition: Các thí nghiệm này được huấn luyện và chọn checkpoint theo metric mục tiêu.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nhấn mạnh bài học checkpoint. Với segmentation, nhất là mask nhỏ và mất cân bằng, loss có thể không đồng pha với IoU. Sau rerun, E2-E4 được đọc theo val_IoU, giúp kết quả phản ánh đúng metric mục tiêu hơn. F1 thì khác: đó là hậu xử lý được tune bằng GT_OK.</a:t>
            </a:r>
          </a:p>
          <a:p>
            <a:endParaRPr/>
          </a:p>
          <a:p>
            <a:r>
              <a:t>Key message: Tiêu chí chọn checkpoint phải bám vào metric cần tối ưu.</a:t>
            </a:r>
          </a:p>
          <a:p>
            <a:endParaRPr/>
          </a:p>
          <a:p>
            <a:r>
              <a:t>Transition: Trước khi xem kết quả, cần làm rõ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phương pháp luận quan trọng. Em nên nói rõ hai loại metric segmentation: nếu đo trên pseudo-test thì chỉ biết mô hình tái tạo pseudo-label tốt thế nào. Nếu đo trên GT_OK thì mới có mốc chung để so sánh E1-E4 và F1. Đây là lý do một số kết quả nhìn tốt trên pseudo-test nhưng không tốt trên GT_OK.</a:t>
            </a:r>
          </a:p>
          <a:p>
            <a:endParaRPr/>
          </a:p>
          <a:p>
            <a:r>
              <a:t>Key message: Không được đọc pseudo-test như ground truth.</a:t>
            </a:r>
          </a:p>
          <a:p>
            <a:endParaRPr/>
          </a:p>
          <a:p>
            <a:r>
              <a:t>Transition: Sau khi thống nhất metric, em trình bày kết quả classification.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Classification là phần có kết quả mạnh nhất. Trên 890 ảnh test, accuracy và weighted F1 đều đạt 97,19%. Confusion matrix cho thấy vẫn có nhầm lẫn, nhưng không có lớp nào sụp hiệu năng. Kết quả này đủ tốt để dùng mô hình classification làm nền cho explainability.</a:t>
            </a:r>
          </a:p>
          <a:p>
            <a:endParaRPr/>
          </a:p>
          <a:p>
            <a:r>
              <a:t>Key message: Backbone phân loại đủ tin cậy để sinh tín hiệu XAI.</a:t>
            </a:r>
          </a:p>
          <a:p>
            <a:endParaRPr/>
          </a:p>
          <a:p>
            <a:r>
              <a:t>Transition: Kết quả segmentation khó hơn và cần đọc cẩn thận hơn.</a:t>
            </a:r>
          </a:p>
          <a:p>
            <a:endParaRPr/>
          </a:p>
          <a:p>
            <a:r>
              <a:t>[Sources]</a:t>
            </a:r>
          </a:p>
          <a:p>
            <a:r>
              <a:t>- notebooks/models/classification/metrics/test_metrics.json</a:t>
            </a:r>
          </a:p>
          <a:p>
            <a:r>
              <a:t>- notebooks/models/classification/metrics/test_metrics_enhanced.json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kết quả quan trọng nhất. Em nên nói: nếu chỉ xét checkpoint đơn lẻ, E4 cao nhất nhưng rất sát E1. Nếu cho phép fusion/hậu xử lý, F1 đạt IoU 0,3083 và Dice 0,4713 trên full GT_OK. Đồng thời phải nói rõ F1 có tune bằng 40 ảnh GT_OK nên không nên overclaim như kết quả production.</a:t>
            </a:r>
          </a:p>
          <a:p>
            <a:endParaRPr/>
          </a:p>
          <a:p>
            <a:r>
              <a:t>Key message: F1 tốt nhất hiện tại, nhưng kết luận cần thận trọng vì GT_OK nhỏ.</a:t>
            </a:r>
          </a:p>
          <a:p>
            <a:endParaRPr/>
          </a:p>
          <a:p>
            <a:r>
              <a:t>Transition: Các hình trực quan giúp giải thích vì sao số liệu lại như vậy.</a:t>
            </a:r>
          </a:p>
          <a:p>
            <a:endParaRPr/>
          </a:p>
          <a:p>
            <a:r>
              <a:t>[Sources]</a:t>
            </a:r>
          </a:p>
          <a:p>
            <a:r>
              <a:t>- notebooks/models/final_gt_ok_audit/FINAL_SEGMENTATION_GT_OK_REPORT.md</a:t>
            </a:r>
          </a:p>
          <a:p>
            <a:r>
              <a:t>- notebooks/models/segmentation_final/metrics/final_hybrid_gtok_metrics.json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slide này em không cần đọc số. Em chỉ cho hội đồng nhìn thấy sự khác nhau giữa các loại nhãn giả và dự đoán cuối. Grad-CAM++ có ý nghĩa định vị nhưng còn thô. SAM nhìn có vẻ đẹp hơn ở biên, nhưng có thể mở rộng quá vùng bệnh. F1 cố gắng cân bằng lại bằng hậu xử lý.</a:t>
            </a:r>
          </a:p>
          <a:p>
            <a:endParaRPr/>
          </a:p>
          <a:p>
            <a:r>
              <a:t>Key message: Chất lượng segmentation phụ thuộc trực tiếp vào chất lượng pseudo-label.</a:t>
            </a:r>
          </a:p>
          <a:p>
            <a:endParaRPr/>
          </a:p>
          <a:p>
            <a:r>
              <a:t>Transition: Từ hình ảnh này, ta phân tích sâu hơn các failure cases.</a:t>
            </a:r>
          </a:p>
          <a:p>
            <a:endParaRPr/>
          </a:p>
          <a:p>
            <a:r>
              <a:t>[Sources]</a:t>
            </a:r>
          </a:p>
          <a:p>
            <a:r>
              <a:t>- notebooks/visualizations/pseudo_labeling_v2/v1_vs_v2_comparison.png</a:t>
            </a:r>
          </a:p>
          <a:p>
            <a:r>
              <a:t>- notebooks/visualizations/pseudo_labeling_v3_v5/v3_v5_pseudo_label_examples.png</a:t>
            </a:r>
          </a:p>
          <a:p>
            <a:r>
              <a:t>- notebooks/models/segmentation_final/predictions/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là nơi thể hiện năng lực phân tích. Nếu hội đồng hỏi vì sao không chọn SAM, câu trả lời là: recall cao nhưng precision quá thấp, nên mask bị lan rộng. Đây là lý do luận văn không claim pipeline final là classification -&gt; Grad-CAM++ -&gt; SAM -&gt; UNet++. SAM có giá trị như tín hiệu phụ trong fusion.</a:t>
            </a:r>
          </a:p>
          <a:p>
            <a:endParaRPr/>
          </a:p>
          <a:p>
            <a:r>
              <a:t>Key message: Chỉ nhìn recall hoặc hình ảnh đẹp có thể dẫn đến kết luận sai.</a:t>
            </a:r>
          </a:p>
          <a:p>
            <a:endParaRPr/>
          </a:p>
          <a:p>
            <a:r>
              <a:t>Transition: Từ phân tích này, ta trả lời lại các câu hỏi nghiên cứu.</a:t>
            </a:r>
          </a:p>
          <a:p>
            <a:endParaRPr/>
          </a:p>
          <a:p>
            <a:r>
              <a:t>[Sources]</a:t>
            </a:r>
          </a:p>
          <a:p>
            <a:r>
              <a:t>- notebooks/models/final_gt_ok_audit/FINAL_SEGMENTATION_GT_OK_REPORT.md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dùng slide này để nối kết quả với mục tiêu. Không nên nói mọi thứ đều thành công tuyệt đối. Nên nói classification đạt mục tiêu rõ ràng, segmentation đạt được pipeline và bài học thực nghiệm, còn chất lượng cuối cần cải thiện thêm.</a:t>
            </a:r>
          </a:p>
          <a:p>
            <a:endParaRPr/>
          </a:p>
          <a:p>
            <a:r>
              <a:t>Key message: Luận văn đạt mục tiêu nghiên cứu nhưng không overclaim segmentation.</a:t>
            </a:r>
          </a:p>
          <a:p>
            <a:endParaRPr/>
          </a:p>
          <a:p>
            <a:r>
              <a:t>Transition: Từ các câu trả lời đó, em tóm tắt đóng góp bảo vệ được.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cần nói rất tỉnh. Em không nên nói mình phát minh EfficientNet hay U-Net. Đóng góp bảo vệ được là thiết kế pipeline weak supervision, kiểm chứng nhiều loại pseudo-label, dùng GT_OK để đọc lại kết quả, và chỉ ra SAM không tự động cải thiện khi dùng đơn lẻ.</a:t>
            </a:r>
          </a:p>
          <a:p>
            <a:endParaRPr/>
          </a:p>
          <a:p>
            <a:r>
              <a:t>Key message: Đóng góp nằm ở pipeline có kiểm chứng và cách đọc kết quả trung thực.</a:t>
            </a:r>
          </a:p>
          <a:p>
            <a:endParaRPr/>
          </a:p>
          <a:p>
            <a:r>
              <a:t>Transition: Một nghiên cứu tốt cũng cần nói rõ hạn chế.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Em </a:t>
            </a:r>
            <a:r>
              <a:rPr dirty="0" err="1"/>
              <a:t>nên</a:t>
            </a:r>
            <a:r>
              <a:rPr dirty="0"/>
              <a:t> </a:t>
            </a:r>
            <a:r>
              <a:rPr dirty="0" err="1"/>
              <a:t>trình</a:t>
            </a:r>
            <a:r>
              <a:rPr dirty="0"/>
              <a:t> </a:t>
            </a:r>
            <a:r>
              <a:rPr dirty="0" err="1"/>
              <a:t>bày</a:t>
            </a:r>
            <a:r>
              <a:rPr dirty="0"/>
              <a:t> </a:t>
            </a:r>
            <a:r>
              <a:rPr dirty="0" err="1"/>
              <a:t>hạn</a:t>
            </a:r>
            <a:r>
              <a:rPr dirty="0"/>
              <a:t> </a:t>
            </a:r>
            <a:r>
              <a:rPr dirty="0" err="1"/>
              <a:t>chế</a:t>
            </a:r>
            <a:r>
              <a:rPr dirty="0"/>
              <a:t> </a:t>
            </a:r>
            <a:r>
              <a:rPr dirty="0" err="1"/>
              <a:t>chủ</a:t>
            </a:r>
            <a:r>
              <a:rPr dirty="0"/>
              <a:t> </a:t>
            </a:r>
            <a:r>
              <a:rPr dirty="0" err="1"/>
              <a:t>động</a:t>
            </a:r>
            <a:r>
              <a:rPr dirty="0"/>
              <a:t>, </a:t>
            </a:r>
            <a:r>
              <a:rPr dirty="0" err="1"/>
              <a:t>không</a:t>
            </a:r>
            <a:r>
              <a:rPr dirty="0"/>
              <a:t> né </a:t>
            </a:r>
            <a:r>
              <a:rPr dirty="0" err="1"/>
              <a:t>tránh</a:t>
            </a:r>
            <a:r>
              <a:rPr dirty="0"/>
              <a:t>. </a:t>
            </a:r>
            <a:r>
              <a:rPr dirty="0" err="1"/>
              <a:t>Hạn</a:t>
            </a:r>
            <a:r>
              <a:rPr dirty="0"/>
              <a:t> </a:t>
            </a:r>
            <a:r>
              <a:rPr dirty="0" err="1"/>
              <a:t>chế</a:t>
            </a:r>
            <a:r>
              <a:rPr dirty="0"/>
              <a:t> </a:t>
            </a:r>
            <a:r>
              <a:rPr dirty="0" err="1"/>
              <a:t>lớn</a:t>
            </a:r>
            <a:r>
              <a:rPr dirty="0"/>
              <a:t> </a:t>
            </a:r>
            <a:r>
              <a:rPr dirty="0" err="1"/>
              <a:t>nhất</a:t>
            </a:r>
            <a:r>
              <a:rPr dirty="0"/>
              <a:t> </a:t>
            </a:r>
            <a:r>
              <a:rPr dirty="0" err="1"/>
              <a:t>là</a:t>
            </a:r>
            <a:r>
              <a:rPr dirty="0"/>
              <a:t> GT_OK </a:t>
            </a:r>
            <a:r>
              <a:rPr dirty="0" err="1"/>
              <a:t>nhỏ</a:t>
            </a:r>
            <a:r>
              <a:rPr dirty="0"/>
              <a:t> </a:t>
            </a:r>
            <a:r>
              <a:rPr dirty="0" err="1"/>
              <a:t>và</a:t>
            </a:r>
            <a:r>
              <a:rPr dirty="0"/>
              <a:t> segmentation </a:t>
            </a:r>
            <a:r>
              <a:rPr dirty="0" err="1"/>
              <a:t>còn</a:t>
            </a:r>
            <a:r>
              <a:rPr dirty="0"/>
              <a:t> precision </a:t>
            </a:r>
            <a:r>
              <a:rPr dirty="0" err="1"/>
              <a:t>thấp</a:t>
            </a:r>
            <a:r>
              <a:rPr dirty="0"/>
              <a:t>. Những </a:t>
            </a:r>
            <a:r>
              <a:rPr dirty="0" err="1"/>
              <a:t>điểm</a:t>
            </a:r>
            <a:r>
              <a:rPr dirty="0"/>
              <a:t> </a:t>
            </a:r>
            <a:r>
              <a:rPr dirty="0" err="1"/>
              <a:t>này</a:t>
            </a:r>
            <a:r>
              <a:rPr dirty="0"/>
              <a:t> </a:t>
            </a:r>
            <a:r>
              <a:rPr dirty="0" err="1"/>
              <a:t>không</a:t>
            </a:r>
            <a:r>
              <a:rPr dirty="0"/>
              <a:t> </a:t>
            </a:r>
            <a:r>
              <a:rPr dirty="0" err="1"/>
              <a:t>làm</a:t>
            </a:r>
            <a:r>
              <a:rPr dirty="0"/>
              <a:t> </a:t>
            </a:r>
            <a:r>
              <a:rPr dirty="0" err="1"/>
              <a:t>mất</a:t>
            </a:r>
            <a:r>
              <a:rPr dirty="0"/>
              <a:t> </a:t>
            </a:r>
            <a:r>
              <a:rPr dirty="0" err="1"/>
              <a:t>giá</a:t>
            </a:r>
            <a:r>
              <a:rPr dirty="0"/>
              <a:t> </a:t>
            </a:r>
            <a:r>
              <a:rPr dirty="0" err="1"/>
              <a:t>trị</a:t>
            </a:r>
            <a:r>
              <a:rPr dirty="0"/>
              <a:t> </a:t>
            </a:r>
            <a:r>
              <a:rPr dirty="0" err="1"/>
              <a:t>luận</a:t>
            </a:r>
            <a:r>
              <a:rPr dirty="0"/>
              <a:t> </a:t>
            </a:r>
            <a:r>
              <a:rPr dirty="0" err="1"/>
              <a:t>văn</a:t>
            </a:r>
            <a:r>
              <a:rPr dirty="0"/>
              <a:t>, </a:t>
            </a:r>
            <a:r>
              <a:rPr dirty="0" err="1"/>
              <a:t>mà</a:t>
            </a:r>
            <a:r>
              <a:rPr dirty="0"/>
              <a:t> </a:t>
            </a:r>
            <a:r>
              <a:rPr dirty="0" err="1"/>
              <a:t>cho</a:t>
            </a:r>
            <a:r>
              <a:rPr dirty="0"/>
              <a:t> </a:t>
            </a:r>
            <a:r>
              <a:rPr dirty="0" err="1"/>
              <a:t>thấy</a:t>
            </a:r>
            <a:r>
              <a:rPr dirty="0"/>
              <a:t> </a:t>
            </a:r>
            <a:r>
              <a:rPr dirty="0" err="1"/>
              <a:t>luận</a:t>
            </a:r>
            <a:r>
              <a:rPr dirty="0"/>
              <a:t> </a:t>
            </a:r>
            <a:r>
              <a:rPr dirty="0" err="1"/>
              <a:t>văn</a:t>
            </a:r>
            <a:r>
              <a:rPr dirty="0"/>
              <a:t> </a:t>
            </a:r>
            <a:r>
              <a:rPr dirty="0" err="1"/>
              <a:t>đã</a:t>
            </a:r>
            <a:r>
              <a:rPr dirty="0"/>
              <a:t> </a:t>
            </a:r>
            <a:r>
              <a:rPr dirty="0" err="1"/>
              <a:t>đánh</a:t>
            </a:r>
            <a:r>
              <a:rPr dirty="0"/>
              <a:t> </a:t>
            </a:r>
            <a:r>
              <a:rPr dirty="0" err="1"/>
              <a:t>giá</a:t>
            </a:r>
            <a:r>
              <a:rPr dirty="0"/>
              <a:t> </a:t>
            </a:r>
            <a:r>
              <a:rPr dirty="0" err="1"/>
              <a:t>trung</a:t>
            </a:r>
            <a:r>
              <a:rPr dirty="0"/>
              <a:t> </a:t>
            </a:r>
            <a:r>
              <a:rPr dirty="0" err="1"/>
              <a:t>thực</a:t>
            </a:r>
            <a:r>
              <a:rPr dirty="0"/>
              <a:t> </a:t>
            </a:r>
            <a:r>
              <a:rPr dirty="0" err="1"/>
              <a:t>và</a:t>
            </a:r>
            <a:r>
              <a:rPr dirty="0"/>
              <a:t> </a:t>
            </a:r>
            <a:r>
              <a:rPr dirty="0" err="1"/>
              <a:t>biết</a:t>
            </a:r>
            <a:r>
              <a:rPr dirty="0"/>
              <a:t> </a:t>
            </a:r>
            <a:r>
              <a:rPr dirty="0" err="1"/>
              <a:t>hướng</a:t>
            </a:r>
            <a:r>
              <a:rPr dirty="0"/>
              <a:t> </a:t>
            </a:r>
            <a:r>
              <a:rPr dirty="0" err="1"/>
              <a:t>cải</a:t>
            </a:r>
            <a:r>
              <a:rPr dirty="0"/>
              <a:t> </a:t>
            </a:r>
            <a:r>
              <a:rPr dirty="0" err="1"/>
              <a:t>thiện</a:t>
            </a:r>
            <a:r>
              <a:rPr dirty="0"/>
              <a:t> </a:t>
            </a:r>
            <a:r>
              <a:rPr dirty="0" err="1"/>
              <a:t>hợp</a:t>
            </a:r>
            <a:r>
              <a:rPr dirty="0"/>
              <a:t> </a:t>
            </a:r>
            <a:r>
              <a:rPr dirty="0" err="1"/>
              <a:t>lý</a:t>
            </a:r>
            <a:r>
              <a:rPr dirty="0"/>
              <a:t>.</a:t>
            </a:r>
          </a:p>
          <a:p>
            <a:endParaRPr dirty="0"/>
          </a:p>
          <a:p>
            <a:r>
              <a:rPr dirty="0"/>
              <a:t>Key message: </a:t>
            </a:r>
            <a:r>
              <a:rPr dirty="0" err="1"/>
              <a:t>Hạn</a:t>
            </a:r>
            <a:r>
              <a:rPr dirty="0"/>
              <a:t> </a:t>
            </a:r>
            <a:r>
              <a:rPr dirty="0" err="1"/>
              <a:t>chế</a:t>
            </a:r>
            <a:r>
              <a:rPr dirty="0"/>
              <a:t> </a:t>
            </a:r>
            <a:r>
              <a:rPr dirty="0" err="1"/>
              <a:t>chính</a:t>
            </a:r>
            <a:r>
              <a:rPr dirty="0"/>
              <a:t> </a:t>
            </a:r>
            <a:r>
              <a:rPr dirty="0" err="1"/>
              <a:t>là</a:t>
            </a:r>
            <a:r>
              <a:rPr dirty="0"/>
              <a:t> </a:t>
            </a:r>
            <a:r>
              <a:rPr dirty="0" err="1"/>
              <a:t>dữ</a:t>
            </a:r>
            <a:r>
              <a:rPr dirty="0"/>
              <a:t> </a:t>
            </a:r>
            <a:r>
              <a:rPr dirty="0" err="1"/>
              <a:t>liệu</a:t>
            </a:r>
            <a:r>
              <a:rPr dirty="0"/>
              <a:t> pixel </a:t>
            </a:r>
            <a:r>
              <a:rPr dirty="0" err="1"/>
              <a:t>và</a:t>
            </a:r>
            <a:r>
              <a:rPr dirty="0"/>
              <a:t> generalization, </a:t>
            </a:r>
            <a:r>
              <a:rPr dirty="0" err="1"/>
              <a:t>không</a:t>
            </a:r>
            <a:r>
              <a:rPr dirty="0"/>
              <a:t> </a:t>
            </a:r>
            <a:r>
              <a:rPr dirty="0" err="1"/>
              <a:t>phải</a:t>
            </a:r>
            <a:r>
              <a:rPr dirty="0"/>
              <a:t> </a:t>
            </a:r>
            <a:r>
              <a:rPr dirty="0" err="1"/>
              <a:t>chỉ</a:t>
            </a:r>
            <a:r>
              <a:rPr dirty="0"/>
              <a:t> </a:t>
            </a:r>
            <a:r>
              <a:rPr dirty="0" err="1"/>
              <a:t>là</a:t>
            </a:r>
            <a:r>
              <a:rPr dirty="0"/>
              <a:t> </a:t>
            </a:r>
            <a:r>
              <a:rPr dirty="0" err="1"/>
              <a:t>chọn</a:t>
            </a:r>
            <a:r>
              <a:rPr dirty="0"/>
              <a:t> </a:t>
            </a:r>
            <a:r>
              <a:rPr dirty="0" err="1"/>
              <a:t>mô</a:t>
            </a:r>
            <a:r>
              <a:rPr dirty="0"/>
              <a:t> </a:t>
            </a:r>
            <a:r>
              <a:rPr dirty="0" err="1"/>
              <a:t>hình</a:t>
            </a:r>
            <a:r>
              <a:rPr dirty="0"/>
              <a:t>.</a:t>
            </a:r>
          </a:p>
          <a:p>
            <a:endParaRPr dirty="0"/>
          </a:p>
          <a:p>
            <a:r>
              <a:rPr dirty="0"/>
              <a:t>Transition: Em </a:t>
            </a:r>
            <a:r>
              <a:rPr dirty="0" err="1"/>
              <a:t>kết</a:t>
            </a:r>
            <a:r>
              <a:rPr dirty="0"/>
              <a:t> </a:t>
            </a:r>
            <a:r>
              <a:rPr dirty="0" err="1"/>
              <a:t>thúc</a:t>
            </a:r>
            <a:r>
              <a:rPr dirty="0"/>
              <a:t> </a:t>
            </a:r>
            <a:r>
              <a:rPr dirty="0" err="1"/>
              <a:t>bằng</a:t>
            </a:r>
            <a:r>
              <a:rPr dirty="0"/>
              <a:t> </a:t>
            </a:r>
            <a:r>
              <a:rPr dirty="0" err="1"/>
              <a:t>ba</a:t>
            </a:r>
            <a:r>
              <a:rPr dirty="0"/>
              <a:t> </a:t>
            </a:r>
            <a:r>
              <a:rPr dirty="0" err="1"/>
              <a:t>kết</a:t>
            </a:r>
            <a:r>
              <a:rPr dirty="0"/>
              <a:t> </a:t>
            </a:r>
            <a:r>
              <a:rPr dirty="0" err="1"/>
              <a:t>luận</a:t>
            </a:r>
            <a:r>
              <a:rPr dirty="0"/>
              <a:t> </a:t>
            </a:r>
            <a:r>
              <a:rPr dirty="0" err="1"/>
              <a:t>ngắn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slide cuối, em tóm tắt theo ba ý: bài toán, cách làm, kết quả chính. Câu cuối nên giữ thận trọng: kết quả segmentation là cơ sở nghiên cứu tiếp và demo, chưa phải hệ thống triển khai sản xuất.</a:t>
            </a:r>
          </a:p>
          <a:p>
            <a:endParaRPr/>
          </a:p>
          <a:p>
            <a:r>
              <a:t>Key message: Luận văn đạt mục tiêu nghiên cứu với classification mạnh và segmentation được đánh giá trung thực.</a:t>
            </a:r>
          </a:p>
          <a:p>
            <a:endParaRPr/>
          </a:p>
          <a:p>
            <a:r>
              <a:t>Transition: Em xin lắng nghe câu hỏi của hội đồng.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9635" r="29635"/>
          <a:stretch>
            <a:fillRect/>
          </a:stretch>
        </p:blipFill>
        <p:spPr>
          <a:xfrm>
            <a:off x="6858000" y="666750"/>
            <a:ext cx="4667250" cy="4762500"/>
          </a:xfrm>
          <a:prstGeom prst="rect">
            <a:avLst/>
          </a:prstGeom>
        </p:spPr>
      </p:pic>
      <p:sp>
        <p:nvSpPr>
          <p:cNvPr id="2" name="Rectangle 1">
            <a:extLst>
              <a:ext uri="{FF2B5EF4-FFF2-40B4-BE49-F238E27FC236}">
                <a16:creationId xmlns:a16="http://schemas.microsoft.com/office/drawing/2014/main" id="{55B3B8EB-CF70-415D-9ABB-6458E5FD4135}"/>
              </a:ext>
            </a:extLst>
          </p:cNvPr>
          <p:cNvSpPr>
            <a:spLocks noGrp="1"/>
          </p:cNvSpPr>
          <p:nvPr/>
        </p:nvSpPr>
        <p:spPr>
          <a:xfrm>
            <a:off x="609600" y="838200"/>
            <a:ext cx="5810250" cy="2190750"/>
          </a:xfrm>
          <a:prstGeom prst="rect">
            <a:avLst/>
          </a:prstGeom>
          <a:noFill/>
          <a:ln w="0">
            <a:noFill/>
            <a:prstDash val="solid"/>
          </a:ln>
        </p:spPr>
        <p:txBody>
          <a:bodyPr/>
          <a:lstStyle/>
          <a:p>
            <a:pPr algn="l">
              <a:defRPr sz="3300" b="1">
                <a:solidFill>
                  <a:srgbClr val="111827"/>
                </a:solidFill>
              </a:defRPr>
            </a:pPr>
            <a:r>
              <a:rPr sz="3300" b="1">
                <a:solidFill>
                  <a:srgbClr val="111827"/>
                </a:solidFill>
              </a:rPr>
              <a:t>Kết hợp EfficientNet và U-Net xây dựng hệ thống phân loại và phân đoạn bệnh trên lá sầu riêng</a:t>
            </a:r>
          </a:p>
        </p:txBody>
      </p:sp>
      <p:sp>
        <p:nvSpPr>
          <p:cNvPr id="3" name="Rectangle 2">
            <a:extLst>
              <a:ext uri="{FF2B5EF4-FFF2-40B4-BE49-F238E27FC236}">
                <a16:creationId xmlns:a16="http://schemas.microsoft.com/office/drawing/2014/main" id="{DB01B775-9953-4E18-ADF2-1AAB233130EA}"/>
              </a:ext>
            </a:extLst>
          </p:cNvPr>
          <p:cNvSpPr>
            <a:spLocks noGrp="1"/>
          </p:cNvSpPr>
          <p:nvPr/>
        </p:nvSpPr>
        <p:spPr>
          <a:xfrm>
            <a:off x="647700" y="3162300"/>
            <a:ext cx="5334000" cy="323850"/>
          </a:xfrm>
          <a:prstGeom prst="rect">
            <a:avLst/>
          </a:prstGeom>
          <a:noFill/>
          <a:ln w="0">
            <a:noFill/>
            <a:prstDash val="solid"/>
          </a:ln>
        </p:spPr>
        <p:txBody>
          <a:bodyPr/>
          <a:lstStyle/>
          <a:p>
            <a:pPr algn="l">
              <a:defRPr sz="1800" b="0">
                <a:solidFill>
                  <a:srgbClr val="64748B"/>
                </a:solidFill>
              </a:defRPr>
            </a:pPr>
            <a:r>
              <a:rPr sz="1800" b="0">
                <a:solidFill>
                  <a:srgbClr val="64748B"/>
                </a:solidFill>
              </a:rPr>
              <a:t>Luận văn thạc sĩ ngành Khoa học dữ liệu</a:t>
            </a:r>
          </a:p>
        </p:txBody>
      </p:sp>
      <p:sp>
        <p:nvSpPr>
          <p:cNvPr id="4" name="Rectangle 3">
            <a:extLst>
              <a:ext uri="{FF2B5EF4-FFF2-40B4-BE49-F238E27FC236}">
                <a16:creationId xmlns:a16="http://schemas.microsoft.com/office/drawing/2014/main" id="{194E4DAA-D350-4854-990E-724D0D233D77}"/>
              </a:ext>
            </a:extLst>
          </p:cNvPr>
          <p:cNvSpPr>
            <a:spLocks noGrp="1"/>
          </p:cNvSpPr>
          <p:nvPr/>
        </p:nvSpPr>
        <p:spPr>
          <a:xfrm>
            <a:off x="647700" y="4095750"/>
            <a:ext cx="5334000" cy="1047750"/>
          </a:xfrm>
          <a:prstGeom prst="rect">
            <a:avLst/>
          </a:prstGeom>
          <a:noFill/>
          <a:ln w="0">
            <a:noFill/>
            <a:prstDash val="solid"/>
          </a:ln>
        </p:spPr>
        <p:txBody>
          <a:bodyPr/>
          <a:lstStyle/>
          <a:p>
            <a:pPr algn="l">
              <a:defRPr sz="1650" b="0">
                <a:solidFill>
                  <a:srgbClr val="111827"/>
                </a:solidFill>
              </a:defRPr>
            </a:pPr>
            <a:r>
              <a:rPr sz="1650" b="0">
                <a:solidFill>
                  <a:srgbClr val="111827"/>
                </a:solidFill>
              </a:rPr>
              <a:t>Học viên: Đoàn Minh Hiếu</a:t>
            </a:r>
          </a:p>
          <a:p>
            <a:pPr algn="l">
              <a:defRPr sz="1650" b="0">
                <a:solidFill>
                  <a:srgbClr val="111827"/>
                </a:solidFill>
              </a:defRPr>
            </a:pPr>
            <a:r>
              <a:rPr sz="1650" b="0">
                <a:solidFill>
                  <a:srgbClr val="111827"/>
                </a:solidFill>
              </a:rPr>
              <a:t>GVHD: TS. Hồ Văn Lâm</a:t>
            </a:r>
          </a:p>
          <a:p>
            <a:pPr algn="l">
              <a:defRPr sz="1650" b="0">
                <a:solidFill>
                  <a:srgbClr val="111827"/>
                </a:solidFill>
              </a:defRPr>
            </a:pPr>
            <a:r>
              <a:rPr sz="1650" b="0">
                <a:solidFill>
                  <a:srgbClr val="111827"/>
                </a:solidFill>
              </a:rPr>
              <a:t>Trường Đại học Quy Nhơn | Gia Lai, 2026</a:t>
            </a:r>
          </a:p>
        </p:txBody>
      </p:sp>
      <p:sp>
        <p:nvSpPr>
          <p:cNvPr id="6" name="Rectangle 5">
            <a:extLst>
              <a:ext uri="{FF2B5EF4-FFF2-40B4-BE49-F238E27FC236}">
                <a16:creationId xmlns:a16="http://schemas.microsoft.com/office/drawing/2014/main" id="{5935D13B-D083-48FA-86EE-87ACB27158C5}"/>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1/21</a:t>
            </a:r>
          </a:p>
        </p:txBody>
      </p:sp>
    </p:spTree>
    <p:extLst>
      <p:ext uri="{BB962C8B-B14F-4D97-AF65-F5344CB8AC3E}">
        <p14:creationId xmlns:p14="http://schemas.microsoft.com/office/powerpoint/2010/main" val="1953889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25168A-122A-480D-BF3C-3D21144C1668}"/>
              </a:ext>
            </a:extLst>
          </p:cNvPr>
          <p:cNvSpPr>
            <a:spLocks noGrp="1"/>
          </p:cNvSpPr>
          <p:nvPr/>
        </p:nvSpPr>
        <p:spPr>
          <a:xfrm>
            <a:off x="609600" y="561398"/>
            <a:ext cx="9929091" cy="781050"/>
          </a:xfrm>
          <a:prstGeom prst="rect">
            <a:avLst/>
          </a:prstGeom>
          <a:noFill/>
          <a:ln w="0">
            <a:noFill/>
            <a:prstDash val="solid"/>
          </a:ln>
        </p:spPr>
        <p:txBody>
          <a:bodyPr/>
          <a:lstStyle/>
          <a:p>
            <a:pPr algn="l">
              <a:defRPr sz="2850" b="1">
                <a:solidFill>
                  <a:srgbClr val="111827"/>
                </a:solidFill>
              </a:defRPr>
            </a:pPr>
            <a:r>
              <a:rPr sz="2850" b="1" dirty="0" err="1">
                <a:solidFill>
                  <a:srgbClr val="111827"/>
                </a:solidFill>
              </a:rPr>
              <a:t>Bài</a:t>
            </a:r>
            <a:r>
              <a:rPr sz="2850" b="1" dirty="0">
                <a:solidFill>
                  <a:srgbClr val="111827"/>
                </a:solidFill>
              </a:rPr>
              <a:t> </a:t>
            </a:r>
            <a:r>
              <a:rPr sz="2850" b="1" dirty="0" err="1">
                <a:solidFill>
                  <a:srgbClr val="111827"/>
                </a:solidFill>
              </a:rPr>
              <a:t>toán</a:t>
            </a:r>
            <a:r>
              <a:rPr sz="2850" b="1" dirty="0">
                <a:solidFill>
                  <a:srgbClr val="111827"/>
                </a:solidFill>
              </a:rPr>
              <a:t> </a:t>
            </a:r>
            <a:r>
              <a:rPr sz="2850" b="1" dirty="0" err="1">
                <a:solidFill>
                  <a:srgbClr val="111827"/>
                </a:solidFill>
              </a:rPr>
              <a:t>có</a:t>
            </a:r>
            <a:r>
              <a:rPr sz="2850" b="1" dirty="0">
                <a:solidFill>
                  <a:srgbClr val="111827"/>
                </a:solidFill>
              </a:rPr>
              <a:t> </a:t>
            </a:r>
            <a:r>
              <a:rPr sz="2850" b="1" dirty="0" err="1">
                <a:solidFill>
                  <a:srgbClr val="111827"/>
                </a:solidFill>
              </a:rPr>
              <a:t>giá</a:t>
            </a:r>
            <a:r>
              <a:rPr sz="2850" b="1" dirty="0">
                <a:solidFill>
                  <a:srgbClr val="111827"/>
                </a:solidFill>
              </a:rPr>
              <a:t> </a:t>
            </a:r>
            <a:r>
              <a:rPr sz="2850" b="1" dirty="0" err="1">
                <a:solidFill>
                  <a:srgbClr val="111827"/>
                </a:solidFill>
              </a:rPr>
              <a:t>trị</a:t>
            </a:r>
            <a:r>
              <a:rPr sz="2850" b="1" dirty="0">
                <a:solidFill>
                  <a:srgbClr val="111827"/>
                </a:solidFill>
              </a:rPr>
              <a:t> </a:t>
            </a:r>
            <a:r>
              <a:rPr sz="2850" b="1" dirty="0" err="1">
                <a:solidFill>
                  <a:srgbClr val="111827"/>
                </a:solidFill>
              </a:rPr>
              <a:t>thực</a:t>
            </a:r>
            <a:r>
              <a:rPr sz="2850" b="1" dirty="0">
                <a:solidFill>
                  <a:srgbClr val="111827"/>
                </a:solidFill>
              </a:rPr>
              <a:t> </a:t>
            </a:r>
            <a:r>
              <a:rPr sz="2850" b="1" dirty="0" err="1">
                <a:solidFill>
                  <a:srgbClr val="111827"/>
                </a:solidFill>
              </a:rPr>
              <a:t>tiễn</a:t>
            </a:r>
            <a:r>
              <a:rPr sz="2850" b="1" dirty="0">
                <a:solidFill>
                  <a:srgbClr val="111827"/>
                </a:solidFill>
              </a:rPr>
              <a:t> </a:t>
            </a:r>
            <a:r>
              <a:rPr sz="2850" b="1" dirty="0" err="1">
                <a:solidFill>
                  <a:srgbClr val="111827"/>
                </a:solidFill>
              </a:rPr>
              <a:t>vì</a:t>
            </a:r>
            <a:r>
              <a:rPr sz="2850" b="1" dirty="0">
                <a:solidFill>
                  <a:srgbClr val="111827"/>
                </a:solidFill>
              </a:rPr>
              <a:t> </a:t>
            </a:r>
            <a:r>
              <a:rPr sz="2850" b="1" dirty="0" err="1">
                <a:solidFill>
                  <a:srgbClr val="111827"/>
                </a:solidFill>
              </a:rPr>
              <a:t>cần</a:t>
            </a:r>
            <a:r>
              <a:rPr sz="2850" b="1" dirty="0">
                <a:solidFill>
                  <a:srgbClr val="111827"/>
                </a:solidFill>
              </a:rPr>
              <a:t> </a:t>
            </a:r>
            <a:r>
              <a:rPr sz="2850" b="1" dirty="0" err="1">
                <a:solidFill>
                  <a:srgbClr val="111827"/>
                </a:solidFill>
              </a:rPr>
              <a:t>phát</a:t>
            </a:r>
            <a:r>
              <a:rPr sz="2850" b="1" dirty="0">
                <a:solidFill>
                  <a:srgbClr val="111827"/>
                </a:solidFill>
              </a:rPr>
              <a:t> </a:t>
            </a:r>
            <a:r>
              <a:rPr sz="2850" b="1" dirty="0" err="1">
                <a:solidFill>
                  <a:srgbClr val="111827"/>
                </a:solidFill>
              </a:rPr>
              <a:t>hiện</a:t>
            </a:r>
            <a:r>
              <a:rPr sz="2850" b="1" dirty="0">
                <a:solidFill>
                  <a:srgbClr val="111827"/>
                </a:solidFill>
              </a:rPr>
              <a:t> </a:t>
            </a:r>
            <a:r>
              <a:rPr sz="2850" b="1" dirty="0" err="1">
                <a:solidFill>
                  <a:srgbClr val="111827"/>
                </a:solidFill>
              </a:rPr>
              <a:t>sớm</a:t>
            </a:r>
            <a:r>
              <a:rPr sz="2850" b="1" dirty="0">
                <a:solidFill>
                  <a:srgbClr val="111827"/>
                </a:solidFill>
              </a:rPr>
              <a:t> </a:t>
            </a:r>
            <a:r>
              <a:rPr sz="2850" b="1" dirty="0" err="1">
                <a:solidFill>
                  <a:srgbClr val="111827"/>
                </a:solidFill>
              </a:rPr>
              <a:t>bệnh</a:t>
            </a:r>
            <a:r>
              <a:rPr sz="2850" b="1" dirty="0">
                <a:solidFill>
                  <a:srgbClr val="111827"/>
                </a:solidFill>
              </a:rPr>
              <a:t> </a:t>
            </a:r>
            <a:r>
              <a:rPr sz="2850" b="1" dirty="0" err="1">
                <a:solidFill>
                  <a:srgbClr val="111827"/>
                </a:solidFill>
              </a:rPr>
              <a:t>lá</a:t>
            </a:r>
            <a:endParaRPr sz="2850" b="1" dirty="0">
              <a:solidFill>
                <a:srgbClr val="111827"/>
              </a:solidFill>
            </a:endParaRPr>
          </a:p>
        </p:txBody>
      </p:sp>
      <p:sp>
        <p:nvSpPr>
          <p:cNvPr id="2" name="Rectangle 1">
            <a:extLst>
              <a:ext uri="{FF2B5EF4-FFF2-40B4-BE49-F238E27FC236}">
                <a16:creationId xmlns:a16="http://schemas.microsoft.com/office/drawing/2014/main" id="{3EAF0E50-E31F-457A-B6C5-87F03DA20C9E}"/>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dirty="0">
                <a:solidFill>
                  <a:srgbClr val="64748B"/>
                </a:solidFill>
              </a:rPr>
              <a:t>Motivation</a:t>
            </a:r>
          </a:p>
        </p:txBody>
      </p:sp>
      <p:sp>
        <p:nvSpPr>
          <p:cNvPr id="3" name="Rectangle 2">
            <a:extLst>
              <a:ext uri="{FF2B5EF4-FFF2-40B4-BE49-F238E27FC236}">
                <a16:creationId xmlns:a16="http://schemas.microsoft.com/office/drawing/2014/main" id="{AE0D7189-F5A0-4F4D-8B97-4C393E50228E}"/>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DEDF5BEF-229D-4C69-87F4-313385D8D62C}"/>
              </a:ext>
            </a:extLst>
          </p:cNvPr>
          <p:cNvSpPr>
            <a:spLocks noGrp="1"/>
          </p:cNvSpPr>
          <p:nvPr/>
        </p:nvSpPr>
        <p:spPr>
          <a:xfrm>
            <a:off x="685800" y="2095500"/>
            <a:ext cx="5048250" cy="2476500"/>
          </a:xfrm>
          <a:prstGeom prst="rect">
            <a:avLst/>
          </a:prstGeom>
          <a:noFill/>
          <a:ln w="0">
            <a:noFill/>
            <a:prstDash val="solid"/>
          </a:ln>
        </p:spPr>
        <p:txBody>
          <a:bodyPr/>
          <a:lstStyle/>
          <a:p>
            <a:pPr algn="l">
              <a:defRPr sz="1800" b="0">
                <a:solidFill>
                  <a:srgbClr val="111827"/>
                </a:solidFill>
              </a:defRPr>
            </a:pPr>
            <a:r>
              <a:rPr sz="1800" b="0">
                <a:solidFill>
                  <a:srgbClr val="111827"/>
                </a:solidFill>
              </a:rPr>
              <a:t>• Bệnh lá ảnh hưởng trực tiếp đến sinh trưởng và năng suất sầu riêng.</a:t>
            </a:r>
          </a:p>
          <a:p>
            <a:pPr algn="l">
              <a:defRPr sz="1800" b="0">
                <a:solidFill>
                  <a:srgbClr val="111827"/>
                </a:solidFill>
              </a:defRPr>
            </a:pPr>
            <a:r>
              <a:rPr sz="1800" b="0">
                <a:solidFill>
                  <a:srgbClr val="111827"/>
                </a:solidFill>
              </a:rPr>
              <a:t>• Chẩn đoán thủ công phụ thuộc kinh nghiệm và khó mở rộng.</a:t>
            </a:r>
          </a:p>
          <a:p>
            <a:pPr algn="l">
              <a:defRPr sz="1800" b="0">
                <a:solidFill>
                  <a:srgbClr val="111827"/>
                </a:solidFill>
              </a:defRPr>
            </a:pPr>
            <a:r>
              <a:rPr sz="1800" b="0">
                <a:solidFill>
                  <a:srgbClr val="111827"/>
                </a:solidFill>
              </a:rPr>
              <a:t>• Ảnh điện thoại tạo điều kiện áp dụng Computer Vision ngoài hiện trường.</a:t>
            </a:r>
          </a:p>
          <a:p>
            <a:pPr algn="l">
              <a:defRPr sz="1800" b="0">
                <a:solidFill>
                  <a:srgbClr val="111827"/>
                </a:solidFill>
              </a:defRPr>
            </a:pPr>
            <a:r>
              <a:rPr sz="1800" b="0">
                <a:solidFill>
                  <a:srgbClr val="111827"/>
                </a:solidFill>
              </a:rPr>
              <a:t>• Hệ thống hữu ích hơn khi vừa biết bệnh gì, vừa biết vùng bệnh ở đâu.</a:t>
            </a:r>
          </a:p>
        </p:txBody>
      </p:sp>
      <p:pic>
        <p:nvPicPr>
          <p:cNvPr id="11" name="Picture 10"/>
          <p:cNvPicPr>
            <a:picLocks noChangeAspect="1"/>
          </p:cNvPicPr>
          <p:nvPr/>
        </p:nvPicPr>
        <p:blipFill>
          <a:blip r:embed="rId3"/>
          <a:stretch/>
        </p:blipFill>
        <p:spPr>
          <a:xfrm>
            <a:off x="6286500" y="2582208"/>
            <a:ext cx="4762500" cy="1979333"/>
          </a:xfrm>
          <a:prstGeom prst="rect">
            <a:avLst/>
          </a:prstGeom>
        </p:spPr>
      </p:pic>
      <p:sp>
        <p:nvSpPr>
          <p:cNvPr id="6" name="Rectangle 5">
            <a:extLst>
              <a:ext uri="{FF2B5EF4-FFF2-40B4-BE49-F238E27FC236}">
                <a16:creationId xmlns:a16="http://schemas.microsoft.com/office/drawing/2014/main" id="{AA513B41-59E9-4D81-88B5-65F3A275A296}"/>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2/21</a:t>
            </a:r>
          </a:p>
        </p:txBody>
      </p:sp>
    </p:spTree>
    <p:extLst>
      <p:ext uri="{BB962C8B-B14F-4D97-AF65-F5344CB8AC3E}">
        <p14:creationId xmlns:p14="http://schemas.microsoft.com/office/powerpoint/2010/main" val="906386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383FA6C-FC35-45E2-B7F5-E38BF64EF403}"/>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Bài toán gồm hai đầu ra: nhãn bệnh và vùng tổn thương</a:t>
            </a:r>
          </a:p>
        </p:txBody>
      </p:sp>
      <p:sp>
        <p:nvSpPr>
          <p:cNvPr id="2" name="Rectangle 1">
            <a:extLst>
              <a:ext uri="{FF2B5EF4-FFF2-40B4-BE49-F238E27FC236}">
                <a16:creationId xmlns:a16="http://schemas.microsoft.com/office/drawing/2014/main" id="{ACA338FA-C7E6-4D1A-9B45-E6029118A6B7}"/>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Research problem</a:t>
            </a:r>
          </a:p>
        </p:txBody>
      </p:sp>
      <p:sp>
        <p:nvSpPr>
          <p:cNvPr id="3" name="Rectangle 2">
            <a:extLst>
              <a:ext uri="{FF2B5EF4-FFF2-40B4-BE49-F238E27FC236}">
                <a16:creationId xmlns:a16="http://schemas.microsoft.com/office/drawing/2014/main" id="{8C3B04FC-A2CC-4F12-80D8-898464F8DED0}"/>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9692829F-1997-4C70-99F7-FE56338136E9}"/>
              </a:ext>
            </a:extLst>
          </p:cNvPr>
          <p:cNvSpPr>
            <a:spLocks noGrp="1"/>
          </p:cNvSpPr>
          <p:nvPr/>
        </p:nvSpPr>
        <p:spPr>
          <a:xfrm>
            <a:off x="704850" y="2381250"/>
            <a:ext cx="1600200" cy="876300"/>
          </a:xfrm>
          <a:prstGeom prst="rect">
            <a:avLst/>
          </a:prstGeom>
          <a:solidFill>
            <a:srgbClr val="F3F4F6"/>
          </a:solidFill>
          <a:ln w="19050">
            <a:solidFill>
              <a:srgbClr val="CBD5E1"/>
            </a:solidFill>
            <a:prstDash val="solid"/>
          </a:ln>
        </p:spPr>
      </p:sp>
      <p:sp>
        <p:nvSpPr>
          <p:cNvPr id="5" name="Rectangle 4">
            <a:extLst>
              <a:ext uri="{FF2B5EF4-FFF2-40B4-BE49-F238E27FC236}">
                <a16:creationId xmlns:a16="http://schemas.microsoft.com/office/drawing/2014/main" id="{3B7CF248-4F79-4FB5-B81B-7E4C506BF41C}"/>
              </a:ext>
            </a:extLst>
          </p:cNvPr>
          <p:cNvSpPr>
            <a:spLocks noGrp="1"/>
          </p:cNvSpPr>
          <p:nvPr/>
        </p:nvSpPr>
        <p:spPr>
          <a:xfrm>
            <a:off x="819150" y="25908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Ảnh lá</a:t>
            </a:r>
          </a:p>
          <a:p>
            <a:pPr algn="ctr">
              <a:defRPr sz="1350" b="1">
                <a:solidFill>
                  <a:srgbClr val="111827"/>
                </a:solidFill>
              </a:defRPr>
            </a:pPr>
            <a:r>
              <a:rPr sz="1350" b="1">
                <a:solidFill>
                  <a:srgbClr val="111827"/>
                </a:solidFill>
              </a:rPr>
              <a:t>RGB</a:t>
            </a:r>
          </a:p>
        </p:txBody>
      </p:sp>
      <p:sp>
        <p:nvSpPr>
          <p:cNvPr id="6" name="Rectangle 5">
            <a:extLst>
              <a:ext uri="{FF2B5EF4-FFF2-40B4-BE49-F238E27FC236}">
                <a16:creationId xmlns:a16="http://schemas.microsoft.com/office/drawing/2014/main" id="{4FA5F649-3C4D-4207-B7B5-BBB32A118DDD}"/>
              </a:ext>
            </a:extLst>
          </p:cNvPr>
          <p:cNvSpPr>
            <a:spLocks noGrp="1"/>
          </p:cNvSpPr>
          <p:nvPr/>
        </p:nvSpPr>
        <p:spPr>
          <a:xfrm>
            <a:off x="2352675" y="26289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7" name="Rectangle 6">
            <a:extLst>
              <a:ext uri="{FF2B5EF4-FFF2-40B4-BE49-F238E27FC236}">
                <a16:creationId xmlns:a16="http://schemas.microsoft.com/office/drawing/2014/main" id="{350C6A1B-9255-4CF7-94C6-86C6AB0EB1EC}"/>
              </a:ext>
            </a:extLst>
          </p:cNvPr>
          <p:cNvSpPr>
            <a:spLocks noGrp="1"/>
          </p:cNvSpPr>
          <p:nvPr/>
        </p:nvSpPr>
        <p:spPr>
          <a:xfrm>
            <a:off x="2590800" y="2381250"/>
            <a:ext cx="1600200" cy="876300"/>
          </a:xfrm>
          <a:prstGeom prst="rect">
            <a:avLst/>
          </a:prstGeom>
          <a:solidFill>
            <a:srgbClr val="F3F4F6"/>
          </a:solidFill>
          <a:ln w="19050">
            <a:solidFill>
              <a:srgbClr val="CBD5E1"/>
            </a:solidFill>
            <a:prstDash val="solid"/>
          </a:ln>
        </p:spPr>
      </p:sp>
      <p:sp>
        <p:nvSpPr>
          <p:cNvPr id="8" name="Rectangle 7">
            <a:extLst>
              <a:ext uri="{FF2B5EF4-FFF2-40B4-BE49-F238E27FC236}">
                <a16:creationId xmlns:a16="http://schemas.microsoft.com/office/drawing/2014/main" id="{0CAFA469-C98A-47AF-B2AA-0FF5D8A24A3C}"/>
              </a:ext>
            </a:extLst>
          </p:cNvPr>
          <p:cNvSpPr>
            <a:spLocks noGrp="1"/>
          </p:cNvSpPr>
          <p:nvPr/>
        </p:nvSpPr>
        <p:spPr>
          <a:xfrm>
            <a:off x="2705100" y="25908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Phân loại</a:t>
            </a:r>
          </a:p>
          <a:p>
            <a:pPr algn="ctr">
              <a:defRPr sz="1350" b="1">
                <a:solidFill>
                  <a:srgbClr val="111827"/>
                </a:solidFill>
              </a:defRPr>
            </a:pPr>
            <a:r>
              <a:rPr sz="1350" b="1">
                <a:solidFill>
                  <a:srgbClr val="111827"/>
                </a:solidFill>
              </a:rPr>
              <a:t>5 lớp</a:t>
            </a:r>
          </a:p>
        </p:txBody>
      </p:sp>
      <p:sp>
        <p:nvSpPr>
          <p:cNvPr id="9" name="Rectangle 8">
            <a:extLst>
              <a:ext uri="{FF2B5EF4-FFF2-40B4-BE49-F238E27FC236}">
                <a16:creationId xmlns:a16="http://schemas.microsoft.com/office/drawing/2014/main" id="{27DDBEAE-0332-4EF3-B131-44FA91BC74E2}"/>
              </a:ext>
            </a:extLst>
          </p:cNvPr>
          <p:cNvSpPr>
            <a:spLocks noGrp="1"/>
          </p:cNvSpPr>
          <p:nvPr/>
        </p:nvSpPr>
        <p:spPr>
          <a:xfrm>
            <a:off x="4238625" y="26289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0" name="Rectangle 9">
            <a:extLst>
              <a:ext uri="{FF2B5EF4-FFF2-40B4-BE49-F238E27FC236}">
                <a16:creationId xmlns:a16="http://schemas.microsoft.com/office/drawing/2014/main" id="{C402D221-AE19-4902-9961-7A6A35B3F455}"/>
              </a:ext>
            </a:extLst>
          </p:cNvPr>
          <p:cNvSpPr>
            <a:spLocks noGrp="1"/>
          </p:cNvSpPr>
          <p:nvPr/>
        </p:nvSpPr>
        <p:spPr>
          <a:xfrm>
            <a:off x="4476750" y="2381250"/>
            <a:ext cx="1600200" cy="876300"/>
          </a:xfrm>
          <a:prstGeom prst="rect">
            <a:avLst/>
          </a:prstGeom>
          <a:solidFill>
            <a:srgbClr val="F3F4F6"/>
          </a:solidFill>
          <a:ln w="19050">
            <a:solidFill>
              <a:srgbClr val="CBD5E1"/>
            </a:solidFill>
            <a:prstDash val="solid"/>
          </a:ln>
        </p:spPr>
      </p:sp>
      <p:sp>
        <p:nvSpPr>
          <p:cNvPr id="11" name="Rectangle 10">
            <a:extLst>
              <a:ext uri="{FF2B5EF4-FFF2-40B4-BE49-F238E27FC236}">
                <a16:creationId xmlns:a16="http://schemas.microsoft.com/office/drawing/2014/main" id="{BA64CE69-3A4E-4CFC-A986-69FCD1B7B16A}"/>
              </a:ext>
            </a:extLst>
          </p:cNvPr>
          <p:cNvSpPr>
            <a:spLocks noGrp="1"/>
          </p:cNvSpPr>
          <p:nvPr/>
        </p:nvSpPr>
        <p:spPr>
          <a:xfrm>
            <a:off x="4591050" y="25908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Giải thích</a:t>
            </a:r>
          </a:p>
          <a:p>
            <a:pPr algn="ctr">
              <a:defRPr sz="1350" b="1">
                <a:solidFill>
                  <a:srgbClr val="111827"/>
                </a:solidFill>
              </a:defRPr>
            </a:pPr>
            <a:r>
              <a:rPr sz="1350" b="1">
                <a:solidFill>
                  <a:srgbClr val="111827"/>
                </a:solidFill>
              </a:rPr>
              <a:t>heatmap</a:t>
            </a:r>
          </a:p>
        </p:txBody>
      </p:sp>
      <p:sp>
        <p:nvSpPr>
          <p:cNvPr id="12" name="Rectangle 11">
            <a:extLst>
              <a:ext uri="{FF2B5EF4-FFF2-40B4-BE49-F238E27FC236}">
                <a16:creationId xmlns:a16="http://schemas.microsoft.com/office/drawing/2014/main" id="{CB4770F0-F269-4A73-AB4B-D76C99DB9E4B}"/>
              </a:ext>
            </a:extLst>
          </p:cNvPr>
          <p:cNvSpPr>
            <a:spLocks noGrp="1"/>
          </p:cNvSpPr>
          <p:nvPr/>
        </p:nvSpPr>
        <p:spPr>
          <a:xfrm>
            <a:off x="6124575" y="26289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3" name="Rectangle 12">
            <a:extLst>
              <a:ext uri="{FF2B5EF4-FFF2-40B4-BE49-F238E27FC236}">
                <a16:creationId xmlns:a16="http://schemas.microsoft.com/office/drawing/2014/main" id="{F7F75E11-9896-4EF7-B28D-E77D775D809C}"/>
              </a:ext>
            </a:extLst>
          </p:cNvPr>
          <p:cNvSpPr>
            <a:spLocks noGrp="1"/>
          </p:cNvSpPr>
          <p:nvPr/>
        </p:nvSpPr>
        <p:spPr>
          <a:xfrm>
            <a:off x="6362700" y="2381250"/>
            <a:ext cx="1600200" cy="876300"/>
          </a:xfrm>
          <a:prstGeom prst="rect">
            <a:avLst/>
          </a:prstGeom>
          <a:solidFill>
            <a:srgbClr val="F3F4F6"/>
          </a:solidFill>
          <a:ln w="19050">
            <a:solidFill>
              <a:srgbClr val="CBD5E1"/>
            </a:solidFill>
            <a:prstDash val="solid"/>
          </a:ln>
        </p:spPr>
      </p:sp>
      <p:sp>
        <p:nvSpPr>
          <p:cNvPr id="14" name="Rectangle 13">
            <a:extLst>
              <a:ext uri="{FF2B5EF4-FFF2-40B4-BE49-F238E27FC236}">
                <a16:creationId xmlns:a16="http://schemas.microsoft.com/office/drawing/2014/main" id="{758B0CC6-ED8D-49F9-90FB-7487D0563AE1}"/>
              </a:ext>
            </a:extLst>
          </p:cNvPr>
          <p:cNvSpPr>
            <a:spLocks noGrp="1"/>
          </p:cNvSpPr>
          <p:nvPr/>
        </p:nvSpPr>
        <p:spPr>
          <a:xfrm>
            <a:off x="6477000" y="25908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Phân đoạn</a:t>
            </a:r>
          </a:p>
          <a:p>
            <a:pPr algn="ctr">
              <a:defRPr sz="1350" b="1">
                <a:solidFill>
                  <a:srgbClr val="111827"/>
                </a:solidFill>
              </a:defRPr>
            </a:pPr>
            <a:r>
              <a:rPr sz="1350" b="1">
                <a:solidFill>
                  <a:srgbClr val="111827"/>
                </a:solidFill>
              </a:rPr>
              <a:t>mask bệnh</a:t>
            </a:r>
          </a:p>
        </p:txBody>
      </p:sp>
      <p:sp>
        <p:nvSpPr>
          <p:cNvPr id="15" name="Rectangle 14">
            <a:extLst>
              <a:ext uri="{FF2B5EF4-FFF2-40B4-BE49-F238E27FC236}">
                <a16:creationId xmlns:a16="http://schemas.microsoft.com/office/drawing/2014/main" id="{14566F63-AB1F-4FCD-BF0B-948AEDB3869E}"/>
              </a:ext>
            </a:extLst>
          </p:cNvPr>
          <p:cNvSpPr>
            <a:spLocks noGrp="1"/>
          </p:cNvSpPr>
          <p:nvPr/>
        </p:nvSpPr>
        <p:spPr>
          <a:xfrm>
            <a:off x="8010525" y="26289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6" name="Rectangle 15">
            <a:extLst>
              <a:ext uri="{FF2B5EF4-FFF2-40B4-BE49-F238E27FC236}">
                <a16:creationId xmlns:a16="http://schemas.microsoft.com/office/drawing/2014/main" id="{97D6E7A9-9B4F-4E03-8F08-2846A4F7EA39}"/>
              </a:ext>
            </a:extLst>
          </p:cNvPr>
          <p:cNvSpPr>
            <a:spLocks noGrp="1"/>
          </p:cNvSpPr>
          <p:nvPr/>
        </p:nvSpPr>
        <p:spPr>
          <a:xfrm>
            <a:off x="8248650" y="2381250"/>
            <a:ext cx="1600200" cy="876300"/>
          </a:xfrm>
          <a:prstGeom prst="rect">
            <a:avLst/>
          </a:prstGeom>
          <a:solidFill>
            <a:srgbClr val="DCFCE7"/>
          </a:solidFill>
          <a:ln w="19050">
            <a:solidFill>
              <a:srgbClr val="16A34A"/>
            </a:solidFill>
            <a:prstDash val="solid"/>
          </a:ln>
        </p:spPr>
      </p:sp>
      <p:sp>
        <p:nvSpPr>
          <p:cNvPr id="17" name="Rectangle 16">
            <a:extLst>
              <a:ext uri="{FF2B5EF4-FFF2-40B4-BE49-F238E27FC236}">
                <a16:creationId xmlns:a16="http://schemas.microsoft.com/office/drawing/2014/main" id="{57D9FAF1-B698-4750-BC31-21B5ED272F0A}"/>
              </a:ext>
            </a:extLst>
          </p:cNvPr>
          <p:cNvSpPr>
            <a:spLocks noGrp="1"/>
          </p:cNvSpPr>
          <p:nvPr/>
        </p:nvSpPr>
        <p:spPr>
          <a:xfrm>
            <a:off x="8362950" y="25908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Đánh giá</a:t>
            </a:r>
          </a:p>
          <a:p>
            <a:pPr algn="ctr">
              <a:defRPr sz="1350" b="1">
                <a:solidFill>
                  <a:srgbClr val="111827"/>
                </a:solidFill>
              </a:defRPr>
            </a:pPr>
            <a:r>
              <a:rPr sz="1350" b="1">
                <a:solidFill>
                  <a:srgbClr val="111827"/>
                </a:solidFill>
              </a:rPr>
              <a:t>GT_OK</a:t>
            </a:r>
          </a:p>
        </p:txBody>
      </p:sp>
      <p:sp>
        <p:nvSpPr>
          <p:cNvPr id="18" name="Rectangle 17">
            <a:extLst>
              <a:ext uri="{FF2B5EF4-FFF2-40B4-BE49-F238E27FC236}">
                <a16:creationId xmlns:a16="http://schemas.microsoft.com/office/drawing/2014/main" id="{58A9C71E-121B-485E-AE3A-FA3FF39E7C52}"/>
              </a:ext>
            </a:extLst>
          </p:cNvPr>
          <p:cNvSpPr>
            <a:spLocks noGrp="1"/>
          </p:cNvSpPr>
          <p:nvPr/>
        </p:nvSpPr>
        <p:spPr>
          <a:xfrm>
            <a:off x="1381125" y="4095750"/>
            <a:ext cx="9429750" cy="1428750"/>
          </a:xfrm>
          <a:prstGeom prst="rect">
            <a:avLst/>
          </a:prstGeom>
          <a:noFill/>
          <a:ln w="0">
            <a:noFill/>
            <a:prstDash val="solid"/>
          </a:ln>
        </p:spPr>
        <p:txBody>
          <a:bodyPr/>
          <a:lstStyle/>
          <a:p>
            <a:pPr algn="l">
              <a:defRPr sz="1650" b="0">
                <a:solidFill>
                  <a:srgbClr val="111827"/>
                </a:solidFill>
              </a:defRPr>
            </a:pPr>
            <a:r>
              <a:rPr sz="1650" b="0">
                <a:solidFill>
                  <a:srgbClr val="111827"/>
                </a:solidFill>
              </a:rPr>
              <a:t>• Input: ảnh lá sầu riêng trong điều kiện thực địa.</a:t>
            </a:r>
          </a:p>
          <a:p>
            <a:pPr algn="l">
              <a:defRPr sz="1650" b="0">
                <a:solidFill>
                  <a:srgbClr val="111827"/>
                </a:solidFill>
              </a:defRPr>
            </a:pPr>
            <a:r>
              <a:rPr sz="1650" b="0">
                <a:solidFill>
                  <a:srgbClr val="111827"/>
                </a:solidFill>
              </a:rPr>
              <a:t>• Output 1: nhãn bệnh ở mức ảnh.</a:t>
            </a:r>
          </a:p>
          <a:p>
            <a:pPr algn="l">
              <a:defRPr sz="1650" b="0">
                <a:solidFill>
                  <a:srgbClr val="111827"/>
                </a:solidFill>
              </a:defRPr>
            </a:pPr>
            <a:r>
              <a:rPr sz="1650" b="0">
                <a:solidFill>
                  <a:srgbClr val="111827"/>
                </a:solidFill>
              </a:rPr>
              <a:t>• Output 2: mặt nạ vùng bệnh ở mức pixel.</a:t>
            </a:r>
          </a:p>
          <a:p>
            <a:pPr algn="l">
              <a:defRPr sz="1650" b="0">
                <a:solidFill>
                  <a:srgbClr val="111827"/>
                </a:solidFill>
              </a:defRPr>
            </a:pPr>
            <a:r>
              <a:rPr sz="1650" b="0">
                <a:solidFill>
                  <a:srgbClr val="111827"/>
                </a:solidFill>
              </a:rPr>
              <a:t>• Thách thức chính: thiếu mask thủ công cho toàn bộ dữ liệu.</a:t>
            </a:r>
          </a:p>
        </p:txBody>
      </p:sp>
      <p:sp>
        <p:nvSpPr>
          <p:cNvPr id="19" name="Rectangle 18">
            <a:extLst>
              <a:ext uri="{FF2B5EF4-FFF2-40B4-BE49-F238E27FC236}">
                <a16:creationId xmlns:a16="http://schemas.microsoft.com/office/drawing/2014/main" id="{5353BB5A-B2D5-463A-82AF-B09BFF4F7831}"/>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3/21</a:t>
            </a:r>
          </a:p>
        </p:txBody>
      </p:sp>
    </p:spTree>
    <p:extLst>
      <p:ext uri="{BB962C8B-B14F-4D97-AF65-F5344CB8AC3E}">
        <p14:creationId xmlns:p14="http://schemas.microsoft.com/office/powerpoint/2010/main" val="46263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E97D90B-6676-46E3-B2F1-7C50AFD81E65}"/>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Mục tiêu và câu hỏi nghiên cứu</a:t>
            </a:r>
          </a:p>
        </p:txBody>
      </p:sp>
      <p:sp>
        <p:nvSpPr>
          <p:cNvPr id="2" name="Rectangle 1">
            <a:extLst>
              <a:ext uri="{FF2B5EF4-FFF2-40B4-BE49-F238E27FC236}">
                <a16:creationId xmlns:a16="http://schemas.microsoft.com/office/drawing/2014/main" id="{2C27404B-B50F-4D68-83B9-B5E0C6F128BA}"/>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Objectives and research questions</a:t>
            </a:r>
          </a:p>
        </p:txBody>
      </p:sp>
      <p:sp>
        <p:nvSpPr>
          <p:cNvPr id="3" name="Rectangle 2">
            <a:extLst>
              <a:ext uri="{FF2B5EF4-FFF2-40B4-BE49-F238E27FC236}">
                <a16:creationId xmlns:a16="http://schemas.microsoft.com/office/drawing/2014/main" id="{151DFE1B-7252-49EA-A36F-636529F2F390}"/>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95559A63-90AF-45C3-8A8C-8B15309C691C}"/>
              </a:ext>
            </a:extLst>
          </p:cNvPr>
          <p:cNvSpPr>
            <a:spLocks noGrp="1"/>
          </p:cNvSpPr>
          <p:nvPr/>
        </p:nvSpPr>
        <p:spPr>
          <a:xfrm>
            <a:off x="819150" y="2095500"/>
            <a:ext cx="4095750" cy="628650"/>
          </a:xfrm>
          <a:prstGeom prst="rect">
            <a:avLst/>
          </a:prstGeom>
          <a:solidFill>
            <a:srgbClr val="DCFCE7"/>
          </a:solidFill>
          <a:ln w="9525">
            <a:solidFill>
              <a:srgbClr val="CBD5E1"/>
            </a:solidFill>
            <a:prstDash val="solid"/>
          </a:ln>
        </p:spPr>
      </p:sp>
      <p:sp>
        <p:nvSpPr>
          <p:cNvPr id="5" name="Rectangle 4">
            <a:extLst>
              <a:ext uri="{FF2B5EF4-FFF2-40B4-BE49-F238E27FC236}">
                <a16:creationId xmlns:a16="http://schemas.microsoft.com/office/drawing/2014/main" id="{D5EF1721-2473-49BD-9BD1-CC3B19B2373A}"/>
              </a:ext>
            </a:extLst>
          </p:cNvPr>
          <p:cNvSpPr>
            <a:spLocks noGrp="1"/>
          </p:cNvSpPr>
          <p:nvPr/>
        </p:nvSpPr>
        <p:spPr>
          <a:xfrm>
            <a:off x="895350" y="2171700"/>
            <a:ext cx="3943350" cy="514350"/>
          </a:xfrm>
          <a:prstGeom prst="rect">
            <a:avLst/>
          </a:prstGeom>
          <a:noFill/>
          <a:ln w="0">
            <a:noFill/>
            <a:prstDash val="solid"/>
          </a:ln>
        </p:spPr>
        <p:txBody>
          <a:bodyPr/>
          <a:lstStyle/>
          <a:p>
            <a:pPr algn="l">
              <a:defRPr sz="1200" b="1">
                <a:solidFill>
                  <a:srgbClr val="111827"/>
                </a:solidFill>
              </a:defRPr>
            </a:pPr>
            <a:r>
              <a:rPr sz="1200" b="1">
                <a:solidFill>
                  <a:srgbClr val="111827"/>
                </a:solidFill>
              </a:rPr>
              <a:t>Mục tiêu</a:t>
            </a:r>
          </a:p>
        </p:txBody>
      </p:sp>
      <p:sp>
        <p:nvSpPr>
          <p:cNvPr id="6" name="Rectangle 5">
            <a:extLst>
              <a:ext uri="{FF2B5EF4-FFF2-40B4-BE49-F238E27FC236}">
                <a16:creationId xmlns:a16="http://schemas.microsoft.com/office/drawing/2014/main" id="{74B44DE3-0DBF-4026-BB49-01FCBBAF8915}"/>
              </a:ext>
            </a:extLst>
          </p:cNvPr>
          <p:cNvSpPr>
            <a:spLocks noGrp="1"/>
          </p:cNvSpPr>
          <p:nvPr/>
        </p:nvSpPr>
        <p:spPr>
          <a:xfrm>
            <a:off x="4914900" y="2095500"/>
            <a:ext cx="6457950" cy="628650"/>
          </a:xfrm>
          <a:prstGeom prst="rect">
            <a:avLst/>
          </a:prstGeom>
          <a:solidFill>
            <a:srgbClr val="DCFCE7"/>
          </a:solidFill>
          <a:ln w="9525">
            <a:solidFill>
              <a:srgbClr val="CBD5E1"/>
            </a:solidFill>
            <a:prstDash val="solid"/>
          </a:ln>
        </p:spPr>
      </p:sp>
      <p:sp>
        <p:nvSpPr>
          <p:cNvPr id="7" name="Rectangle 6">
            <a:extLst>
              <a:ext uri="{FF2B5EF4-FFF2-40B4-BE49-F238E27FC236}">
                <a16:creationId xmlns:a16="http://schemas.microsoft.com/office/drawing/2014/main" id="{CA80111F-7AED-43DF-AEC2-0E2A6C26E175}"/>
              </a:ext>
            </a:extLst>
          </p:cNvPr>
          <p:cNvSpPr>
            <a:spLocks noGrp="1"/>
          </p:cNvSpPr>
          <p:nvPr/>
        </p:nvSpPr>
        <p:spPr>
          <a:xfrm>
            <a:off x="4991100" y="2171700"/>
            <a:ext cx="6305550" cy="514350"/>
          </a:xfrm>
          <a:prstGeom prst="rect">
            <a:avLst/>
          </a:prstGeom>
          <a:noFill/>
          <a:ln w="0">
            <a:noFill/>
            <a:prstDash val="solid"/>
          </a:ln>
        </p:spPr>
        <p:txBody>
          <a:bodyPr/>
          <a:lstStyle/>
          <a:p>
            <a:pPr algn="l">
              <a:defRPr sz="1200" b="1">
                <a:solidFill>
                  <a:srgbClr val="111827"/>
                </a:solidFill>
              </a:defRPr>
            </a:pPr>
            <a:r>
              <a:rPr sz="1200" b="1">
                <a:solidFill>
                  <a:srgbClr val="111827"/>
                </a:solidFill>
              </a:rPr>
              <a:t>Câu hỏi nghiên cứu</a:t>
            </a:r>
          </a:p>
        </p:txBody>
      </p:sp>
      <p:sp>
        <p:nvSpPr>
          <p:cNvPr id="8" name="Rectangle 7">
            <a:extLst>
              <a:ext uri="{FF2B5EF4-FFF2-40B4-BE49-F238E27FC236}">
                <a16:creationId xmlns:a16="http://schemas.microsoft.com/office/drawing/2014/main" id="{BC9C77B7-5ADC-4162-B3A2-8996E5B91DEF}"/>
              </a:ext>
            </a:extLst>
          </p:cNvPr>
          <p:cNvSpPr>
            <a:spLocks noGrp="1"/>
          </p:cNvSpPr>
          <p:nvPr/>
        </p:nvSpPr>
        <p:spPr>
          <a:xfrm>
            <a:off x="819150" y="2724150"/>
            <a:ext cx="4095750" cy="628650"/>
          </a:xfrm>
          <a:prstGeom prst="rect">
            <a:avLst/>
          </a:prstGeom>
          <a:solidFill>
            <a:srgbClr val="FFFFFF"/>
          </a:solidFill>
          <a:ln w="9525">
            <a:solidFill>
              <a:srgbClr val="CBD5E1"/>
            </a:solidFill>
            <a:prstDash val="solid"/>
          </a:ln>
        </p:spPr>
      </p:sp>
      <p:sp>
        <p:nvSpPr>
          <p:cNvPr id="9" name="Rectangle 8">
            <a:extLst>
              <a:ext uri="{FF2B5EF4-FFF2-40B4-BE49-F238E27FC236}">
                <a16:creationId xmlns:a16="http://schemas.microsoft.com/office/drawing/2014/main" id="{17A0989D-11C4-472C-8C8E-0AB557DCD025}"/>
              </a:ext>
            </a:extLst>
          </p:cNvPr>
          <p:cNvSpPr>
            <a:spLocks noGrp="1"/>
          </p:cNvSpPr>
          <p:nvPr/>
        </p:nvSpPr>
        <p:spPr>
          <a:xfrm>
            <a:off x="895350" y="2800350"/>
            <a:ext cx="39433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Huấn luyện phân loại 5 lớp</a:t>
            </a:r>
          </a:p>
        </p:txBody>
      </p:sp>
      <p:sp>
        <p:nvSpPr>
          <p:cNvPr id="10" name="Rectangle 9">
            <a:extLst>
              <a:ext uri="{FF2B5EF4-FFF2-40B4-BE49-F238E27FC236}">
                <a16:creationId xmlns:a16="http://schemas.microsoft.com/office/drawing/2014/main" id="{1585D9FC-FF9B-4282-9F51-9FA3E413846C}"/>
              </a:ext>
            </a:extLst>
          </p:cNvPr>
          <p:cNvSpPr>
            <a:spLocks noGrp="1"/>
          </p:cNvSpPr>
          <p:nvPr/>
        </p:nvSpPr>
        <p:spPr>
          <a:xfrm>
            <a:off x="4914900" y="2724150"/>
            <a:ext cx="6457950" cy="628650"/>
          </a:xfrm>
          <a:prstGeom prst="rect">
            <a:avLst/>
          </a:prstGeom>
          <a:solidFill>
            <a:srgbClr val="FFFFFF"/>
          </a:solidFill>
          <a:ln w="9525">
            <a:solidFill>
              <a:srgbClr val="CBD5E1"/>
            </a:solidFill>
            <a:prstDash val="solid"/>
          </a:ln>
        </p:spPr>
      </p:sp>
      <p:sp>
        <p:nvSpPr>
          <p:cNvPr id="11" name="Rectangle 10">
            <a:extLst>
              <a:ext uri="{FF2B5EF4-FFF2-40B4-BE49-F238E27FC236}">
                <a16:creationId xmlns:a16="http://schemas.microsoft.com/office/drawing/2014/main" id="{605CF99B-C14C-455F-8BA2-FBCDB1618C19}"/>
              </a:ext>
            </a:extLst>
          </p:cNvPr>
          <p:cNvSpPr>
            <a:spLocks noGrp="1"/>
          </p:cNvSpPr>
          <p:nvPr/>
        </p:nvSpPr>
        <p:spPr>
          <a:xfrm>
            <a:off x="4991100" y="2800350"/>
            <a:ext cx="63055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Mô hình phân loại có đủ tin cậy không?</a:t>
            </a:r>
          </a:p>
        </p:txBody>
      </p:sp>
      <p:sp>
        <p:nvSpPr>
          <p:cNvPr id="12" name="Rectangle 11">
            <a:extLst>
              <a:ext uri="{FF2B5EF4-FFF2-40B4-BE49-F238E27FC236}">
                <a16:creationId xmlns:a16="http://schemas.microsoft.com/office/drawing/2014/main" id="{0B5E6B21-558F-44FC-AB75-94CB5F36DB4B}"/>
              </a:ext>
            </a:extLst>
          </p:cNvPr>
          <p:cNvSpPr>
            <a:spLocks noGrp="1"/>
          </p:cNvSpPr>
          <p:nvPr/>
        </p:nvSpPr>
        <p:spPr>
          <a:xfrm>
            <a:off x="819150" y="3352800"/>
            <a:ext cx="4095750" cy="628650"/>
          </a:xfrm>
          <a:prstGeom prst="rect">
            <a:avLst/>
          </a:prstGeom>
          <a:solidFill>
            <a:srgbClr val="F8FAFC"/>
          </a:solidFill>
          <a:ln w="9525">
            <a:solidFill>
              <a:srgbClr val="CBD5E1"/>
            </a:solidFill>
            <a:prstDash val="solid"/>
          </a:ln>
        </p:spPr>
      </p:sp>
      <p:sp>
        <p:nvSpPr>
          <p:cNvPr id="13" name="Rectangle 12">
            <a:extLst>
              <a:ext uri="{FF2B5EF4-FFF2-40B4-BE49-F238E27FC236}">
                <a16:creationId xmlns:a16="http://schemas.microsoft.com/office/drawing/2014/main" id="{B3ED02B8-5997-4951-A041-2FF653B2ACD4}"/>
              </a:ext>
            </a:extLst>
          </p:cNvPr>
          <p:cNvSpPr>
            <a:spLocks noGrp="1"/>
          </p:cNvSpPr>
          <p:nvPr/>
        </p:nvSpPr>
        <p:spPr>
          <a:xfrm>
            <a:off x="895350" y="3429000"/>
            <a:ext cx="39433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Sinh nhãn giả từ XAI</a:t>
            </a:r>
          </a:p>
        </p:txBody>
      </p:sp>
      <p:sp>
        <p:nvSpPr>
          <p:cNvPr id="14" name="Rectangle 13">
            <a:extLst>
              <a:ext uri="{FF2B5EF4-FFF2-40B4-BE49-F238E27FC236}">
                <a16:creationId xmlns:a16="http://schemas.microsoft.com/office/drawing/2014/main" id="{28A29EF0-BAB5-4CEA-969D-3FA3966A9892}"/>
              </a:ext>
            </a:extLst>
          </p:cNvPr>
          <p:cNvSpPr>
            <a:spLocks noGrp="1"/>
          </p:cNvSpPr>
          <p:nvPr/>
        </p:nvSpPr>
        <p:spPr>
          <a:xfrm>
            <a:off x="4914900" y="3352800"/>
            <a:ext cx="6457950" cy="628650"/>
          </a:xfrm>
          <a:prstGeom prst="rect">
            <a:avLst/>
          </a:prstGeom>
          <a:solidFill>
            <a:srgbClr val="F8FAFC"/>
          </a:solidFill>
          <a:ln w="9525">
            <a:solidFill>
              <a:srgbClr val="CBD5E1"/>
            </a:solidFill>
            <a:prstDash val="solid"/>
          </a:ln>
        </p:spPr>
      </p:sp>
      <p:sp>
        <p:nvSpPr>
          <p:cNvPr id="15" name="Rectangle 14">
            <a:extLst>
              <a:ext uri="{FF2B5EF4-FFF2-40B4-BE49-F238E27FC236}">
                <a16:creationId xmlns:a16="http://schemas.microsoft.com/office/drawing/2014/main" id="{9841B2B3-86AE-435A-9A49-994B6D756E24}"/>
              </a:ext>
            </a:extLst>
          </p:cNvPr>
          <p:cNvSpPr>
            <a:spLocks noGrp="1"/>
          </p:cNvSpPr>
          <p:nvPr/>
        </p:nvSpPr>
        <p:spPr>
          <a:xfrm>
            <a:off x="4991100" y="3429000"/>
            <a:ext cx="63055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Heatmap có chuyển thành mask hữu ích không?</a:t>
            </a:r>
          </a:p>
        </p:txBody>
      </p:sp>
      <p:sp>
        <p:nvSpPr>
          <p:cNvPr id="16" name="Rectangle 15">
            <a:extLst>
              <a:ext uri="{FF2B5EF4-FFF2-40B4-BE49-F238E27FC236}">
                <a16:creationId xmlns:a16="http://schemas.microsoft.com/office/drawing/2014/main" id="{D0017B19-2554-4347-B1E4-22839A53CE33}"/>
              </a:ext>
            </a:extLst>
          </p:cNvPr>
          <p:cNvSpPr>
            <a:spLocks noGrp="1"/>
          </p:cNvSpPr>
          <p:nvPr/>
        </p:nvSpPr>
        <p:spPr>
          <a:xfrm>
            <a:off x="819150" y="3981450"/>
            <a:ext cx="4095750" cy="628650"/>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A087B7EC-3B97-4439-BD8F-22A23AE5AED5}"/>
              </a:ext>
            </a:extLst>
          </p:cNvPr>
          <p:cNvSpPr>
            <a:spLocks noGrp="1"/>
          </p:cNvSpPr>
          <p:nvPr/>
        </p:nvSpPr>
        <p:spPr>
          <a:xfrm>
            <a:off x="895350" y="4057650"/>
            <a:ext cx="39433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Huấn luyện phân đoạn</a:t>
            </a:r>
          </a:p>
        </p:txBody>
      </p:sp>
      <p:sp>
        <p:nvSpPr>
          <p:cNvPr id="18" name="Rectangle 17">
            <a:extLst>
              <a:ext uri="{FF2B5EF4-FFF2-40B4-BE49-F238E27FC236}">
                <a16:creationId xmlns:a16="http://schemas.microsoft.com/office/drawing/2014/main" id="{6BE5C872-E85A-4EFC-B1C4-4B5D6FEBF312}"/>
              </a:ext>
            </a:extLst>
          </p:cNvPr>
          <p:cNvSpPr>
            <a:spLocks noGrp="1"/>
          </p:cNvSpPr>
          <p:nvPr/>
        </p:nvSpPr>
        <p:spPr>
          <a:xfrm>
            <a:off x="4914900" y="3981450"/>
            <a:ext cx="6457950" cy="628650"/>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C778118A-CA5A-41FE-A5ED-9E1E89EE6199}"/>
              </a:ext>
            </a:extLst>
          </p:cNvPr>
          <p:cNvSpPr>
            <a:spLocks noGrp="1"/>
          </p:cNvSpPr>
          <p:nvPr/>
        </p:nvSpPr>
        <p:spPr>
          <a:xfrm>
            <a:off x="4991100" y="4057650"/>
            <a:ext cx="63055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E1-E4 khác nhau như thế nào trên GT_OK?</a:t>
            </a:r>
          </a:p>
        </p:txBody>
      </p:sp>
      <p:sp>
        <p:nvSpPr>
          <p:cNvPr id="20" name="Rectangle 19">
            <a:extLst>
              <a:ext uri="{FF2B5EF4-FFF2-40B4-BE49-F238E27FC236}">
                <a16:creationId xmlns:a16="http://schemas.microsoft.com/office/drawing/2014/main" id="{6CC4C635-4D14-48EB-AE25-9BB6B492D295}"/>
              </a:ext>
            </a:extLst>
          </p:cNvPr>
          <p:cNvSpPr>
            <a:spLocks noGrp="1"/>
          </p:cNvSpPr>
          <p:nvPr/>
        </p:nvSpPr>
        <p:spPr>
          <a:xfrm>
            <a:off x="819150" y="4610100"/>
            <a:ext cx="4095750" cy="628650"/>
          </a:xfrm>
          <a:prstGeom prst="rect">
            <a:avLst/>
          </a:prstGeom>
          <a:solidFill>
            <a:srgbClr val="F8FAFC"/>
          </a:solidFill>
          <a:ln w="9525">
            <a:solidFill>
              <a:srgbClr val="CBD5E1"/>
            </a:solidFill>
            <a:prstDash val="solid"/>
          </a:ln>
        </p:spPr>
      </p:sp>
      <p:sp>
        <p:nvSpPr>
          <p:cNvPr id="21" name="Rectangle 20">
            <a:extLst>
              <a:ext uri="{FF2B5EF4-FFF2-40B4-BE49-F238E27FC236}">
                <a16:creationId xmlns:a16="http://schemas.microsoft.com/office/drawing/2014/main" id="{40A3B73A-5DDE-468B-BA27-6B15827100DB}"/>
              </a:ext>
            </a:extLst>
          </p:cNvPr>
          <p:cNvSpPr>
            <a:spLocks noGrp="1"/>
          </p:cNvSpPr>
          <p:nvPr/>
        </p:nvSpPr>
        <p:spPr>
          <a:xfrm>
            <a:off x="895350" y="4686300"/>
            <a:ext cx="39433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Đánh giá trung thực</a:t>
            </a:r>
          </a:p>
        </p:txBody>
      </p:sp>
      <p:sp>
        <p:nvSpPr>
          <p:cNvPr id="22" name="Rectangle 21">
            <a:extLst>
              <a:ext uri="{FF2B5EF4-FFF2-40B4-BE49-F238E27FC236}">
                <a16:creationId xmlns:a16="http://schemas.microsoft.com/office/drawing/2014/main" id="{9DA94ADE-5149-434B-90E2-13C228E28C6E}"/>
              </a:ext>
            </a:extLst>
          </p:cNvPr>
          <p:cNvSpPr>
            <a:spLocks noGrp="1"/>
          </p:cNvSpPr>
          <p:nvPr/>
        </p:nvSpPr>
        <p:spPr>
          <a:xfrm>
            <a:off x="4914900" y="4610100"/>
            <a:ext cx="6457950" cy="628650"/>
          </a:xfrm>
          <a:prstGeom prst="rect">
            <a:avLst/>
          </a:prstGeom>
          <a:solidFill>
            <a:srgbClr val="F8FAFC"/>
          </a:solidFill>
          <a:ln w="9525">
            <a:solidFill>
              <a:srgbClr val="CBD5E1"/>
            </a:solidFill>
            <a:prstDash val="solid"/>
          </a:ln>
        </p:spPr>
      </p:sp>
      <p:sp>
        <p:nvSpPr>
          <p:cNvPr id="23" name="Rectangle 22">
            <a:extLst>
              <a:ext uri="{FF2B5EF4-FFF2-40B4-BE49-F238E27FC236}">
                <a16:creationId xmlns:a16="http://schemas.microsoft.com/office/drawing/2014/main" id="{507CC457-2B15-4E5B-A10E-77FE84678950}"/>
              </a:ext>
            </a:extLst>
          </p:cNvPr>
          <p:cNvSpPr>
            <a:spLocks noGrp="1"/>
          </p:cNvSpPr>
          <p:nvPr/>
        </p:nvSpPr>
        <p:spPr>
          <a:xfrm>
            <a:off x="4991100" y="4686300"/>
            <a:ext cx="6305550" cy="514350"/>
          </a:xfrm>
          <a:prstGeom prst="rect">
            <a:avLst/>
          </a:prstGeom>
          <a:noFill/>
          <a:ln w="0">
            <a:noFill/>
            <a:prstDash val="solid"/>
          </a:ln>
        </p:spPr>
        <p:txBody>
          <a:bodyPr/>
          <a:lstStyle/>
          <a:p>
            <a:pPr algn="l">
              <a:defRPr sz="1125" b="0">
                <a:solidFill>
                  <a:srgbClr val="111827"/>
                </a:solidFill>
              </a:defRPr>
            </a:pPr>
            <a:r>
              <a:rPr sz="1125" b="0">
                <a:solidFill>
                  <a:srgbClr val="111827"/>
                </a:solidFill>
              </a:rPr>
              <a:t>Pseudo-test và GT_OK nên được đọc ra sao?</a:t>
            </a:r>
          </a:p>
        </p:txBody>
      </p:sp>
      <p:sp>
        <p:nvSpPr>
          <p:cNvPr id="24" name="Rectangle 23">
            <a:extLst>
              <a:ext uri="{FF2B5EF4-FFF2-40B4-BE49-F238E27FC236}">
                <a16:creationId xmlns:a16="http://schemas.microsoft.com/office/drawing/2014/main" id="{A4E8240C-1175-4913-B1B7-E8376C76ED72}"/>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4/21</a:t>
            </a:r>
          </a:p>
        </p:txBody>
      </p:sp>
    </p:spTree>
    <p:extLst>
      <p:ext uri="{BB962C8B-B14F-4D97-AF65-F5344CB8AC3E}">
        <p14:creationId xmlns:p14="http://schemas.microsoft.com/office/powerpoint/2010/main" val="1796485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6934FC53-406F-44CB-A30B-54A28CDA8AD2}"/>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Phương pháp và vai trò trong pipeline</a:t>
            </a:r>
          </a:p>
        </p:txBody>
      </p:sp>
      <p:sp>
        <p:nvSpPr>
          <p:cNvPr id="2" name="Rectangle 1">
            <a:extLst>
              <a:ext uri="{FF2B5EF4-FFF2-40B4-BE49-F238E27FC236}">
                <a16:creationId xmlns:a16="http://schemas.microsoft.com/office/drawing/2014/main" id="{E0A51AC4-B35E-434E-8BF6-9153A877828A}"/>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Related work</a:t>
            </a:r>
          </a:p>
        </p:txBody>
      </p:sp>
      <p:sp>
        <p:nvSpPr>
          <p:cNvPr id="3" name="Rectangle 2">
            <a:extLst>
              <a:ext uri="{FF2B5EF4-FFF2-40B4-BE49-F238E27FC236}">
                <a16:creationId xmlns:a16="http://schemas.microsoft.com/office/drawing/2014/main" id="{C7AA7E24-27B4-4D15-BF7C-DB52FC197D93}"/>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A569C241-59F3-46C1-8339-267A5AA6BB7D}"/>
              </a:ext>
            </a:extLst>
          </p:cNvPr>
          <p:cNvSpPr>
            <a:spLocks noGrp="1"/>
          </p:cNvSpPr>
          <p:nvPr/>
        </p:nvSpPr>
        <p:spPr>
          <a:xfrm>
            <a:off x="609600" y="1981200"/>
            <a:ext cx="2238375" cy="670560"/>
          </a:xfrm>
          <a:prstGeom prst="rect">
            <a:avLst/>
          </a:prstGeom>
          <a:solidFill>
            <a:srgbClr val="E0F2FE"/>
          </a:solidFill>
          <a:ln w="9525">
            <a:solidFill>
              <a:srgbClr val="CBD5E1"/>
            </a:solidFill>
            <a:prstDash val="solid"/>
          </a:ln>
        </p:spPr>
      </p:sp>
      <p:sp>
        <p:nvSpPr>
          <p:cNvPr id="5" name="Rectangle 4">
            <a:extLst>
              <a:ext uri="{FF2B5EF4-FFF2-40B4-BE49-F238E27FC236}">
                <a16:creationId xmlns:a16="http://schemas.microsoft.com/office/drawing/2014/main" id="{25D5D0DD-D9DF-4E1C-8E8D-3717EF847F6F}"/>
              </a:ext>
            </a:extLst>
          </p:cNvPr>
          <p:cNvSpPr>
            <a:spLocks noGrp="1"/>
          </p:cNvSpPr>
          <p:nvPr/>
        </p:nvSpPr>
        <p:spPr>
          <a:xfrm>
            <a:off x="685800" y="2057400"/>
            <a:ext cx="2085975" cy="556260"/>
          </a:xfrm>
          <a:prstGeom prst="rect">
            <a:avLst/>
          </a:prstGeom>
          <a:noFill/>
          <a:ln w="0">
            <a:noFill/>
            <a:prstDash val="solid"/>
          </a:ln>
        </p:spPr>
        <p:txBody>
          <a:bodyPr/>
          <a:lstStyle/>
          <a:p>
            <a:pPr algn="l">
              <a:defRPr sz="1200" b="1">
                <a:solidFill>
                  <a:srgbClr val="111827"/>
                </a:solidFill>
              </a:defRPr>
            </a:pPr>
            <a:r>
              <a:rPr sz="1200" b="1">
                <a:solidFill>
                  <a:srgbClr val="111827"/>
                </a:solidFill>
              </a:rPr>
              <a:t>Nhóm phương pháp</a:t>
            </a:r>
          </a:p>
        </p:txBody>
      </p:sp>
      <p:sp>
        <p:nvSpPr>
          <p:cNvPr id="6" name="Rectangle 5">
            <a:extLst>
              <a:ext uri="{FF2B5EF4-FFF2-40B4-BE49-F238E27FC236}">
                <a16:creationId xmlns:a16="http://schemas.microsoft.com/office/drawing/2014/main" id="{00415A15-67BE-4B33-B567-A70519799631}"/>
              </a:ext>
            </a:extLst>
          </p:cNvPr>
          <p:cNvSpPr>
            <a:spLocks noGrp="1"/>
          </p:cNvSpPr>
          <p:nvPr/>
        </p:nvSpPr>
        <p:spPr>
          <a:xfrm>
            <a:off x="2847975" y="1981200"/>
            <a:ext cx="2333625" cy="670560"/>
          </a:xfrm>
          <a:prstGeom prst="rect">
            <a:avLst/>
          </a:prstGeom>
          <a:solidFill>
            <a:srgbClr val="E0F2FE"/>
          </a:solidFill>
          <a:ln w="9525">
            <a:solidFill>
              <a:srgbClr val="CBD5E1"/>
            </a:solidFill>
            <a:prstDash val="solid"/>
          </a:ln>
        </p:spPr>
      </p:sp>
      <p:sp>
        <p:nvSpPr>
          <p:cNvPr id="7" name="Rectangle 6">
            <a:extLst>
              <a:ext uri="{FF2B5EF4-FFF2-40B4-BE49-F238E27FC236}">
                <a16:creationId xmlns:a16="http://schemas.microsoft.com/office/drawing/2014/main" id="{C8470F98-D562-4EC2-9097-DFD4F6566C74}"/>
              </a:ext>
            </a:extLst>
          </p:cNvPr>
          <p:cNvSpPr>
            <a:spLocks noGrp="1"/>
          </p:cNvSpPr>
          <p:nvPr/>
        </p:nvSpPr>
        <p:spPr>
          <a:xfrm>
            <a:off x="2924175" y="2057400"/>
            <a:ext cx="2181225" cy="556260"/>
          </a:xfrm>
          <a:prstGeom prst="rect">
            <a:avLst/>
          </a:prstGeom>
          <a:noFill/>
          <a:ln w="0">
            <a:noFill/>
            <a:prstDash val="solid"/>
          </a:ln>
        </p:spPr>
        <p:txBody>
          <a:bodyPr/>
          <a:lstStyle/>
          <a:p>
            <a:pPr algn="l">
              <a:defRPr sz="1200" b="1">
                <a:solidFill>
                  <a:srgbClr val="111827"/>
                </a:solidFill>
              </a:defRPr>
            </a:pPr>
            <a:r>
              <a:rPr sz="1200" b="1">
                <a:solidFill>
                  <a:srgbClr val="111827"/>
                </a:solidFill>
              </a:rPr>
              <a:t>Điểm mạnh</a:t>
            </a:r>
          </a:p>
        </p:txBody>
      </p:sp>
      <p:sp>
        <p:nvSpPr>
          <p:cNvPr id="8" name="Rectangle 7">
            <a:extLst>
              <a:ext uri="{FF2B5EF4-FFF2-40B4-BE49-F238E27FC236}">
                <a16:creationId xmlns:a16="http://schemas.microsoft.com/office/drawing/2014/main" id="{AE6941E0-4C1B-4A7E-880C-82CA7FCFA63E}"/>
              </a:ext>
            </a:extLst>
          </p:cNvPr>
          <p:cNvSpPr>
            <a:spLocks noGrp="1"/>
          </p:cNvSpPr>
          <p:nvPr/>
        </p:nvSpPr>
        <p:spPr>
          <a:xfrm>
            <a:off x="5181600" y="1981200"/>
            <a:ext cx="2286000" cy="670560"/>
          </a:xfrm>
          <a:prstGeom prst="rect">
            <a:avLst/>
          </a:prstGeom>
          <a:solidFill>
            <a:srgbClr val="E0F2FE"/>
          </a:solidFill>
          <a:ln w="9525">
            <a:solidFill>
              <a:srgbClr val="CBD5E1"/>
            </a:solidFill>
            <a:prstDash val="solid"/>
          </a:ln>
        </p:spPr>
      </p:sp>
      <p:sp>
        <p:nvSpPr>
          <p:cNvPr id="9" name="Rectangle 8">
            <a:extLst>
              <a:ext uri="{FF2B5EF4-FFF2-40B4-BE49-F238E27FC236}">
                <a16:creationId xmlns:a16="http://schemas.microsoft.com/office/drawing/2014/main" id="{954648A1-F930-4B33-BC0C-0C9485625B1B}"/>
              </a:ext>
            </a:extLst>
          </p:cNvPr>
          <p:cNvSpPr>
            <a:spLocks noGrp="1"/>
          </p:cNvSpPr>
          <p:nvPr/>
        </p:nvSpPr>
        <p:spPr>
          <a:xfrm>
            <a:off x="5257800" y="2057400"/>
            <a:ext cx="2133600" cy="556260"/>
          </a:xfrm>
          <a:prstGeom prst="rect">
            <a:avLst/>
          </a:prstGeom>
          <a:noFill/>
          <a:ln w="0">
            <a:noFill/>
            <a:prstDash val="solid"/>
          </a:ln>
        </p:spPr>
        <p:txBody>
          <a:bodyPr/>
          <a:lstStyle/>
          <a:p>
            <a:pPr algn="l">
              <a:defRPr sz="1200" b="1">
                <a:solidFill>
                  <a:srgbClr val="111827"/>
                </a:solidFill>
              </a:defRPr>
            </a:pPr>
            <a:r>
              <a:rPr sz="1200" b="1">
                <a:solidFill>
                  <a:srgbClr val="111827"/>
                </a:solidFill>
              </a:rPr>
              <a:t>Giới hạn</a:t>
            </a:r>
          </a:p>
        </p:txBody>
      </p:sp>
      <p:sp>
        <p:nvSpPr>
          <p:cNvPr id="10" name="Rectangle 9">
            <a:extLst>
              <a:ext uri="{FF2B5EF4-FFF2-40B4-BE49-F238E27FC236}">
                <a16:creationId xmlns:a16="http://schemas.microsoft.com/office/drawing/2014/main" id="{8436548B-2A14-4A30-AE00-44517D6BDD89}"/>
              </a:ext>
            </a:extLst>
          </p:cNvPr>
          <p:cNvSpPr>
            <a:spLocks noGrp="1"/>
          </p:cNvSpPr>
          <p:nvPr/>
        </p:nvSpPr>
        <p:spPr>
          <a:xfrm>
            <a:off x="7467600" y="1981200"/>
            <a:ext cx="4114800" cy="670560"/>
          </a:xfrm>
          <a:prstGeom prst="rect">
            <a:avLst/>
          </a:prstGeom>
          <a:solidFill>
            <a:srgbClr val="E0F2FE"/>
          </a:solidFill>
          <a:ln w="9525">
            <a:solidFill>
              <a:srgbClr val="CBD5E1"/>
            </a:solidFill>
            <a:prstDash val="solid"/>
          </a:ln>
        </p:spPr>
      </p:sp>
      <p:sp>
        <p:nvSpPr>
          <p:cNvPr id="11" name="Rectangle 10">
            <a:extLst>
              <a:ext uri="{FF2B5EF4-FFF2-40B4-BE49-F238E27FC236}">
                <a16:creationId xmlns:a16="http://schemas.microsoft.com/office/drawing/2014/main" id="{FAA5D3D3-AD10-4C6B-A621-D944342E4AAD}"/>
              </a:ext>
            </a:extLst>
          </p:cNvPr>
          <p:cNvSpPr>
            <a:spLocks noGrp="1"/>
          </p:cNvSpPr>
          <p:nvPr/>
        </p:nvSpPr>
        <p:spPr>
          <a:xfrm>
            <a:off x="7543800" y="2057400"/>
            <a:ext cx="3962400" cy="556260"/>
          </a:xfrm>
          <a:prstGeom prst="rect">
            <a:avLst/>
          </a:prstGeom>
          <a:noFill/>
          <a:ln w="0">
            <a:noFill/>
            <a:prstDash val="solid"/>
          </a:ln>
        </p:spPr>
        <p:txBody>
          <a:bodyPr/>
          <a:lstStyle/>
          <a:p>
            <a:pPr algn="l">
              <a:defRPr sz="1200" b="1">
                <a:solidFill>
                  <a:srgbClr val="111827"/>
                </a:solidFill>
              </a:defRPr>
            </a:pPr>
            <a:r>
              <a:rPr sz="1200" b="1">
                <a:solidFill>
                  <a:srgbClr val="111827"/>
                </a:solidFill>
              </a:rPr>
              <a:t>Cách dùng trong luận văn</a:t>
            </a:r>
          </a:p>
        </p:txBody>
      </p:sp>
      <p:sp>
        <p:nvSpPr>
          <p:cNvPr id="12" name="Rectangle 11">
            <a:extLst>
              <a:ext uri="{FF2B5EF4-FFF2-40B4-BE49-F238E27FC236}">
                <a16:creationId xmlns:a16="http://schemas.microsoft.com/office/drawing/2014/main" id="{09115C38-91FC-442E-8C22-CA1E91693C08}"/>
              </a:ext>
            </a:extLst>
          </p:cNvPr>
          <p:cNvSpPr>
            <a:spLocks noGrp="1"/>
          </p:cNvSpPr>
          <p:nvPr/>
        </p:nvSpPr>
        <p:spPr>
          <a:xfrm>
            <a:off x="609600" y="2651760"/>
            <a:ext cx="2238375" cy="670560"/>
          </a:xfrm>
          <a:prstGeom prst="rect">
            <a:avLst/>
          </a:prstGeom>
          <a:solidFill>
            <a:srgbClr val="FFFFFF"/>
          </a:solidFill>
          <a:ln w="9525">
            <a:solidFill>
              <a:srgbClr val="CBD5E1"/>
            </a:solidFill>
            <a:prstDash val="solid"/>
          </a:ln>
        </p:spPr>
      </p:sp>
      <p:sp>
        <p:nvSpPr>
          <p:cNvPr id="13" name="Rectangle 12">
            <a:extLst>
              <a:ext uri="{FF2B5EF4-FFF2-40B4-BE49-F238E27FC236}">
                <a16:creationId xmlns:a16="http://schemas.microsoft.com/office/drawing/2014/main" id="{37E658EB-1E86-4F7D-AE4C-363765EBA312}"/>
              </a:ext>
            </a:extLst>
          </p:cNvPr>
          <p:cNvSpPr>
            <a:spLocks noGrp="1"/>
          </p:cNvSpPr>
          <p:nvPr/>
        </p:nvSpPr>
        <p:spPr>
          <a:xfrm>
            <a:off x="685800" y="2727960"/>
            <a:ext cx="208597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EfficientNet</a:t>
            </a:r>
          </a:p>
        </p:txBody>
      </p:sp>
      <p:sp>
        <p:nvSpPr>
          <p:cNvPr id="14" name="Rectangle 13">
            <a:extLst>
              <a:ext uri="{FF2B5EF4-FFF2-40B4-BE49-F238E27FC236}">
                <a16:creationId xmlns:a16="http://schemas.microsoft.com/office/drawing/2014/main" id="{594FC776-27A9-488D-A988-30BEC62D4033}"/>
              </a:ext>
            </a:extLst>
          </p:cNvPr>
          <p:cNvSpPr>
            <a:spLocks noGrp="1"/>
          </p:cNvSpPr>
          <p:nvPr/>
        </p:nvSpPr>
        <p:spPr>
          <a:xfrm>
            <a:off x="2847975" y="2651760"/>
            <a:ext cx="2333625" cy="670560"/>
          </a:xfrm>
          <a:prstGeom prst="rect">
            <a:avLst/>
          </a:prstGeom>
          <a:solidFill>
            <a:srgbClr val="FFFFFF"/>
          </a:solidFill>
          <a:ln w="9525">
            <a:solidFill>
              <a:srgbClr val="CBD5E1"/>
            </a:solidFill>
            <a:prstDash val="solid"/>
          </a:ln>
        </p:spPr>
      </p:sp>
      <p:sp>
        <p:nvSpPr>
          <p:cNvPr id="15" name="Rectangle 14">
            <a:extLst>
              <a:ext uri="{FF2B5EF4-FFF2-40B4-BE49-F238E27FC236}">
                <a16:creationId xmlns:a16="http://schemas.microsoft.com/office/drawing/2014/main" id="{2F69BEFA-062A-4951-9421-B9194B362A9B}"/>
              </a:ext>
            </a:extLst>
          </p:cNvPr>
          <p:cNvSpPr>
            <a:spLocks noGrp="1"/>
          </p:cNvSpPr>
          <p:nvPr/>
        </p:nvSpPr>
        <p:spPr>
          <a:xfrm>
            <a:off x="2924175" y="2727960"/>
            <a:ext cx="218122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Phân loại ảnh tốt</a:t>
            </a:r>
          </a:p>
        </p:txBody>
      </p:sp>
      <p:sp>
        <p:nvSpPr>
          <p:cNvPr id="16" name="Rectangle 15">
            <a:extLst>
              <a:ext uri="{FF2B5EF4-FFF2-40B4-BE49-F238E27FC236}">
                <a16:creationId xmlns:a16="http://schemas.microsoft.com/office/drawing/2014/main" id="{34EB00FF-20B7-44C0-8005-AB972E45C0EB}"/>
              </a:ext>
            </a:extLst>
          </p:cNvPr>
          <p:cNvSpPr>
            <a:spLocks noGrp="1"/>
          </p:cNvSpPr>
          <p:nvPr/>
        </p:nvSpPr>
        <p:spPr>
          <a:xfrm>
            <a:off x="5181600" y="2651760"/>
            <a:ext cx="2286000" cy="670560"/>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65B3498E-C1C9-4CF3-B51C-946AF1BB2443}"/>
              </a:ext>
            </a:extLst>
          </p:cNvPr>
          <p:cNvSpPr>
            <a:spLocks noGrp="1"/>
          </p:cNvSpPr>
          <p:nvPr/>
        </p:nvSpPr>
        <p:spPr>
          <a:xfrm>
            <a:off x="5257800" y="2727960"/>
            <a:ext cx="21336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Không tạo mask</a:t>
            </a:r>
          </a:p>
        </p:txBody>
      </p:sp>
      <p:sp>
        <p:nvSpPr>
          <p:cNvPr id="18" name="Rectangle 17">
            <a:extLst>
              <a:ext uri="{FF2B5EF4-FFF2-40B4-BE49-F238E27FC236}">
                <a16:creationId xmlns:a16="http://schemas.microsoft.com/office/drawing/2014/main" id="{311A19F5-0FC5-44FE-8FF0-1E0DB15C6620}"/>
              </a:ext>
            </a:extLst>
          </p:cNvPr>
          <p:cNvSpPr>
            <a:spLocks noGrp="1"/>
          </p:cNvSpPr>
          <p:nvPr/>
        </p:nvSpPr>
        <p:spPr>
          <a:xfrm>
            <a:off x="7467600" y="2651760"/>
            <a:ext cx="4114800" cy="670560"/>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DF68336A-BC9B-474B-A8FD-56B07628BCCC}"/>
              </a:ext>
            </a:extLst>
          </p:cNvPr>
          <p:cNvSpPr>
            <a:spLocks noGrp="1"/>
          </p:cNvSpPr>
          <p:nvPr/>
        </p:nvSpPr>
        <p:spPr>
          <a:xfrm>
            <a:off x="7543800" y="2727960"/>
            <a:ext cx="39624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Backbone phân loại</a:t>
            </a:r>
          </a:p>
        </p:txBody>
      </p:sp>
      <p:sp>
        <p:nvSpPr>
          <p:cNvPr id="20" name="Rectangle 19">
            <a:extLst>
              <a:ext uri="{FF2B5EF4-FFF2-40B4-BE49-F238E27FC236}">
                <a16:creationId xmlns:a16="http://schemas.microsoft.com/office/drawing/2014/main" id="{5435AB1F-0603-472F-A8B3-F6AB9C534D9D}"/>
              </a:ext>
            </a:extLst>
          </p:cNvPr>
          <p:cNvSpPr>
            <a:spLocks noGrp="1"/>
          </p:cNvSpPr>
          <p:nvPr/>
        </p:nvSpPr>
        <p:spPr>
          <a:xfrm>
            <a:off x="609600" y="3322320"/>
            <a:ext cx="2238375" cy="670560"/>
          </a:xfrm>
          <a:prstGeom prst="rect">
            <a:avLst/>
          </a:prstGeom>
          <a:solidFill>
            <a:srgbClr val="F8FAFC"/>
          </a:solidFill>
          <a:ln w="9525">
            <a:solidFill>
              <a:srgbClr val="CBD5E1"/>
            </a:solidFill>
            <a:prstDash val="solid"/>
          </a:ln>
        </p:spPr>
      </p:sp>
      <p:sp>
        <p:nvSpPr>
          <p:cNvPr id="21" name="Rectangle 20">
            <a:extLst>
              <a:ext uri="{FF2B5EF4-FFF2-40B4-BE49-F238E27FC236}">
                <a16:creationId xmlns:a16="http://schemas.microsoft.com/office/drawing/2014/main" id="{A8FBE813-D4F6-4EEF-83E8-FA46B42FF5B3}"/>
              </a:ext>
            </a:extLst>
          </p:cNvPr>
          <p:cNvSpPr>
            <a:spLocks noGrp="1"/>
          </p:cNvSpPr>
          <p:nvPr/>
        </p:nvSpPr>
        <p:spPr>
          <a:xfrm>
            <a:off x="685800" y="3398520"/>
            <a:ext cx="208597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U-Net / UNet++</a:t>
            </a:r>
          </a:p>
        </p:txBody>
      </p:sp>
      <p:sp>
        <p:nvSpPr>
          <p:cNvPr id="22" name="Rectangle 21">
            <a:extLst>
              <a:ext uri="{FF2B5EF4-FFF2-40B4-BE49-F238E27FC236}">
                <a16:creationId xmlns:a16="http://schemas.microsoft.com/office/drawing/2014/main" id="{84A0F062-B379-442C-86C2-EF626C9F7E8E}"/>
              </a:ext>
            </a:extLst>
          </p:cNvPr>
          <p:cNvSpPr>
            <a:spLocks noGrp="1"/>
          </p:cNvSpPr>
          <p:nvPr/>
        </p:nvSpPr>
        <p:spPr>
          <a:xfrm>
            <a:off x="2847975" y="3322320"/>
            <a:ext cx="2333625" cy="670560"/>
          </a:xfrm>
          <a:prstGeom prst="rect">
            <a:avLst/>
          </a:prstGeom>
          <a:solidFill>
            <a:srgbClr val="F8FAFC"/>
          </a:solidFill>
          <a:ln w="9525">
            <a:solidFill>
              <a:srgbClr val="CBD5E1"/>
            </a:solidFill>
            <a:prstDash val="solid"/>
          </a:ln>
        </p:spPr>
      </p:sp>
      <p:sp>
        <p:nvSpPr>
          <p:cNvPr id="23" name="Rectangle 22">
            <a:extLst>
              <a:ext uri="{FF2B5EF4-FFF2-40B4-BE49-F238E27FC236}">
                <a16:creationId xmlns:a16="http://schemas.microsoft.com/office/drawing/2014/main" id="{11AE481D-1700-4E2B-86F2-5ACDBB9E0A48}"/>
              </a:ext>
            </a:extLst>
          </p:cNvPr>
          <p:cNvSpPr>
            <a:spLocks noGrp="1"/>
          </p:cNvSpPr>
          <p:nvPr/>
        </p:nvSpPr>
        <p:spPr>
          <a:xfrm>
            <a:off x="2924175" y="3398520"/>
            <a:ext cx="218122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Phân đoạn ảnh</a:t>
            </a:r>
          </a:p>
        </p:txBody>
      </p:sp>
      <p:sp>
        <p:nvSpPr>
          <p:cNvPr id="24" name="Rectangle 23">
            <a:extLst>
              <a:ext uri="{FF2B5EF4-FFF2-40B4-BE49-F238E27FC236}">
                <a16:creationId xmlns:a16="http://schemas.microsoft.com/office/drawing/2014/main" id="{9A80168F-E5EE-4717-82A5-009E005B3D1D}"/>
              </a:ext>
            </a:extLst>
          </p:cNvPr>
          <p:cNvSpPr>
            <a:spLocks noGrp="1"/>
          </p:cNvSpPr>
          <p:nvPr/>
        </p:nvSpPr>
        <p:spPr>
          <a:xfrm>
            <a:off x="5181600" y="3322320"/>
            <a:ext cx="2286000" cy="670560"/>
          </a:xfrm>
          <a:prstGeom prst="rect">
            <a:avLst/>
          </a:prstGeom>
          <a:solidFill>
            <a:srgbClr val="F8FAFC"/>
          </a:solidFill>
          <a:ln w="9525">
            <a:solidFill>
              <a:srgbClr val="CBD5E1"/>
            </a:solidFill>
            <a:prstDash val="solid"/>
          </a:ln>
        </p:spPr>
      </p:sp>
      <p:sp>
        <p:nvSpPr>
          <p:cNvPr id="25" name="Rectangle 24">
            <a:extLst>
              <a:ext uri="{FF2B5EF4-FFF2-40B4-BE49-F238E27FC236}">
                <a16:creationId xmlns:a16="http://schemas.microsoft.com/office/drawing/2014/main" id="{E9112C3F-40EA-46F7-83CE-02E9F054E5B4}"/>
              </a:ext>
            </a:extLst>
          </p:cNvPr>
          <p:cNvSpPr>
            <a:spLocks noGrp="1"/>
          </p:cNvSpPr>
          <p:nvPr/>
        </p:nvSpPr>
        <p:spPr>
          <a:xfrm>
            <a:off x="5257800" y="3398520"/>
            <a:ext cx="21336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Cần nhãn pixel</a:t>
            </a:r>
          </a:p>
        </p:txBody>
      </p:sp>
      <p:sp>
        <p:nvSpPr>
          <p:cNvPr id="26" name="Rectangle 25">
            <a:extLst>
              <a:ext uri="{FF2B5EF4-FFF2-40B4-BE49-F238E27FC236}">
                <a16:creationId xmlns:a16="http://schemas.microsoft.com/office/drawing/2014/main" id="{84AC7698-86A8-4DCE-A57A-6AB42D4BC13C}"/>
              </a:ext>
            </a:extLst>
          </p:cNvPr>
          <p:cNvSpPr>
            <a:spLocks noGrp="1"/>
          </p:cNvSpPr>
          <p:nvPr/>
        </p:nvSpPr>
        <p:spPr>
          <a:xfrm>
            <a:off x="7467600" y="3322320"/>
            <a:ext cx="4114800" cy="670560"/>
          </a:xfrm>
          <a:prstGeom prst="rect">
            <a:avLst/>
          </a:prstGeom>
          <a:solidFill>
            <a:srgbClr val="F8FAFC"/>
          </a:solidFill>
          <a:ln w="9525">
            <a:solidFill>
              <a:srgbClr val="CBD5E1"/>
            </a:solidFill>
            <a:prstDash val="solid"/>
          </a:ln>
        </p:spPr>
      </p:sp>
      <p:sp>
        <p:nvSpPr>
          <p:cNvPr id="27" name="Rectangle 26">
            <a:extLst>
              <a:ext uri="{FF2B5EF4-FFF2-40B4-BE49-F238E27FC236}">
                <a16:creationId xmlns:a16="http://schemas.microsoft.com/office/drawing/2014/main" id="{53F9953E-AEC2-4E77-AD07-B6D5442752FB}"/>
              </a:ext>
            </a:extLst>
          </p:cNvPr>
          <p:cNvSpPr>
            <a:spLocks noGrp="1"/>
          </p:cNvSpPr>
          <p:nvPr/>
        </p:nvSpPr>
        <p:spPr>
          <a:xfrm>
            <a:off x="7543800" y="3398520"/>
            <a:ext cx="39624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Học từ pseudo-label</a:t>
            </a:r>
          </a:p>
        </p:txBody>
      </p:sp>
      <p:sp>
        <p:nvSpPr>
          <p:cNvPr id="28" name="Rectangle 27">
            <a:extLst>
              <a:ext uri="{FF2B5EF4-FFF2-40B4-BE49-F238E27FC236}">
                <a16:creationId xmlns:a16="http://schemas.microsoft.com/office/drawing/2014/main" id="{5C42B750-D925-416F-82AE-FC43E853AAB2}"/>
              </a:ext>
            </a:extLst>
          </p:cNvPr>
          <p:cNvSpPr>
            <a:spLocks noGrp="1"/>
          </p:cNvSpPr>
          <p:nvPr/>
        </p:nvSpPr>
        <p:spPr>
          <a:xfrm>
            <a:off x="609600" y="3992880"/>
            <a:ext cx="2238375" cy="670560"/>
          </a:xfrm>
          <a:prstGeom prst="rect">
            <a:avLst/>
          </a:prstGeom>
          <a:solidFill>
            <a:srgbClr val="FFFFFF"/>
          </a:solidFill>
          <a:ln w="9525">
            <a:solidFill>
              <a:srgbClr val="CBD5E1"/>
            </a:solidFill>
            <a:prstDash val="solid"/>
          </a:ln>
        </p:spPr>
      </p:sp>
      <p:sp>
        <p:nvSpPr>
          <p:cNvPr id="29" name="Rectangle 28">
            <a:extLst>
              <a:ext uri="{FF2B5EF4-FFF2-40B4-BE49-F238E27FC236}">
                <a16:creationId xmlns:a16="http://schemas.microsoft.com/office/drawing/2014/main" id="{F708C015-98E6-4A81-BC1F-D6C3C60F1D47}"/>
              </a:ext>
            </a:extLst>
          </p:cNvPr>
          <p:cNvSpPr>
            <a:spLocks noGrp="1"/>
          </p:cNvSpPr>
          <p:nvPr/>
        </p:nvSpPr>
        <p:spPr>
          <a:xfrm>
            <a:off x="685800" y="4069080"/>
            <a:ext cx="208597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Grad-CAM++</a:t>
            </a:r>
          </a:p>
        </p:txBody>
      </p:sp>
      <p:sp>
        <p:nvSpPr>
          <p:cNvPr id="30" name="Rectangle 29">
            <a:extLst>
              <a:ext uri="{FF2B5EF4-FFF2-40B4-BE49-F238E27FC236}">
                <a16:creationId xmlns:a16="http://schemas.microsoft.com/office/drawing/2014/main" id="{4B102D34-99A0-4A1C-8EFA-95EB4D47E588}"/>
              </a:ext>
            </a:extLst>
          </p:cNvPr>
          <p:cNvSpPr>
            <a:spLocks noGrp="1"/>
          </p:cNvSpPr>
          <p:nvPr/>
        </p:nvSpPr>
        <p:spPr>
          <a:xfrm>
            <a:off x="2847975" y="3992880"/>
            <a:ext cx="2333625" cy="670560"/>
          </a:xfrm>
          <a:prstGeom prst="rect">
            <a:avLst/>
          </a:prstGeom>
          <a:solidFill>
            <a:srgbClr val="FFFFFF"/>
          </a:solidFill>
          <a:ln w="9525">
            <a:solidFill>
              <a:srgbClr val="CBD5E1"/>
            </a:solidFill>
            <a:prstDash val="solid"/>
          </a:ln>
        </p:spPr>
      </p:sp>
      <p:sp>
        <p:nvSpPr>
          <p:cNvPr id="31" name="Rectangle 30">
            <a:extLst>
              <a:ext uri="{FF2B5EF4-FFF2-40B4-BE49-F238E27FC236}">
                <a16:creationId xmlns:a16="http://schemas.microsoft.com/office/drawing/2014/main" id="{265EF764-F0B5-4DF8-BA05-AE66A4DE1FA2}"/>
              </a:ext>
            </a:extLst>
          </p:cNvPr>
          <p:cNvSpPr>
            <a:spLocks noGrp="1"/>
          </p:cNvSpPr>
          <p:nvPr/>
        </p:nvSpPr>
        <p:spPr>
          <a:xfrm>
            <a:off x="2924175" y="4069080"/>
            <a:ext cx="218122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Giải thích vùng chú ý</a:t>
            </a:r>
          </a:p>
        </p:txBody>
      </p:sp>
      <p:sp>
        <p:nvSpPr>
          <p:cNvPr id="32" name="Rectangle 31">
            <a:extLst>
              <a:ext uri="{FF2B5EF4-FFF2-40B4-BE49-F238E27FC236}">
                <a16:creationId xmlns:a16="http://schemas.microsoft.com/office/drawing/2014/main" id="{BCFCE843-9A43-475A-9422-2A3968FE1C10}"/>
              </a:ext>
            </a:extLst>
          </p:cNvPr>
          <p:cNvSpPr>
            <a:spLocks noGrp="1"/>
          </p:cNvSpPr>
          <p:nvPr/>
        </p:nvSpPr>
        <p:spPr>
          <a:xfrm>
            <a:off x="5181600" y="3992880"/>
            <a:ext cx="2286000" cy="670560"/>
          </a:xfrm>
          <a:prstGeom prst="rect">
            <a:avLst/>
          </a:prstGeom>
          <a:solidFill>
            <a:srgbClr val="FFFFFF"/>
          </a:solidFill>
          <a:ln w="9525">
            <a:solidFill>
              <a:srgbClr val="CBD5E1"/>
            </a:solidFill>
            <a:prstDash val="solid"/>
          </a:ln>
        </p:spPr>
      </p:sp>
      <p:sp>
        <p:nvSpPr>
          <p:cNvPr id="33" name="Rectangle 32">
            <a:extLst>
              <a:ext uri="{FF2B5EF4-FFF2-40B4-BE49-F238E27FC236}">
                <a16:creationId xmlns:a16="http://schemas.microsoft.com/office/drawing/2014/main" id="{165C106E-3F22-44AC-A1FD-CC4BAA462F6D}"/>
              </a:ext>
            </a:extLst>
          </p:cNvPr>
          <p:cNvSpPr>
            <a:spLocks noGrp="1"/>
          </p:cNvSpPr>
          <p:nvPr/>
        </p:nvSpPr>
        <p:spPr>
          <a:xfrm>
            <a:off x="5257800" y="4069080"/>
            <a:ext cx="21336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Heatmap thô</a:t>
            </a:r>
          </a:p>
        </p:txBody>
      </p:sp>
      <p:sp>
        <p:nvSpPr>
          <p:cNvPr id="34" name="Rectangle 33">
            <a:extLst>
              <a:ext uri="{FF2B5EF4-FFF2-40B4-BE49-F238E27FC236}">
                <a16:creationId xmlns:a16="http://schemas.microsoft.com/office/drawing/2014/main" id="{2B20B34B-1F43-4433-8C60-8BF4D186D664}"/>
              </a:ext>
            </a:extLst>
          </p:cNvPr>
          <p:cNvSpPr>
            <a:spLocks noGrp="1"/>
          </p:cNvSpPr>
          <p:nvPr/>
        </p:nvSpPr>
        <p:spPr>
          <a:xfrm>
            <a:off x="7467600" y="3992880"/>
            <a:ext cx="4114800" cy="670560"/>
          </a:xfrm>
          <a:prstGeom prst="rect">
            <a:avLst/>
          </a:prstGeom>
          <a:solidFill>
            <a:srgbClr val="FFFFFF"/>
          </a:solidFill>
          <a:ln w="9525">
            <a:solidFill>
              <a:srgbClr val="CBD5E1"/>
            </a:solidFill>
            <a:prstDash val="solid"/>
          </a:ln>
        </p:spPr>
      </p:sp>
      <p:sp>
        <p:nvSpPr>
          <p:cNvPr id="35" name="Rectangle 34">
            <a:extLst>
              <a:ext uri="{FF2B5EF4-FFF2-40B4-BE49-F238E27FC236}">
                <a16:creationId xmlns:a16="http://schemas.microsoft.com/office/drawing/2014/main" id="{C6FEA632-51F3-405E-B1A8-A9DE6BD036D1}"/>
              </a:ext>
            </a:extLst>
          </p:cNvPr>
          <p:cNvSpPr>
            <a:spLocks noGrp="1"/>
          </p:cNvSpPr>
          <p:nvPr/>
        </p:nvSpPr>
        <p:spPr>
          <a:xfrm>
            <a:off x="7543800" y="4069080"/>
            <a:ext cx="39624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Sinh nhãn giả</a:t>
            </a:r>
          </a:p>
        </p:txBody>
      </p:sp>
      <p:sp>
        <p:nvSpPr>
          <p:cNvPr id="36" name="Rectangle 35">
            <a:extLst>
              <a:ext uri="{FF2B5EF4-FFF2-40B4-BE49-F238E27FC236}">
                <a16:creationId xmlns:a16="http://schemas.microsoft.com/office/drawing/2014/main" id="{6C8AB971-24FD-46B1-9CE0-B4D8C1C200CB}"/>
              </a:ext>
            </a:extLst>
          </p:cNvPr>
          <p:cNvSpPr>
            <a:spLocks noGrp="1"/>
          </p:cNvSpPr>
          <p:nvPr/>
        </p:nvSpPr>
        <p:spPr>
          <a:xfrm>
            <a:off x="609600" y="4663440"/>
            <a:ext cx="2238375" cy="670560"/>
          </a:xfrm>
          <a:prstGeom prst="rect">
            <a:avLst/>
          </a:prstGeom>
          <a:solidFill>
            <a:srgbClr val="F8FAFC"/>
          </a:solidFill>
          <a:ln w="9525">
            <a:solidFill>
              <a:srgbClr val="CBD5E1"/>
            </a:solidFill>
            <a:prstDash val="solid"/>
          </a:ln>
        </p:spPr>
      </p:sp>
      <p:sp>
        <p:nvSpPr>
          <p:cNvPr id="37" name="Rectangle 36">
            <a:extLst>
              <a:ext uri="{FF2B5EF4-FFF2-40B4-BE49-F238E27FC236}">
                <a16:creationId xmlns:a16="http://schemas.microsoft.com/office/drawing/2014/main" id="{4CCB2975-33A3-46A2-BD66-A5A69E4AEDC2}"/>
              </a:ext>
            </a:extLst>
          </p:cNvPr>
          <p:cNvSpPr>
            <a:spLocks noGrp="1"/>
          </p:cNvSpPr>
          <p:nvPr/>
        </p:nvSpPr>
        <p:spPr>
          <a:xfrm>
            <a:off x="685800" y="4739640"/>
            <a:ext cx="208597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SAM</a:t>
            </a:r>
          </a:p>
        </p:txBody>
      </p:sp>
      <p:sp>
        <p:nvSpPr>
          <p:cNvPr id="38" name="Rectangle 37">
            <a:extLst>
              <a:ext uri="{FF2B5EF4-FFF2-40B4-BE49-F238E27FC236}">
                <a16:creationId xmlns:a16="http://schemas.microsoft.com/office/drawing/2014/main" id="{C8C7DFB2-67DF-4067-8027-2640AC26E1C7}"/>
              </a:ext>
            </a:extLst>
          </p:cNvPr>
          <p:cNvSpPr>
            <a:spLocks noGrp="1"/>
          </p:cNvSpPr>
          <p:nvPr/>
        </p:nvSpPr>
        <p:spPr>
          <a:xfrm>
            <a:off x="2847975" y="4663440"/>
            <a:ext cx="2333625" cy="670560"/>
          </a:xfrm>
          <a:prstGeom prst="rect">
            <a:avLst/>
          </a:prstGeom>
          <a:solidFill>
            <a:srgbClr val="F8FAFC"/>
          </a:solidFill>
          <a:ln w="9525">
            <a:solidFill>
              <a:srgbClr val="CBD5E1"/>
            </a:solidFill>
            <a:prstDash val="solid"/>
          </a:ln>
        </p:spPr>
      </p:sp>
      <p:sp>
        <p:nvSpPr>
          <p:cNvPr id="39" name="Rectangle 38">
            <a:extLst>
              <a:ext uri="{FF2B5EF4-FFF2-40B4-BE49-F238E27FC236}">
                <a16:creationId xmlns:a16="http://schemas.microsoft.com/office/drawing/2014/main" id="{E598069D-0E65-4B99-88B4-A891163908BF}"/>
              </a:ext>
            </a:extLst>
          </p:cNvPr>
          <p:cNvSpPr>
            <a:spLocks noGrp="1"/>
          </p:cNvSpPr>
          <p:nvPr/>
        </p:nvSpPr>
        <p:spPr>
          <a:xfrm>
            <a:off x="2924175" y="4739640"/>
            <a:ext cx="2181225"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Biên sắc, zero-shot</a:t>
            </a:r>
          </a:p>
        </p:txBody>
      </p:sp>
      <p:sp>
        <p:nvSpPr>
          <p:cNvPr id="40" name="Rectangle 39">
            <a:extLst>
              <a:ext uri="{FF2B5EF4-FFF2-40B4-BE49-F238E27FC236}">
                <a16:creationId xmlns:a16="http://schemas.microsoft.com/office/drawing/2014/main" id="{02B2F6FF-E1C4-492D-84B6-10E1254434F0}"/>
              </a:ext>
            </a:extLst>
          </p:cNvPr>
          <p:cNvSpPr>
            <a:spLocks noGrp="1"/>
          </p:cNvSpPr>
          <p:nvPr/>
        </p:nvSpPr>
        <p:spPr>
          <a:xfrm>
            <a:off x="5181600" y="4663440"/>
            <a:ext cx="2286000" cy="670560"/>
          </a:xfrm>
          <a:prstGeom prst="rect">
            <a:avLst/>
          </a:prstGeom>
          <a:solidFill>
            <a:srgbClr val="F8FAFC"/>
          </a:solidFill>
          <a:ln w="9525">
            <a:solidFill>
              <a:srgbClr val="CBD5E1"/>
            </a:solidFill>
            <a:prstDash val="solid"/>
          </a:ln>
        </p:spPr>
      </p:sp>
      <p:sp>
        <p:nvSpPr>
          <p:cNvPr id="41" name="Rectangle 40">
            <a:extLst>
              <a:ext uri="{FF2B5EF4-FFF2-40B4-BE49-F238E27FC236}">
                <a16:creationId xmlns:a16="http://schemas.microsoft.com/office/drawing/2014/main" id="{B17143AA-732D-4560-83CD-3D25D00F4B8C}"/>
              </a:ext>
            </a:extLst>
          </p:cNvPr>
          <p:cNvSpPr>
            <a:spLocks noGrp="1"/>
          </p:cNvSpPr>
          <p:nvPr/>
        </p:nvSpPr>
        <p:spPr>
          <a:xfrm>
            <a:off x="5257800" y="4739640"/>
            <a:ext cx="21336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Dễ over-segment</a:t>
            </a:r>
          </a:p>
        </p:txBody>
      </p:sp>
      <p:sp>
        <p:nvSpPr>
          <p:cNvPr id="42" name="Rectangle 41">
            <a:extLst>
              <a:ext uri="{FF2B5EF4-FFF2-40B4-BE49-F238E27FC236}">
                <a16:creationId xmlns:a16="http://schemas.microsoft.com/office/drawing/2014/main" id="{FF83D8A1-9864-4682-9A71-655827DF828E}"/>
              </a:ext>
            </a:extLst>
          </p:cNvPr>
          <p:cNvSpPr>
            <a:spLocks noGrp="1"/>
          </p:cNvSpPr>
          <p:nvPr/>
        </p:nvSpPr>
        <p:spPr>
          <a:xfrm>
            <a:off x="7467600" y="4663440"/>
            <a:ext cx="4114800" cy="670560"/>
          </a:xfrm>
          <a:prstGeom prst="rect">
            <a:avLst/>
          </a:prstGeom>
          <a:solidFill>
            <a:srgbClr val="F8FAFC"/>
          </a:solidFill>
          <a:ln w="9525">
            <a:solidFill>
              <a:srgbClr val="CBD5E1"/>
            </a:solidFill>
            <a:prstDash val="solid"/>
          </a:ln>
        </p:spPr>
      </p:sp>
      <p:sp>
        <p:nvSpPr>
          <p:cNvPr id="43" name="Rectangle 42">
            <a:extLst>
              <a:ext uri="{FF2B5EF4-FFF2-40B4-BE49-F238E27FC236}">
                <a16:creationId xmlns:a16="http://schemas.microsoft.com/office/drawing/2014/main" id="{5ADE5664-BA24-49C4-A857-A746A9EAC4A3}"/>
              </a:ext>
            </a:extLst>
          </p:cNvPr>
          <p:cNvSpPr>
            <a:spLocks noGrp="1"/>
          </p:cNvSpPr>
          <p:nvPr/>
        </p:nvSpPr>
        <p:spPr>
          <a:xfrm>
            <a:off x="7543800" y="4739640"/>
            <a:ext cx="3962400" cy="556260"/>
          </a:xfrm>
          <a:prstGeom prst="rect">
            <a:avLst/>
          </a:prstGeom>
          <a:noFill/>
          <a:ln w="0">
            <a:noFill/>
            <a:prstDash val="solid"/>
          </a:ln>
        </p:spPr>
        <p:txBody>
          <a:bodyPr/>
          <a:lstStyle/>
          <a:p>
            <a:pPr algn="l">
              <a:defRPr sz="1125" b="0">
                <a:solidFill>
                  <a:srgbClr val="111827"/>
                </a:solidFill>
              </a:defRPr>
            </a:pPr>
            <a:r>
              <a:rPr sz="1125" b="0">
                <a:solidFill>
                  <a:srgbClr val="111827"/>
                </a:solidFill>
              </a:rPr>
              <a:t>Thí nghiệm chẩn đoán/fusion</a:t>
            </a:r>
          </a:p>
        </p:txBody>
      </p:sp>
      <p:sp>
        <p:nvSpPr>
          <p:cNvPr id="44" name="Rectangle 43">
            <a:extLst>
              <a:ext uri="{FF2B5EF4-FFF2-40B4-BE49-F238E27FC236}">
                <a16:creationId xmlns:a16="http://schemas.microsoft.com/office/drawing/2014/main" id="{E84E75B8-DA02-4D90-BB67-FE89E19F26B4}"/>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5/21</a:t>
            </a:r>
          </a:p>
        </p:txBody>
      </p:sp>
    </p:spTree>
    <p:extLst>
      <p:ext uri="{BB962C8B-B14F-4D97-AF65-F5344CB8AC3E}">
        <p14:creationId xmlns:p14="http://schemas.microsoft.com/office/powerpoint/2010/main" val="1334336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9CF7B058-96F7-43BE-82B9-1BB95F436B0D}"/>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Pipeline tổng thể: từ ảnh đến mask</a:t>
            </a:r>
          </a:p>
        </p:txBody>
      </p:sp>
      <p:sp>
        <p:nvSpPr>
          <p:cNvPr id="2" name="Rectangle 1">
            <a:extLst>
              <a:ext uri="{FF2B5EF4-FFF2-40B4-BE49-F238E27FC236}">
                <a16:creationId xmlns:a16="http://schemas.microsoft.com/office/drawing/2014/main" id="{A1557165-62BC-477A-BA7E-54C279021935}"/>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Overall approach</a:t>
            </a:r>
          </a:p>
        </p:txBody>
      </p:sp>
      <p:sp>
        <p:nvSpPr>
          <p:cNvPr id="3" name="Rectangle 2">
            <a:extLst>
              <a:ext uri="{FF2B5EF4-FFF2-40B4-BE49-F238E27FC236}">
                <a16:creationId xmlns:a16="http://schemas.microsoft.com/office/drawing/2014/main" id="{213B71E8-FDA9-46FF-99A0-E3DD275B3F0C}"/>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8D334FD1-4905-416D-99FE-A6FD34E44BE5}"/>
              </a:ext>
            </a:extLst>
          </p:cNvPr>
          <p:cNvSpPr>
            <a:spLocks noGrp="1"/>
          </p:cNvSpPr>
          <p:nvPr/>
        </p:nvSpPr>
        <p:spPr>
          <a:xfrm>
            <a:off x="704850" y="2476500"/>
            <a:ext cx="1600200" cy="876300"/>
          </a:xfrm>
          <a:prstGeom prst="rect">
            <a:avLst/>
          </a:prstGeom>
          <a:solidFill>
            <a:srgbClr val="F3F4F6"/>
          </a:solidFill>
          <a:ln w="19050">
            <a:solidFill>
              <a:srgbClr val="CBD5E1"/>
            </a:solidFill>
            <a:prstDash val="solid"/>
          </a:ln>
        </p:spPr>
      </p:sp>
      <p:sp>
        <p:nvSpPr>
          <p:cNvPr id="5" name="Rectangle 4">
            <a:extLst>
              <a:ext uri="{FF2B5EF4-FFF2-40B4-BE49-F238E27FC236}">
                <a16:creationId xmlns:a16="http://schemas.microsoft.com/office/drawing/2014/main" id="{529EF208-7BDA-4952-B7AA-64367ADD80BC}"/>
              </a:ext>
            </a:extLst>
          </p:cNvPr>
          <p:cNvSpPr>
            <a:spLocks noGrp="1"/>
          </p:cNvSpPr>
          <p:nvPr/>
        </p:nvSpPr>
        <p:spPr>
          <a:xfrm>
            <a:off x="81915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Dataset</a:t>
            </a:r>
          </a:p>
          <a:p>
            <a:pPr algn="ctr">
              <a:defRPr sz="1350" b="1">
                <a:solidFill>
                  <a:srgbClr val="111827"/>
                </a:solidFill>
              </a:defRPr>
            </a:pPr>
            <a:r>
              <a:rPr sz="1350" b="1">
                <a:solidFill>
                  <a:srgbClr val="111827"/>
                </a:solidFill>
              </a:rPr>
              <a:t>Kaggle</a:t>
            </a:r>
          </a:p>
        </p:txBody>
      </p:sp>
      <p:sp>
        <p:nvSpPr>
          <p:cNvPr id="6" name="Rectangle 5">
            <a:extLst>
              <a:ext uri="{FF2B5EF4-FFF2-40B4-BE49-F238E27FC236}">
                <a16:creationId xmlns:a16="http://schemas.microsoft.com/office/drawing/2014/main" id="{4817BEB0-BAD2-4E80-ABDC-D9A7D96C2BDE}"/>
              </a:ext>
            </a:extLst>
          </p:cNvPr>
          <p:cNvSpPr>
            <a:spLocks noGrp="1"/>
          </p:cNvSpPr>
          <p:nvPr/>
        </p:nvSpPr>
        <p:spPr>
          <a:xfrm>
            <a:off x="2352675" y="272415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7" name="Rectangle 6">
            <a:extLst>
              <a:ext uri="{FF2B5EF4-FFF2-40B4-BE49-F238E27FC236}">
                <a16:creationId xmlns:a16="http://schemas.microsoft.com/office/drawing/2014/main" id="{24FE5E27-9946-41CD-A45D-0163C63F3B63}"/>
              </a:ext>
            </a:extLst>
          </p:cNvPr>
          <p:cNvSpPr>
            <a:spLocks noGrp="1"/>
          </p:cNvSpPr>
          <p:nvPr/>
        </p:nvSpPr>
        <p:spPr>
          <a:xfrm>
            <a:off x="2590800" y="2476500"/>
            <a:ext cx="1600200" cy="876300"/>
          </a:xfrm>
          <a:prstGeom prst="rect">
            <a:avLst/>
          </a:prstGeom>
          <a:solidFill>
            <a:srgbClr val="F3F4F6"/>
          </a:solidFill>
          <a:ln w="19050">
            <a:solidFill>
              <a:srgbClr val="CBD5E1"/>
            </a:solidFill>
            <a:prstDash val="solid"/>
          </a:ln>
        </p:spPr>
      </p:sp>
      <p:sp>
        <p:nvSpPr>
          <p:cNvPr id="8" name="Rectangle 7">
            <a:extLst>
              <a:ext uri="{FF2B5EF4-FFF2-40B4-BE49-F238E27FC236}">
                <a16:creationId xmlns:a16="http://schemas.microsoft.com/office/drawing/2014/main" id="{34F59BD0-C6CB-49BA-A63F-840FBBC197C0}"/>
              </a:ext>
            </a:extLst>
          </p:cNvPr>
          <p:cNvSpPr>
            <a:spLocks noGrp="1"/>
          </p:cNvSpPr>
          <p:nvPr/>
        </p:nvSpPr>
        <p:spPr>
          <a:xfrm>
            <a:off x="270510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EfficientNet</a:t>
            </a:r>
          </a:p>
          <a:p>
            <a:pPr algn="ctr">
              <a:defRPr sz="1350" b="1">
                <a:solidFill>
                  <a:srgbClr val="111827"/>
                </a:solidFill>
              </a:defRPr>
            </a:pPr>
            <a:r>
              <a:rPr sz="1350" b="1">
                <a:solidFill>
                  <a:srgbClr val="111827"/>
                </a:solidFill>
              </a:rPr>
              <a:t>classification</a:t>
            </a:r>
          </a:p>
        </p:txBody>
      </p:sp>
      <p:sp>
        <p:nvSpPr>
          <p:cNvPr id="9" name="Rectangle 8">
            <a:extLst>
              <a:ext uri="{FF2B5EF4-FFF2-40B4-BE49-F238E27FC236}">
                <a16:creationId xmlns:a16="http://schemas.microsoft.com/office/drawing/2014/main" id="{9B2365CF-89E2-46CC-BF9D-065BDBDD408E}"/>
              </a:ext>
            </a:extLst>
          </p:cNvPr>
          <p:cNvSpPr>
            <a:spLocks noGrp="1"/>
          </p:cNvSpPr>
          <p:nvPr/>
        </p:nvSpPr>
        <p:spPr>
          <a:xfrm>
            <a:off x="4238625" y="272415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0" name="Rectangle 9">
            <a:extLst>
              <a:ext uri="{FF2B5EF4-FFF2-40B4-BE49-F238E27FC236}">
                <a16:creationId xmlns:a16="http://schemas.microsoft.com/office/drawing/2014/main" id="{D21DA72C-AB48-488C-B88A-4739363A5A86}"/>
              </a:ext>
            </a:extLst>
          </p:cNvPr>
          <p:cNvSpPr>
            <a:spLocks noGrp="1"/>
          </p:cNvSpPr>
          <p:nvPr/>
        </p:nvSpPr>
        <p:spPr>
          <a:xfrm>
            <a:off x="4476750" y="2476500"/>
            <a:ext cx="1600200" cy="876300"/>
          </a:xfrm>
          <a:prstGeom prst="rect">
            <a:avLst/>
          </a:prstGeom>
          <a:solidFill>
            <a:srgbClr val="F3F4F6"/>
          </a:solidFill>
          <a:ln w="19050">
            <a:solidFill>
              <a:srgbClr val="CBD5E1"/>
            </a:solidFill>
            <a:prstDash val="solid"/>
          </a:ln>
        </p:spPr>
      </p:sp>
      <p:sp>
        <p:nvSpPr>
          <p:cNvPr id="11" name="Rectangle 10">
            <a:extLst>
              <a:ext uri="{FF2B5EF4-FFF2-40B4-BE49-F238E27FC236}">
                <a16:creationId xmlns:a16="http://schemas.microsoft.com/office/drawing/2014/main" id="{3B0984CC-3F14-49BA-BB06-FAE1A89C36B4}"/>
              </a:ext>
            </a:extLst>
          </p:cNvPr>
          <p:cNvSpPr>
            <a:spLocks noGrp="1"/>
          </p:cNvSpPr>
          <p:nvPr/>
        </p:nvSpPr>
        <p:spPr>
          <a:xfrm>
            <a:off x="459105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Grad-CAM++</a:t>
            </a:r>
          </a:p>
          <a:p>
            <a:pPr algn="ctr">
              <a:defRPr sz="1350" b="1">
                <a:solidFill>
                  <a:srgbClr val="111827"/>
                </a:solidFill>
              </a:defRPr>
            </a:pPr>
            <a:r>
              <a:rPr sz="1350" b="1">
                <a:solidFill>
                  <a:srgbClr val="111827"/>
                </a:solidFill>
              </a:rPr>
              <a:t>explainability</a:t>
            </a:r>
          </a:p>
        </p:txBody>
      </p:sp>
      <p:sp>
        <p:nvSpPr>
          <p:cNvPr id="12" name="Rectangle 11">
            <a:extLst>
              <a:ext uri="{FF2B5EF4-FFF2-40B4-BE49-F238E27FC236}">
                <a16:creationId xmlns:a16="http://schemas.microsoft.com/office/drawing/2014/main" id="{508513E3-1F2B-4E5E-A551-61C7C32D2E65}"/>
              </a:ext>
            </a:extLst>
          </p:cNvPr>
          <p:cNvSpPr>
            <a:spLocks noGrp="1"/>
          </p:cNvSpPr>
          <p:nvPr/>
        </p:nvSpPr>
        <p:spPr>
          <a:xfrm>
            <a:off x="6124575" y="272415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3" name="Rectangle 12">
            <a:extLst>
              <a:ext uri="{FF2B5EF4-FFF2-40B4-BE49-F238E27FC236}">
                <a16:creationId xmlns:a16="http://schemas.microsoft.com/office/drawing/2014/main" id="{A92B75C3-9BCD-4AD0-AFB0-ABE000D251F1}"/>
              </a:ext>
            </a:extLst>
          </p:cNvPr>
          <p:cNvSpPr>
            <a:spLocks noGrp="1"/>
          </p:cNvSpPr>
          <p:nvPr/>
        </p:nvSpPr>
        <p:spPr>
          <a:xfrm>
            <a:off x="6362700" y="2476500"/>
            <a:ext cx="1600200" cy="876300"/>
          </a:xfrm>
          <a:prstGeom prst="rect">
            <a:avLst/>
          </a:prstGeom>
          <a:solidFill>
            <a:srgbClr val="F3F4F6"/>
          </a:solidFill>
          <a:ln w="19050">
            <a:solidFill>
              <a:srgbClr val="CBD5E1"/>
            </a:solidFill>
            <a:prstDash val="solid"/>
          </a:ln>
        </p:spPr>
      </p:sp>
      <p:sp>
        <p:nvSpPr>
          <p:cNvPr id="14" name="Rectangle 13">
            <a:extLst>
              <a:ext uri="{FF2B5EF4-FFF2-40B4-BE49-F238E27FC236}">
                <a16:creationId xmlns:a16="http://schemas.microsoft.com/office/drawing/2014/main" id="{577F0795-52E5-4E6F-813C-3C5C9DCD5881}"/>
              </a:ext>
            </a:extLst>
          </p:cNvPr>
          <p:cNvSpPr>
            <a:spLocks noGrp="1"/>
          </p:cNvSpPr>
          <p:nvPr/>
        </p:nvSpPr>
        <p:spPr>
          <a:xfrm>
            <a:off x="647700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Pseudo-label</a:t>
            </a:r>
          </a:p>
          <a:p>
            <a:pPr algn="ctr">
              <a:defRPr sz="1350" b="1">
                <a:solidFill>
                  <a:srgbClr val="111827"/>
                </a:solidFill>
              </a:defRPr>
            </a:pPr>
            <a:r>
              <a:rPr sz="1350" b="1">
                <a:solidFill>
                  <a:srgbClr val="111827"/>
                </a:solidFill>
              </a:rPr>
              <a:t>E1-E4</a:t>
            </a:r>
          </a:p>
        </p:txBody>
      </p:sp>
      <p:sp>
        <p:nvSpPr>
          <p:cNvPr id="15" name="Rectangle 14">
            <a:extLst>
              <a:ext uri="{FF2B5EF4-FFF2-40B4-BE49-F238E27FC236}">
                <a16:creationId xmlns:a16="http://schemas.microsoft.com/office/drawing/2014/main" id="{7F130A0C-06D9-471C-9D05-CE6F4EFCD951}"/>
              </a:ext>
            </a:extLst>
          </p:cNvPr>
          <p:cNvSpPr>
            <a:spLocks noGrp="1"/>
          </p:cNvSpPr>
          <p:nvPr/>
        </p:nvSpPr>
        <p:spPr>
          <a:xfrm>
            <a:off x="8010525" y="272415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6" name="Rectangle 15">
            <a:extLst>
              <a:ext uri="{FF2B5EF4-FFF2-40B4-BE49-F238E27FC236}">
                <a16:creationId xmlns:a16="http://schemas.microsoft.com/office/drawing/2014/main" id="{67AC4816-1B02-4CA0-BE8C-4F9227FF6409}"/>
              </a:ext>
            </a:extLst>
          </p:cNvPr>
          <p:cNvSpPr>
            <a:spLocks noGrp="1"/>
          </p:cNvSpPr>
          <p:nvPr/>
        </p:nvSpPr>
        <p:spPr>
          <a:xfrm>
            <a:off x="8248650" y="2476500"/>
            <a:ext cx="1600200" cy="876300"/>
          </a:xfrm>
          <a:prstGeom prst="rect">
            <a:avLst/>
          </a:prstGeom>
          <a:solidFill>
            <a:srgbClr val="F3F4F6"/>
          </a:solidFill>
          <a:ln w="19050">
            <a:solidFill>
              <a:srgbClr val="CBD5E1"/>
            </a:solidFill>
            <a:prstDash val="solid"/>
          </a:ln>
        </p:spPr>
      </p:sp>
      <p:sp>
        <p:nvSpPr>
          <p:cNvPr id="17" name="Rectangle 16">
            <a:extLst>
              <a:ext uri="{FF2B5EF4-FFF2-40B4-BE49-F238E27FC236}">
                <a16:creationId xmlns:a16="http://schemas.microsoft.com/office/drawing/2014/main" id="{E494A1C7-F546-4821-96A3-BEA63EC50FEE}"/>
              </a:ext>
            </a:extLst>
          </p:cNvPr>
          <p:cNvSpPr>
            <a:spLocks noGrp="1"/>
          </p:cNvSpPr>
          <p:nvPr/>
        </p:nvSpPr>
        <p:spPr>
          <a:xfrm>
            <a:off x="836295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UNet++</a:t>
            </a:r>
          </a:p>
          <a:p>
            <a:pPr algn="ctr">
              <a:defRPr sz="1350" b="1">
                <a:solidFill>
                  <a:srgbClr val="111827"/>
                </a:solidFill>
              </a:defRPr>
            </a:pPr>
            <a:r>
              <a:rPr sz="1350" b="1">
                <a:solidFill>
                  <a:srgbClr val="111827"/>
                </a:solidFill>
              </a:rPr>
              <a:t>segmentation</a:t>
            </a:r>
          </a:p>
        </p:txBody>
      </p:sp>
      <p:sp>
        <p:nvSpPr>
          <p:cNvPr id="18" name="Rectangle 17">
            <a:extLst>
              <a:ext uri="{FF2B5EF4-FFF2-40B4-BE49-F238E27FC236}">
                <a16:creationId xmlns:a16="http://schemas.microsoft.com/office/drawing/2014/main" id="{52F15478-40BD-4703-AFCE-2EB88364972F}"/>
              </a:ext>
            </a:extLst>
          </p:cNvPr>
          <p:cNvSpPr>
            <a:spLocks noGrp="1"/>
          </p:cNvSpPr>
          <p:nvPr/>
        </p:nvSpPr>
        <p:spPr>
          <a:xfrm>
            <a:off x="9896475" y="272415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9" name="Rectangle 18">
            <a:extLst>
              <a:ext uri="{FF2B5EF4-FFF2-40B4-BE49-F238E27FC236}">
                <a16:creationId xmlns:a16="http://schemas.microsoft.com/office/drawing/2014/main" id="{C42ABF60-D6F2-449E-88F6-FA8440EF454E}"/>
              </a:ext>
            </a:extLst>
          </p:cNvPr>
          <p:cNvSpPr>
            <a:spLocks noGrp="1"/>
          </p:cNvSpPr>
          <p:nvPr/>
        </p:nvSpPr>
        <p:spPr>
          <a:xfrm>
            <a:off x="10134600" y="2476500"/>
            <a:ext cx="1600200" cy="876300"/>
          </a:xfrm>
          <a:prstGeom prst="rect">
            <a:avLst/>
          </a:prstGeom>
          <a:solidFill>
            <a:srgbClr val="DCFCE7"/>
          </a:solidFill>
          <a:ln w="19050">
            <a:solidFill>
              <a:srgbClr val="16A34A"/>
            </a:solidFill>
            <a:prstDash val="solid"/>
          </a:ln>
        </p:spPr>
      </p:sp>
      <p:sp>
        <p:nvSpPr>
          <p:cNvPr id="20" name="Rectangle 19">
            <a:extLst>
              <a:ext uri="{FF2B5EF4-FFF2-40B4-BE49-F238E27FC236}">
                <a16:creationId xmlns:a16="http://schemas.microsoft.com/office/drawing/2014/main" id="{23D65956-DFFC-489C-B1E0-07EBDF07077D}"/>
              </a:ext>
            </a:extLst>
          </p:cNvPr>
          <p:cNvSpPr>
            <a:spLocks noGrp="1"/>
          </p:cNvSpPr>
          <p:nvPr/>
        </p:nvSpPr>
        <p:spPr>
          <a:xfrm>
            <a:off x="10248900" y="268605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GT_OK + F1</a:t>
            </a:r>
          </a:p>
          <a:p>
            <a:pPr algn="ctr">
              <a:defRPr sz="1350" b="1">
                <a:solidFill>
                  <a:srgbClr val="111827"/>
                </a:solidFill>
              </a:defRPr>
            </a:pPr>
            <a:r>
              <a:rPr sz="1350" b="1">
                <a:solidFill>
                  <a:srgbClr val="111827"/>
                </a:solidFill>
              </a:rPr>
              <a:t>evaluation</a:t>
            </a:r>
          </a:p>
        </p:txBody>
      </p:sp>
      <p:sp>
        <p:nvSpPr>
          <p:cNvPr id="21" name="Rectangle 20">
            <a:extLst>
              <a:ext uri="{FF2B5EF4-FFF2-40B4-BE49-F238E27FC236}">
                <a16:creationId xmlns:a16="http://schemas.microsoft.com/office/drawing/2014/main" id="{132EBDF2-C922-44CB-87FC-4043767DBFD6}"/>
              </a:ext>
            </a:extLst>
          </p:cNvPr>
          <p:cNvSpPr>
            <a:spLocks noGrp="1"/>
          </p:cNvSpPr>
          <p:nvPr/>
        </p:nvSpPr>
        <p:spPr>
          <a:xfrm>
            <a:off x="1476375" y="4333875"/>
            <a:ext cx="9239250" cy="666750"/>
          </a:xfrm>
          <a:prstGeom prst="rect">
            <a:avLst/>
          </a:prstGeom>
          <a:noFill/>
          <a:ln w="0">
            <a:noFill/>
            <a:prstDash val="solid"/>
          </a:ln>
        </p:spPr>
        <p:txBody>
          <a:bodyPr/>
          <a:lstStyle/>
          <a:p>
            <a:pPr algn="l">
              <a:defRPr sz="1950" b="1">
                <a:solidFill>
                  <a:srgbClr val="16A34A"/>
                </a:solidFill>
              </a:defRPr>
            </a:pPr>
            <a:r>
              <a:rPr sz="1950" b="1">
                <a:solidFill>
                  <a:srgbClr val="16A34A"/>
                </a:solidFill>
              </a:rPr>
              <a:t>Luận văn không giả định pseudo-label là ground truth. Mọi kết luận phân đoạn chính được đọc lại qua GT_OK.</a:t>
            </a:r>
          </a:p>
        </p:txBody>
      </p:sp>
      <p:sp>
        <p:nvSpPr>
          <p:cNvPr id="22" name="Rectangle 21">
            <a:extLst>
              <a:ext uri="{FF2B5EF4-FFF2-40B4-BE49-F238E27FC236}">
                <a16:creationId xmlns:a16="http://schemas.microsoft.com/office/drawing/2014/main" id="{B8BBF1D6-3A76-4D4C-94B8-5355ECA8470B}"/>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6/21</a:t>
            </a:r>
          </a:p>
        </p:txBody>
      </p:sp>
    </p:spTree>
    <p:extLst>
      <p:ext uri="{BB962C8B-B14F-4D97-AF65-F5344CB8AC3E}">
        <p14:creationId xmlns:p14="http://schemas.microsoft.com/office/powerpoint/2010/main" val="2144227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D5365BB-56E3-4987-BF05-1A4C7AF28A3E}"/>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Dataset có 4.437 ảnh thuộc 5 lớp bệnh/lá khỏe</a:t>
            </a:r>
          </a:p>
        </p:txBody>
      </p:sp>
      <p:sp>
        <p:nvSpPr>
          <p:cNvPr id="2" name="Rectangle 1">
            <a:extLst>
              <a:ext uri="{FF2B5EF4-FFF2-40B4-BE49-F238E27FC236}">
                <a16:creationId xmlns:a16="http://schemas.microsoft.com/office/drawing/2014/main" id="{F9234496-332E-4EA7-BB50-BE31D3295253}"/>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Dataset</a:t>
            </a:r>
          </a:p>
        </p:txBody>
      </p:sp>
      <p:sp>
        <p:nvSpPr>
          <p:cNvPr id="3" name="Rectangle 2">
            <a:extLst>
              <a:ext uri="{FF2B5EF4-FFF2-40B4-BE49-F238E27FC236}">
                <a16:creationId xmlns:a16="http://schemas.microsoft.com/office/drawing/2014/main" id="{5CE90EBB-6934-4AD5-90C9-AF37669ADB95}"/>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2644C289-614F-43AA-912F-9A9552F4D930}"/>
              </a:ext>
            </a:extLst>
          </p:cNvPr>
          <p:cNvSpPr>
            <a:spLocks noGrp="1"/>
          </p:cNvSpPr>
          <p:nvPr/>
        </p:nvSpPr>
        <p:spPr>
          <a:xfrm>
            <a:off x="685800" y="2000250"/>
            <a:ext cx="1619250" cy="1238250"/>
          </a:xfrm>
          <a:prstGeom prst="rect">
            <a:avLst/>
          </a:prstGeom>
          <a:solidFill>
            <a:srgbClr val="F3F4F6"/>
          </a:solidFill>
          <a:ln w="9525">
            <a:solidFill>
              <a:srgbClr val="CBD5E1"/>
            </a:solidFill>
            <a:prstDash val="solid"/>
          </a:ln>
        </p:spPr>
      </p:sp>
      <p:sp>
        <p:nvSpPr>
          <p:cNvPr id="5" name="Rectangle 4">
            <a:extLst>
              <a:ext uri="{FF2B5EF4-FFF2-40B4-BE49-F238E27FC236}">
                <a16:creationId xmlns:a16="http://schemas.microsoft.com/office/drawing/2014/main" id="{344906E7-007F-4E0F-A510-27F74F700871}"/>
              </a:ext>
            </a:extLst>
          </p:cNvPr>
          <p:cNvSpPr>
            <a:spLocks noGrp="1"/>
          </p:cNvSpPr>
          <p:nvPr/>
        </p:nvSpPr>
        <p:spPr>
          <a:xfrm>
            <a:off x="857250" y="2171700"/>
            <a:ext cx="1276350" cy="495300"/>
          </a:xfrm>
          <a:prstGeom prst="rect">
            <a:avLst/>
          </a:prstGeom>
          <a:noFill/>
          <a:ln w="0">
            <a:noFill/>
            <a:prstDash val="solid"/>
          </a:ln>
        </p:spPr>
        <p:txBody>
          <a:bodyPr/>
          <a:lstStyle/>
          <a:p>
            <a:pPr algn="ctr">
              <a:defRPr sz="2550" b="1">
                <a:solidFill>
                  <a:srgbClr val="16A34A"/>
                </a:solidFill>
              </a:defRPr>
            </a:pPr>
            <a:r>
              <a:rPr sz="2550" b="1">
                <a:solidFill>
                  <a:srgbClr val="16A34A"/>
                </a:solidFill>
              </a:rPr>
              <a:t>4.437</a:t>
            </a:r>
          </a:p>
        </p:txBody>
      </p:sp>
      <p:sp>
        <p:nvSpPr>
          <p:cNvPr id="6" name="Rectangle 5">
            <a:extLst>
              <a:ext uri="{FF2B5EF4-FFF2-40B4-BE49-F238E27FC236}">
                <a16:creationId xmlns:a16="http://schemas.microsoft.com/office/drawing/2014/main" id="{1EA024E0-C056-4A12-8F67-1DF1F1C8ECB3}"/>
              </a:ext>
            </a:extLst>
          </p:cNvPr>
          <p:cNvSpPr>
            <a:spLocks noGrp="1"/>
          </p:cNvSpPr>
          <p:nvPr/>
        </p:nvSpPr>
        <p:spPr>
          <a:xfrm>
            <a:off x="857250" y="2743200"/>
            <a:ext cx="12763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Tổng ảnh</a:t>
            </a:r>
          </a:p>
        </p:txBody>
      </p:sp>
      <p:sp>
        <p:nvSpPr>
          <p:cNvPr id="7" name="Rectangle 6">
            <a:extLst>
              <a:ext uri="{FF2B5EF4-FFF2-40B4-BE49-F238E27FC236}">
                <a16:creationId xmlns:a16="http://schemas.microsoft.com/office/drawing/2014/main" id="{7346CAC0-B43A-482A-8DCD-E9C4883CBEEF}"/>
              </a:ext>
            </a:extLst>
          </p:cNvPr>
          <p:cNvSpPr>
            <a:spLocks noGrp="1"/>
          </p:cNvSpPr>
          <p:nvPr/>
        </p:nvSpPr>
        <p:spPr>
          <a:xfrm>
            <a:off x="2495550" y="2000250"/>
            <a:ext cx="1619250" cy="1238250"/>
          </a:xfrm>
          <a:prstGeom prst="rect">
            <a:avLst/>
          </a:prstGeom>
          <a:solidFill>
            <a:srgbClr val="F3F4F6"/>
          </a:solidFill>
          <a:ln w="9525">
            <a:solidFill>
              <a:srgbClr val="CBD5E1"/>
            </a:solidFill>
            <a:prstDash val="solid"/>
          </a:ln>
        </p:spPr>
      </p:sp>
      <p:sp>
        <p:nvSpPr>
          <p:cNvPr id="8" name="Rectangle 7">
            <a:extLst>
              <a:ext uri="{FF2B5EF4-FFF2-40B4-BE49-F238E27FC236}">
                <a16:creationId xmlns:a16="http://schemas.microsoft.com/office/drawing/2014/main" id="{AB78C47D-010E-450D-AACC-D934985566E1}"/>
              </a:ext>
            </a:extLst>
          </p:cNvPr>
          <p:cNvSpPr>
            <a:spLocks noGrp="1"/>
          </p:cNvSpPr>
          <p:nvPr/>
        </p:nvSpPr>
        <p:spPr>
          <a:xfrm>
            <a:off x="2667000" y="2171700"/>
            <a:ext cx="1276350" cy="495300"/>
          </a:xfrm>
          <a:prstGeom prst="rect">
            <a:avLst/>
          </a:prstGeom>
          <a:noFill/>
          <a:ln w="0">
            <a:noFill/>
            <a:prstDash val="solid"/>
          </a:ln>
        </p:spPr>
        <p:txBody>
          <a:bodyPr/>
          <a:lstStyle/>
          <a:p>
            <a:pPr algn="ctr">
              <a:defRPr sz="2550" b="1">
                <a:solidFill>
                  <a:srgbClr val="2563EB"/>
                </a:solidFill>
              </a:defRPr>
            </a:pPr>
            <a:r>
              <a:rPr sz="2550" b="1">
                <a:solidFill>
                  <a:srgbClr val="2563EB"/>
                </a:solidFill>
              </a:rPr>
              <a:t>3.104</a:t>
            </a:r>
          </a:p>
        </p:txBody>
      </p:sp>
      <p:sp>
        <p:nvSpPr>
          <p:cNvPr id="9" name="Rectangle 8">
            <a:extLst>
              <a:ext uri="{FF2B5EF4-FFF2-40B4-BE49-F238E27FC236}">
                <a16:creationId xmlns:a16="http://schemas.microsoft.com/office/drawing/2014/main" id="{6194C110-D9B6-4E77-A031-FD99E0339DED}"/>
              </a:ext>
            </a:extLst>
          </p:cNvPr>
          <p:cNvSpPr>
            <a:spLocks noGrp="1"/>
          </p:cNvSpPr>
          <p:nvPr/>
        </p:nvSpPr>
        <p:spPr>
          <a:xfrm>
            <a:off x="2667000" y="2743200"/>
            <a:ext cx="12763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Train</a:t>
            </a:r>
          </a:p>
        </p:txBody>
      </p:sp>
      <p:sp>
        <p:nvSpPr>
          <p:cNvPr id="10" name="Rectangle 9">
            <a:extLst>
              <a:ext uri="{FF2B5EF4-FFF2-40B4-BE49-F238E27FC236}">
                <a16:creationId xmlns:a16="http://schemas.microsoft.com/office/drawing/2014/main" id="{A1B83A05-CD2F-41E0-93EA-135168D3F4FB}"/>
              </a:ext>
            </a:extLst>
          </p:cNvPr>
          <p:cNvSpPr>
            <a:spLocks noGrp="1"/>
          </p:cNvSpPr>
          <p:nvPr/>
        </p:nvSpPr>
        <p:spPr>
          <a:xfrm>
            <a:off x="4305300" y="2000250"/>
            <a:ext cx="1619250" cy="1238250"/>
          </a:xfrm>
          <a:prstGeom prst="rect">
            <a:avLst/>
          </a:prstGeom>
          <a:solidFill>
            <a:srgbClr val="F3F4F6"/>
          </a:solidFill>
          <a:ln w="9525">
            <a:solidFill>
              <a:srgbClr val="CBD5E1"/>
            </a:solidFill>
            <a:prstDash val="solid"/>
          </a:ln>
        </p:spPr>
      </p:sp>
      <p:sp>
        <p:nvSpPr>
          <p:cNvPr id="11" name="Rectangle 10">
            <a:extLst>
              <a:ext uri="{FF2B5EF4-FFF2-40B4-BE49-F238E27FC236}">
                <a16:creationId xmlns:a16="http://schemas.microsoft.com/office/drawing/2014/main" id="{DDC48C13-A728-4F49-BF7F-A9A3CF4F800A}"/>
              </a:ext>
            </a:extLst>
          </p:cNvPr>
          <p:cNvSpPr>
            <a:spLocks noGrp="1"/>
          </p:cNvSpPr>
          <p:nvPr/>
        </p:nvSpPr>
        <p:spPr>
          <a:xfrm>
            <a:off x="4476750" y="2171700"/>
            <a:ext cx="1276350" cy="495300"/>
          </a:xfrm>
          <a:prstGeom prst="rect">
            <a:avLst/>
          </a:prstGeom>
          <a:noFill/>
          <a:ln w="0">
            <a:noFill/>
            <a:prstDash val="solid"/>
          </a:ln>
        </p:spPr>
        <p:txBody>
          <a:bodyPr/>
          <a:lstStyle/>
          <a:p>
            <a:pPr algn="ctr">
              <a:defRPr sz="2550" b="1">
                <a:solidFill>
                  <a:srgbClr val="D97706"/>
                </a:solidFill>
              </a:defRPr>
            </a:pPr>
            <a:r>
              <a:rPr sz="2550" b="1">
                <a:solidFill>
                  <a:srgbClr val="D97706"/>
                </a:solidFill>
              </a:rPr>
              <a:t>443</a:t>
            </a:r>
          </a:p>
        </p:txBody>
      </p:sp>
      <p:sp>
        <p:nvSpPr>
          <p:cNvPr id="12" name="Rectangle 11">
            <a:extLst>
              <a:ext uri="{FF2B5EF4-FFF2-40B4-BE49-F238E27FC236}">
                <a16:creationId xmlns:a16="http://schemas.microsoft.com/office/drawing/2014/main" id="{AE2DE5C0-3008-4105-A349-C79DFE0E24F6}"/>
              </a:ext>
            </a:extLst>
          </p:cNvPr>
          <p:cNvSpPr>
            <a:spLocks noGrp="1"/>
          </p:cNvSpPr>
          <p:nvPr/>
        </p:nvSpPr>
        <p:spPr>
          <a:xfrm>
            <a:off x="4476750" y="2743200"/>
            <a:ext cx="12763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Validation</a:t>
            </a:r>
          </a:p>
        </p:txBody>
      </p:sp>
      <p:sp>
        <p:nvSpPr>
          <p:cNvPr id="13" name="Rectangle 12">
            <a:extLst>
              <a:ext uri="{FF2B5EF4-FFF2-40B4-BE49-F238E27FC236}">
                <a16:creationId xmlns:a16="http://schemas.microsoft.com/office/drawing/2014/main" id="{B0544F6C-E36E-4D37-AB62-282D95713C7B}"/>
              </a:ext>
            </a:extLst>
          </p:cNvPr>
          <p:cNvSpPr>
            <a:spLocks noGrp="1"/>
          </p:cNvSpPr>
          <p:nvPr/>
        </p:nvSpPr>
        <p:spPr>
          <a:xfrm>
            <a:off x="6115050" y="2000250"/>
            <a:ext cx="1619250" cy="1238250"/>
          </a:xfrm>
          <a:prstGeom prst="rect">
            <a:avLst/>
          </a:prstGeom>
          <a:solidFill>
            <a:srgbClr val="F3F4F6"/>
          </a:solidFill>
          <a:ln w="9525">
            <a:solidFill>
              <a:srgbClr val="CBD5E1"/>
            </a:solidFill>
            <a:prstDash val="solid"/>
          </a:ln>
        </p:spPr>
      </p:sp>
      <p:sp>
        <p:nvSpPr>
          <p:cNvPr id="14" name="Rectangle 13">
            <a:extLst>
              <a:ext uri="{FF2B5EF4-FFF2-40B4-BE49-F238E27FC236}">
                <a16:creationId xmlns:a16="http://schemas.microsoft.com/office/drawing/2014/main" id="{C86CCEBF-2581-47CA-A1CA-05FE7D6EFDB2}"/>
              </a:ext>
            </a:extLst>
          </p:cNvPr>
          <p:cNvSpPr>
            <a:spLocks noGrp="1"/>
          </p:cNvSpPr>
          <p:nvPr/>
        </p:nvSpPr>
        <p:spPr>
          <a:xfrm>
            <a:off x="6286500" y="2171700"/>
            <a:ext cx="1276350" cy="495300"/>
          </a:xfrm>
          <a:prstGeom prst="rect">
            <a:avLst/>
          </a:prstGeom>
          <a:noFill/>
          <a:ln w="0">
            <a:noFill/>
            <a:prstDash val="solid"/>
          </a:ln>
        </p:spPr>
        <p:txBody>
          <a:bodyPr/>
          <a:lstStyle/>
          <a:p>
            <a:pPr algn="ctr">
              <a:defRPr sz="2550" b="1">
                <a:solidFill>
                  <a:srgbClr val="DC2626"/>
                </a:solidFill>
              </a:defRPr>
            </a:pPr>
            <a:r>
              <a:rPr sz="2550" b="1">
                <a:solidFill>
                  <a:srgbClr val="DC2626"/>
                </a:solidFill>
              </a:rPr>
              <a:t>890</a:t>
            </a:r>
          </a:p>
        </p:txBody>
      </p:sp>
      <p:sp>
        <p:nvSpPr>
          <p:cNvPr id="15" name="Rectangle 14">
            <a:extLst>
              <a:ext uri="{FF2B5EF4-FFF2-40B4-BE49-F238E27FC236}">
                <a16:creationId xmlns:a16="http://schemas.microsoft.com/office/drawing/2014/main" id="{6A85325B-903C-415E-BB14-86DD872DE641}"/>
              </a:ext>
            </a:extLst>
          </p:cNvPr>
          <p:cNvSpPr>
            <a:spLocks noGrp="1"/>
          </p:cNvSpPr>
          <p:nvPr/>
        </p:nvSpPr>
        <p:spPr>
          <a:xfrm>
            <a:off x="6286500" y="2743200"/>
            <a:ext cx="12763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Test</a:t>
            </a:r>
          </a:p>
        </p:txBody>
      </p:sp>
      <p:pic>
        <p:nvPicPr>
          <p:cNvPr id="35" name="Picture 34"/>
          <p:cNvPicPr>
            <a:picLocks noChangeAspect="1"/>
          </p:cNvPicPr>
          <p:nvPr/>
        </p:nvPicPr>
        <p:blipFill>
          <a:blip r:embed="rId3"/>
          <a:stretch/>
        </p:blipFill>
        <p:spPr>
          <a:xfrm>
            <a:off x="685800" y="3792057"/>
            <a:ext cx="4953000" cy="1893262"/>
          </a:xfrm>
          <a:prstGeom prst="rect">
            <a:avLst/>
          </a:prstGeom>
        </p:spPr>
      </p:pic>
      <p:pic>
        <p:nvPicPr>
          <p:cNvPr id="36" name="Picture 35"/>
          <p:cNvPicPr>
            <a:picLocks noChangeAspect="1"/>
          </p:cNvPicPr>
          <p:nvPr/>
        </p:nvPicPr>
        <p:blipFill>
          <a:blip r:embed="rId4"/>
          <a:stretch/>
        </p:blipFill>
        <p:spPr>
          <a:xfrm>
            <a:off x="6334125" y="3886855"/>
            <a:ext cx="4476750" cy="1703665"/>
          </a:xfrm>
          <a:prstGeom prst="rect">
            <a:avLst/>
          </a:prstGeom>
        </p:spPr>
      </p:pic>
      <p:sp>
        <p:nvSpPr>
          <p:cNvPr id="18" name="Rectangle 17">
            <a:extLst>
              <a:ext uri="{FF2B5EF4-FFF2-40B4-BE49-F238E27FC236}">
                <a16:creationId xmlns:a16="http://schemas.microsoft.com/office/drawing/2014/main" id="{B4A7220B-69D5-433F-983F-70B3F13BF4AD}"/>
              </a:ext>
            </a:extLst>
          </p:cNvPr>
          <p:cNvSpPr>
            <a:spLocks noGrp="1"/>
          </p:cNvSpPr>
          <p:nvPr/>
        </p:nvSpPr>
        <p:spPr>
          <a:xfrm>
            <a:off x="8001000" y="2038350"/>
            <a:ext cx="3143250" cy="1143000"/>
          </a:xfrm>
          <a:prstGeom prst="rect">
            <a:avLst/>
          </a:prstGeom>
          <a:noFill/>
          <a:ln w="0">
            <a:noFill/>
            <a:prstDash val="solid"/>
          </a:ln>
        </p:spPr>
        <p:txBody>
          <a:bodyPr/>
          <a:lstStyle/>
          <a:p>
            <a:pPr algn="l">
              <a:defRPr sz="1350" b="0">
                <a:solidFill>
                  <a:srgbClr val="111827"/>
                </a:solidFill>
              </a:defRPr>
            </a:pPr>
            <a:r>
              <a:rPr sz="1350" b="0">
                <a:solidFill>
                  <a:srgbClr val="111827"/>
                </a:solidFill>
              </a:rPr>
              <a:t>• 5 lớp: Algal, Allocaridara, Healthy, Leaf Blight, Phomopsis</a:t>
            </a:r>
          </a:p>
          <a:p>
            <a:pPr algn="l">
              <a:defRPr sz="1350" b="0">
                <a:solidFill>
                  <a:srgbClr val="111827"/>
                </a:solidFill>
              </a:defRPr>
            </a:pPr>
            <a:r>
              <a:rPr sz="1350" b="0">
                <a:solidFill>
                  <a:srgbClr val="111827"/>
                </a:solidFill>
              </a:rPr>
              <a:t>• Ảnh JPG 224x224; split 7:1:2; nguồn Kaggle</a:t>
            </a:r>
          </a:p>
        </p:txBody>
      </p:sp>
      <p:sp>
        <p:nvSpPr>
          <p:cNvPr id="19" name="Rectangle 18">
            <a:extLst>
              <a:ext uri="{FF2B5EF4-FFF2-40B4-BE49-F238E27FC236}">
                <a16:creationId xmlns:a16="http://schemas.microsoft.com/office/drawing/2014/main" id="{E91FFC3F-5B44-47C1-801B-A8A3082F6AC1}"/>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7/21</a:t>
            </a:r>
          </a:p>
        </p:txBody>
      </p:sp>
    </p:spTree>
    <p:extLst>
      <p:ext uri="{BB962C8B-B14F-4D97-AF65-F5344CB8AC3E}">
        <p14:creationId xmlns:p14="http://schemas.microsoft.com/office/powerpoint/2010/main" val="1233258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D55157B-1B80-4FC5-A3F8-B4EDDCF17FDA}"/>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Tiền xử lý giữ nhất quán giữa ảnh và mask</a:t>
            </a:r>
          </a:p>
        </p:txBody>
      </p:sp>
      <p:sp>
        <p:nvSpPr>
          <p:cNvPr id="2" name="Rectangle 1">
            <a:extLst>
              <a:ext uri="{FF2B5EF4-FFF2-40B4-BE49-F238E27FC236}">
                <a16:creationId xmlns:a16="http://schemas.microsoft.com/office/drawing/2014/main" id="{E1861CFF-726B-4CCE-90E2-FB3F20C0FE10}"/>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Preprocessing and augmentation</a:t>
            </a:r>
          </a:p>
        </p:txBody>
      </p:sp>
      <p:sp>
        <p:nvSpPr>
          <p:cNvPr id="3" name="Rectangle 2">
            <a:extLst>
              <a:ext uri="{FF2B5EF4-FFF2-40B4-BE49-F238E27FC236}">
                <a16:creationId xmlns:a16="http://schemas.microsoft.com/office/drawing/2014/main" id="{9DCE8C29-8A12-4FBE-8637-3B29C083BDF5}"/>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599B121B-7840-44B5-BC4E-10E2FEC8CCAF}"/>
              </a:ext>
            </a:extLst>
          </p:cNvPr>
          <p:cNvSpPr>
            <a:spLocks noGrp="1"/>
          </p:cNvSpPr>
          <p:nvPr/>
        </p:nvSpPr>
        <p:spPr>
          <a:xfrm>
            <a:off x="800100" y="2143125"/>
            <a:ext cx="5619750" cy="2571750"/>
          </a:xfrm>
          <a:prstGeom prst="rect">
            <a:avLst/>
          </a:prstGeom>
          <a:noFill/>
          <a:ln w="0">
            <a:noFill/>
            <a:prstDash val="solid"/>
          </a:ln>
        </p:spPr>
        <p:txBody>
          <a:bodyPr/>
          <a:lstStyle/>
          <a:p>
            <a:pPr algn="l">
              <a:defRPr sz="1800" b="0">
                <a:solidFill>
                  <a:srgbClr val="111827"/>
                </a:solidFill>
              </a:defRPr>
            </a:pPr>
            <a:r>
              <a:rPr sz="1800" b="0">
                <a:solidFill>
                  <a:srgbClr val="111827"/>
                </a:solidFill>
              </a:rPr>
              <a:t>• Ảnh được resize và chuẩn hóa theo pipeline huấn luyện.</a:t>
            </a:r>
          </a:p>
          <a:p>
            <a:pPr algn="l">
              <a:defRPr sz="1800" b="0">
                <a:solidFill>
                  <a:srgbClr val="111827"/>
                </a:solidFill>
              </a:defRPr>
            </a:pPr>
            <a:r>
              <a:rPr sz="1800" b="0">
                <a:solidFill>
                  <a:srgbClr val="111827"/>
                </a:solidFill>
              </a:rPr>
              <a:t>• Classification dùng augmentation để tăng độ bền với góc chụp/ánh sáng.</a:t>
            </a:r>
          </a:p>
          <a:p>
            <a:pPr algn="l">
              <a:defRPr sz="1800" b="0">
                <a:solidFill>
                  <a:srgbClr val="111827"/>
                </a:solidFill>
              </a:defRPr>
            </a:pPr>
            <a:r>
              <a:rPr sz="1800" b="0">
                <a:solidFill>
                  <a:srgbClr val="111827"/>
                </a:solidFill>
              </a:rPr>
              <a:t>• Segmentation biến đổi đồng bộ ảnh và mask.</a:t>
            </a:r>
          </a:p>
          <a:p>
            <a:pPr algn="l">
              <a:defRPr sz="1800" b="0">
                <a:solidFill>
                  <a:srgbClr val="111827"/>
                </a:solidFill>
              </a:defRPr>
            </a:pPr>
            <a:r>
              <a:rPr sz="1800" b="0">
                <a:solidFill>
                  <a:srgbClr val="111827"/>
                </a:solidFill>
              </a:rPr>
              <a:t>• E2/E3 dùng augmentation mạnh hơn, gồm biến dạng hình học qua Albumentations.</a:t>
            </a:r>
          </a:p>
        </p:txBody>
      </p:sp>
      <p:sp>
        <p:nvSpPr>
          <p:cNvPr id="5" name="Rectangle 4">
            <a:extLst>
              <a:ext uri="{FF2B5EF4-FFF2-40B4-BE49-F238E27FC236}">
                <a16:creationId xmlns:a16="http://schemas.microsoft.com/office/drawing/2014/main" id="{5F5DA2A6-8A7E-4BF3-93E7-402F9B8829AE}"/>
              </a:ext>
            </a:extLst>
          </p:cNvPr>
          <p:cNvSpPr>
            <a:spLocks noGrp="1"/>
          </p:cNvSpPr>
          <p:nvPr/>
        </p:nvSpPr>
        <p:spPr>
          <a:xfrm>
            <a:off x="704850" y="4333875"/>
            <a:ext cx="1600200" cy="876300"/>
          </a:xfrm>
          <a:prstGeom prst="rect">
            <a:avLst/>
          </a:prstGeom>
          <a:solidFill>
            <a:srgbClr val="F3F4F6"/>
          </a:solidFill>
          <a:ln w="19050">
            <a:solidFill>
              <a:srgbClr val="CBD5E1"/>
            </a:solidFill>
            <a:prstDash val="solid"/>
          </a:ln>
        </p:spPr>
      </p:sp>
      <p:sp>
        <p:nvSpPr>
          <p:cNvPr id="6" name="Rectangle 5">
            <a:extLst>
              <a:ext uri="{FF2B5EF4-FFF2-40B4-BE49-F238E27FC236}">
                <a16:creationId xmlns:a16="http://schemas.microsoft.com/office/drawing/2014/main" id="{08BC2FFE-8BD0-4985-B606-90BD38B04C35}"/>
              </a:ext>
            </a:extLst>
          </p:cNvPr>
          <p:cNvSpPr>
            <a:spLocks noGrp="1"/>
          </p:cNvSpPr>
          <p:nvPr/>
        </p:nvSpPr>
        <p:spPr>
          <a:xfrm>
            <a:off x="819150" y="4543425"/>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Image</a:t>
            </a:r>
          </a:p>
        </p:txBody>
      </p:sp>
      <p:sp>
        <p:nvSpPr>
          <p:cNvPr id="7" name="Rectangle 6">
            <a:extLst>
              <a:ext uri="{FF2B5EF4-FFF2-40B4-BE49-F238E27FC236}">
                <a16:creationId xmlns:a16="http://schemas.microsoft.com/office/drawing/2014/main" id="{58D6E09E-13E3-4B26-9A88-3DAAFFBB406E}"/>
              </a:ext>
            </a:extLst>
          </p:cNvPr>
          <p:cNvSpPr>
            <a:spLocks noGrp="1"/>
          </p:cNvSpPr>
          <p:nvPr/>
        </p:nvSpPr>
        <p:spPr>
          <a:xfrm>
            <a:off x="2352675" y="4581525"/>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8" name="Rectangle 7">
            <a:extLst>
              <a:ext uri="{FF2B5EF4-FFF2-40B4-BE49-F238E27FC236}">
                <a16:creationId xmlns:a16="http://schemas.microsoft.com/office/drawing/2014/main" id="{4861841E-0359-490F-AF99-A7A72EEB3950}"/>
              </a:ext>
            </a:extLst>
          </p:cNvPr>
          <p:cNvSpPr>
            <a:spLocks noGrp="1"/>
          </p:cNvSpPr>
          <p:nvPr/>
        </p:nvSpPr>
        <p:spPr>
          <a:xfrm>
            <a:off x="2590800" y="4333875"/>
            <a:ext cx="1600200" cy="876300"/>
          </a:xfrm>
          <a:prstGeom prst="rect">
            <a:avLst/>
          </a:prstGeom>
          <a:solidFill>
            <a:srgbClr val="F3F4F6"/>
          </a:solidFill>
          <a:ln w="19050">
            <a:solidFill>
              <a:srgbClr val="CBD5E1"/>
            </a:solidFill>
            <a:prstDash val="solid"/>
          </a:ln>
        </p:spPr>
      </p:sp>
      <p:sp>
        <p:nvSpPr>
          <p:cNvPr id="9" name="Rectangle 8">
            <a:extLst>
              <a:ext uri="{FF2B5EF4-FFF2-40B4-BE49-F238E27FC236}">
                <a16:creationId xmlns:a16="http://schemas.microsoft.com/office/drawing/2014/main" id="{C72B5D27-B2A0-4824-8EEB-4FABB3ABFA36}"/>
              </a:ext>
            </a:extLst>
          </p:cNvPr>
          <p:cNvSpPr>
            <a:spLocks noGrp="1"/>
          </p:cNvSpPr>
          <p:nvPr/>
        </p:nvSpPr>
        <p:spPr>
          <a:xfrm>
            <a:off x="2705100" y="4543425"/>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Transform</a:t>
            </a:r>
          </a:p>
        </p:txBody>
      </p:sp>
      <p:sp>
        <p:nvSpPr>
          <p:cNvPr id="10" name="Rectangle 9">
            <a:extLst>
              <a:ext uri="{FF2B5EF4-FFF2-40B4-BE49-F238E27FC236}">
                <a16:creationId xmlns:a16="http://schemas.microsoft.com/office/drawing/2014/main" id="{F0D2C3CD-28BA-4B33-83A1-ECBF911DCC04}"/>
              </a:ext>
            </a:extLst>
          </p:cNvPr>
          <p:cNvSpPr>
            <a:spLocks noGrp="1"/>
          </p:cNvSpPr>
          <p:nvPr/>
        </p:nvSpPr>
        <p:spPr>
          <a:xfrm>
            <a:off x="4238625" y="4581525"/>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1" name="Rectangle 10">
            <a:extLst>
              <a:ext uri="{FF2B5EF4-FFF2-40B4-BE49-F238E27FC236}">
                <a16:creationId xmlns:a16="http://schemas.microsoft.com/office/drawing/2014/main" id="{33EC740B-6491-4D94-841E-FA4386F2D253}"/>
              </a:ext>
            </a:extLst>
          </p:cNvPr>
          <p:cNvSpPr>
            <a:spLocks noGrp="1"/>
          </p:cNvSpPr>
          <p:nvPr/>
        </p:nvSpPr>
        <p:spPr>
          <a:xfrm>
            <a:off x="4476750" y="4333875"/>
            <a:ext cx="1600200" cy="876300"/>
          </a:xfrm>
          <a:prstGeom prst="rect">
            <a:avLst/>
          </a:prstGeom>
          <a:solidFill>
            <a:srgbClr val="F3F4F6"/>
          </a:solidFill>
          <a:ln w="19050">
            <a:solidFill>
              <a:srgbClr val="CBD5E1"/>
            </a:solidFill>
            <a:prstDash val="solid"/>
          </a:ln>
        </p:spPr>
      </p:sp>
      <p:sp>
        <p:nvSpPr>
          <p:cNvPr id="12" name="Rectangle 11">
            <a:extLst>
              <a:ext uri="{FF2B5EF4-FFF2-40B4-BE49-F238E27FC236}">
                <a16:creationId xmlns:a16="http://schemas.microsoft.com/office/drawing/2014/main" id="{AB06BF89-C4E9-43E7-9446-583187152FA7}"/>
              </a:ext>
            </a:extLst>
          </p:cNvPr>
          <p:cNvSpPr>
            <a:spLocks noGrp="1"/>
          </p:cNvSpPr>
          <p:nvPr/>
        </p:nvSpPr>
        <p:spPr>
          <a:xfrm>
            <a:off x="4591050" y="4543425"/>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Mask cùng</a:t>
            </a:r>
          </a:p>
          <a:p>
            <a:pPr algn="ctr">
              <a:defRPr sz="1350" b="1">
                <a:solidFill>
                  <a:srgbClr val="111827"/>
                </a:solidFill>
              </a:defRPr>
            </a:pPr>
            <a:r>
              <a:rPr sz="1350" b="1">
                <a:solidFill>
                  <a:srgbClr val="111827"/>
                </a:solidFill>
              </a:rPr>
              <a:t>biến đổi</a:t>
            </a:r>
          </a:p>
        </p:txBody>
      </p:sp>
      <p:sp>
        <p:nvSpPr>
          <p:cNvPr id="13" name="Rectangle 12">
            <a:extLst>
              <a:ext uri="{FF2B5EF4-FFF2-40B4-BE49-F238E27FC236}">
                <a16:creationId xmlns:a16="http://schemas.microsoft.com/office/drawing/2014/main" id="{9280EF8E-670E-4044-B57E-EA65EE5E1BC6}"/>
              </a:ext>
            </a:extLst>
          </p:cNvPr>
          <p:cNvSpPr>
            <a:spLocks noGrp="1"/>
          </p:cNvSpPr>
          <p:nvPr/>
        </p:nvSpPr>
        <p:spPr>
          <a:xfrm>
            <a:off x="6124575" y="4581525"/>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4" name="Rectangle 13">
            <a:extLst>
              <a:ext uri="{FF2B5EF4-FFF2-40B4-BE49-F238E27FC236}">
                <a16:creationId xmlns:a16="http://schemas.microsoft.com/office/drawing/2014/main" id="{99BA810D-B4A9-4D33-91CE-1D4AABB96D30}"/>
              </a:ext>
            </a:extLst>
          </p:cNvPr>
          <p:cNvSpPr>
            <a:spLocks noGrp="1"/>
          </p:cNvSpPr>
          <p:nvPr/>
        </p:nvSpPr>
        <p:spPr>
          <a:xfrm>
            <a:off x="6362700" y="4333875"/>
            <a:ext cx="1600200" cy="876300"/>
          </a:xfrm>
          <a:prstGeom prst="rect">
            <a:avLst/>
          </a:prstGeom>
          <a:solidFill>
            <a:srgbClr val="DCFCE7"/>
          </a:solidFill>
          <a:ln w="19050">
            <a:solidFill>
              <a:srgbClr val="16A34A"/>
            </a:solidFill>
            <a:prstDash val="solid"/>
          </a:ln>
        </p:spPr>
      </p:sp>
      <p:sp>
        <p:nvSpPr>
          <p:cNvPr id="15" name="Rectangle 14">
            <a:extLst>
              <a:ext uri="{FF2B5EF4-FFF2-40B4-BE49-F238E27FC236}">
                <a16:creationId xmlns:a16="http://schemas.microsoft.com/office/drawing/2014/main" id="{BB640DED-232D-4F3D-82A0-08F76D5824EB}"/>
              </a:ext>
            </a:extLst>
          </p:cNvPr>
          <p:cNvSpPr>
            <a:spLocks noGrp="1"/>
          </p:cNvSpPr>
          <p:nvPr/>
        </p:nvSpPr>
        <p:spPr>
          <a:xfrm>
            <a:off x="6477000" y="4543425"/>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Train batch</a:t>
            </a:r>
          </a:p>
        </p:txBody>
      </p:sp>
      <p:pic>
        <p:nvPicPr>
          <p:cNvPr id="33" name="Picture 32"/>
          <p:cNvPicPr>
            <a:picLocks noChangeAspect="1"/>
          </p:cNvPicPr>
          <p:nvPr/>
        </p:nvPicPr>
        <p:blipFill>
          <a:blip r:embed="rId3"/>
          <a:srcRect l="26353" r="26353"/>
          <a:stretch>
            <a:fillRect/>
          </a:stretch>
        </p:blipFill>
        <p:spPr>
          <a:xfrm>
            <a:off x="8096250" y="2095500"/>
            <a:ext cx="3143250" cy="2762250"/>
          </a:xfrm>
          <a:prstGeom prst="rect">
            <a:avLst/>
          </a:prstGeom>
        </p:spPr>
      </p:pic>
      <p:sp>
        <p:nvSpPr>
          <p:cNvPr id="17" name="Rectangle 16">
            <a:extLst>
              <a:ext uri="{FF2B5EF4-FFF2-40B4-BE49-F238E27FC236}">
                <a16:creationId xmlns:a16="http://schemas.microsoft.com/office/drawing/2014/main" id="{D29A0E67-7391-4FE7-9475-59BA6E037473}"/>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8/21</a:t>
            </a:r>
          </a:p>
        </p:txBody>
      </p:sp>
    </p:spTree>
    <p:extLst>
      <p:ext uri="{BB962C8B-B14F-4D97-AF65-F5344CB8AC3E}">
        <p14:creationId xmlns:p14="http://schemas.microsoft.com/office/powerpoint/2010/main" val="599698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F418C74-4871-40B9-A84B-7C40025C2401}"/>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EfficientNet-B0 tạo nền phân loại đủ tin cậy</a:t>
            </a:r>
          </a:p>
        </p:txBody>
      </p:sp>
      <p:sp>
        <p:nvSpPr>
          <p:cNvPr id="2" name="Rectangle 1">
            <a:extLst>
              <a:ext uri="{FF2B5EF4-FFF2-40B4-BE49-F238E27FC236}">
                <a16:creationId xmlns:a16="http://schemas.microsoft.com/office/drawing/2014/main" id="{8D488314-9DBA-4F12-8F58-607EF6FD9291}"/>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Classification model</a:t>
            </a:r>
          </a:p>
        </p:txBody>
      </p:sp>
      <p:sp>
        <p:nvSpPr>
          <p:cNvPr id="3" name="Rectangle 2">
            <a:extLst>
              <a:ext uri="{FF2B5EF4-FFF2-40B4-BE49-F238E27FC236}">
                <a16:creationId xmlns:a16="http://schemas.microsoft.com/office/drawing/2014/main" id="{55E21804-97FB-4F4B-8AD0-8FAE1CFFA5AA}"/>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8CFDBE96-F6A6-4E56-975A-CF3E496B99ED}"/>
              </a:ext>
            </a:extLst>
          </p:cNvPr>
          <p:cNvSpPr>
            <a:spLocks noGrp="1"/>
          </p:cNvSpPr>
          <p:nvPr/>
        </p:nvSpPr>
        <p:spPr>
          <a:xfrm>
            <a:off x="704850" y="2571750"/>
            <a:ext cx="1600200" cy="876300"/>
          </a:xfrm>
          <a:prstGeom prst="rect">
            <a:avLst/>
          </a:prstGeom>
          <a:solidFill>
            <a:srgbClr val="F3F4F6"/>
          </a:solidFill>
          <a:ln w="19050">
            <a:solidFill>
              <a:srgbClr val="CBD5E1"/>
            </a:solidFill>
            <a:prstDash val="solid"/>
          </a:ln>
        </p:spPr>
      </p:sp>
      <p:sp>
        <p:nvSpPr>
          <p:cNvPr id="5" name="Rectangle 4">
            <a:extLst>
              <a:ext uri="{FF2B5EF4-FFF2-40B4-BE49-F238E27FC236}">
                <a16:creationId xmlns:a16="http://schemas.microsoft.com/office/drawing/2014/main" id="{A032A089-BA9B-4C5A-B9F7-92D8717B0AA9}"/>
              </a:ext>
            </a:extLst>
          </p:cNvPr>
          <p:cNvSpPr>
            <a:spLocks noGrp="1"/>
          </p:cNvSpPr>
          <p:nvPr/>
        </p:nvSpPr>
        <p:spPr>
          <a:xfrm>
            <a:off x="819150" y="27813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Ảnh 224x224</a:t>
            </a:r>
          </a:p>
        </p:txBody>
      </p:sp>
      <p:sp>
        <p:nvSpPr>
          <p:cNvPr id="6" name="Rectangle 5">
            <a:extLst>
              <a:ext uri="{FF2B5EF4-FFF2-40B4-BE49-F238E27FC236}">
                <a16:creationId xmlns:a16="http://schemas.microsoft.com/office/drawing/2014/main" id="{69444868-2895-48FD-BD40-5F455D086395}"/>
              </a:ext>
            </a:extLst>
          </p:cNvPr>
          <p:cNvSpPr>
            <a:spLocks noGrp="1"/>
          </p:cNvSpPr>
          <p:nvPr/>
        </p:nvSpPr>
        <p:spPr>
          <a:xfrm>
            <a:off x="2352675" y="28194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7" name="Rectangle 6">
            <a:extLst>
              <a:ext uri="{FF2B5EF4-FFF2-40B4-BE49-F238E27FC236}">
                <a16:creationId xmlns:a16="http://schemas.microsoft.com/office/drawing/2014/main" id="{B2B4630D-6144-4422-82B5-7AD1B41E9ED6}"/>
              </a:ext>
            </a:extLst>
          </p:cNvPr>
          <p:cNvSpPr>
            <a:spLocks noGrp="1"/>
          </p:cNvSpPr>
          <p:nvPr/>
        </p:nvSpPr>
        <p:spPr>
          <a:xfrm>
            <a:off x="2590800" y="2571750"/>
            <a:ext cx="1600200" cy="876300"/>
          </a:xfrm>
          <a:prstGeom prst="rect">
            <a:avLst/>
          </a:prstGeom>
          <a:solidFill>
            <a:srgbClr val="F3F4F6"/>
          </a:solidFill>
          <a:ln w="19050">
            <a:solidFill>
              <a:srgbClr val="CBD5E1"/>
            </a:solidFill>
            <a:prstDash val="solid"/>
          </a:ln>
        </p:spPr>
      </p:sp>
      <p:sp>
        <p:nvSpPr>
          <p:cNvPr id="8" name="Rectangle 7">
            <a:extLst>
              <a:ext uri="{FF2B5EF4-FFF2-40B4-BE49-F238E27FC236}">
                <a16:creationId xmlns:a16="http://schemas.microsoft.com/office/drawing/2014/main" id="{8D081A88-6E80-46B1-AFEF-86A51982A1DA}"/>
              </a:ext>
            </a:extLst>
          </p:cNvPr>
          <p:cNvSpPr>
            <a:spLocks noGrp="1"/>
          </p:cNvSpPr>
          <p:nvPr/>
        </p:nvSpPr>
        <p:spPr>
          <a:xfrm>
            <a:off x="2705100" y="27813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EfficientNet-B0</a:t>
            </a:r>
          </a:p>
          <a:p>
            <a:pPr algn="ctr">
              <a:defRPr sz="1350" b="1">
                <a:solidFill>
                  <a:srgbClr val="111827"/>
                </a:solidFill>
              </a:defRPr>
            </a:pPr>
            <a:r>
              <a:rPr sz="1350" b="1">
                <a:solidFill>
                  <a:srgbClr val="111827"/>
                </a:solidFill>
              </a:rPr>
              <a:t>backbone</a:t>
            </a:r>
          </a:p>
        </p:txBody>
      </p:sp>
      <p:sp>
        <p:nvSpPr>
          <p:cNvPr id="9" name="Rectangle 8">
            <a:extLst>
              <a:ext uri="{FF2B5EF4-FFF2-40B4-BE49-F238E27FC236}">
                <a16:creationId xmlns:a16="http://schemas.microsoft.com/office/drawing/2014/main" id="{2E44DFC7-6607-4CFC-8B8E-5F3751B0F2D1}"/>
              </a:ext>
            </a:extLst>
          </p:cNvPr>
          <p:cNvSpPr>
            <a:spLocks noGrp="1"/>
          </p:cNvSpPr>
          <p:nvPr/>
        </p:nvSpPr>
        <p:spPr>
          <a:xfrm>
            <a:off x="4238625" y="28194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0" name="Rectangle 9">
            <a:extLst>
              <a:ext uri="{FF2B5EF4-FFF2-40B4-BE49-F238E27FC236}">
                <a16:creationId xmlns:a16="http://schemas.microsoft.com/office/drawing/2014/main" id="{DDB7E2E3-1E77-4775-976E-843C1A0344D5}"/>
              </a:ext>
            </a:extLst>
          </p:cNvPr>
          <p:cNvSpPr>
            <a:spLocks noGrp="1"/>
          </p:cNvSpPr>
          <p:nvPr/>
        </p:nvSpPr>
        <p:spPr>
          <a:xfrm>
            <a:off x="4476750" y="2571750"/>
            <a:ext cx="1600200" cy="876300"/>
          </a:xfrm>
          <a:prstGeom prst="rect">
            <a:avLst/>
          </a:prstGeom>
          <a:solidFill>
            <a:srgbClr val="F3F4F6"/>
          </a:solidFill>
          <a:ln w="19050">
            <a:solidFill>
              <a:srgbClr val="CBD5E1"/>
            </a:solidFill>
            <a:prstDash val="solid"/>
          </a:ln>
        </p:spPr>
      </p:sp>
      <p:sp>
        <p:nvSpPr>
          <p:cNvPr id="11" name="Rectangle 10">
            <a:extLst>
              <a:ext uri="{FF2B5EF4-FFF2-40B4-BE49-F238E27FC236}">
                <a16:creationId xmlns:a16="http://schemas.microsoft.com/office/drawing/2014/main" id="{DF995303-A6A4-4D61-A738-D7F6837B72A7}"/>
              </a:ext>
            </a:extLst>
          </p:cNvPr>
          <p:cNvSpPr>
            <a:spLocks noGrp="1"/>
          </p:cNvSpPr>
          <p:nvPr/>
        </p:nvSpPr>
        <p:spPr>
          <a:xfrm>
            <a:off x="4591050" y="27813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Classifier</a:t>
            </a:r>
          </a:p>
          <a:p>
            <a:pPr algn="ctr">
              <a:defRPr sz="1350" b="1">
                <a:solidFill>
                  <a:srgbClr val="111827"/>
                </a:solidFill>
              </a:defRPr>
            </a:pPr>
            <a:r>
              <a:rPr sz="1350" b="1">
                <a:solidFill>
                  <a:srgbClr val="111827"/>
                </a:solidFill>
              </a:rPr>
              <a:t>head</a:t>
            </a:r>
          </a:p>
        </p:txBody>
      </p:sp>
      <p:sp>
        <p:nvSpPr>
          <p:cNvPr id="12" name="Rectangle 11">
            <a:extLst>
              <a:ext uri="{FF2B5EF4-FFF2-40B4-BE49-F238E27FC236}">
                <a16:creationId xmlns:a16="http://schemas.microsoft.com/office/drawing/2014/main" id="{ABAC69BD-B23A-48F7-A4D6-CA29AB0C5061}"/>
              </a:ext>
            </a:extLst>
          </p:cNvPr>
          <p:cNvSpPr>
            <a:spLocks noGrp="1"/>
          </p:cNvSpPr>
          <p:nvPr/>
        </p:nvSpPr>
        <p:spPr>
          <a:xfrm>
            <a:off x="6124575" y="2819400"/>
            <a:ext cx="228600" cy="381000"/>
          </a:xfrm>
          <a:prstGeom prst="rect">
            <a:avLst/>
          </a:prstGeom>
          <a:noFill/>
          <a:ln w="0">
            <a:noFill/>
            <a:prstDash val="solid"/>
          </a:ln>
        </p:spPr>
        <p:txBody>
          <a:bodyPr/>
          <a:lstStyle/>
          <a:p>
            <a:pPr algn="ctr">
              <a:defRPr sz="2100" b="1">
                <a:solidFill>
                  <a:srgbClr val="64748B"/>
                </a:solidFill>
              </a:defRPr>
            </a:pPr>
            <a:r>
              <a:rPr sz="2100" b="1">
                <a:solidFill>
                  <a:srgbClr val="64748B"/>
                </a:solidFill>
              </a:rPr>
              <a:t>→</a:t>
            </a:r>
          </a:p>
        </p:txBody>
      </p:sp>
      <p:sp>
        <p:nvSpPr>
          <p:cNvPr id="13" name="Rectangle 12">
            <a:extLst>
              <a:ext uri="{FF2B5EF4-FFF2-40B4-BE49-F238E27FC236}">
                <a16:creationId xmlns:a16="http://schemas.microsoft.com/office/drawing/2014/main" id="{0E0FDD4D-5D47-457D-829F-5B74441F5495}"/>
              </a:ext>
            </a:extLst>
          </p:cNvPr>
          <p:cNvSpPr>
            <a:spLocks noGrp="1"/>
          </p:cNvSpPr>
          <p:nvPr/>
        </p:nvSpPr>
        <p:spPr>
          <a:xfrm>
            <a:off x="6362700" y="2571750"/>
            <a:ext cx="1600200" cy="876300"/>
          </a:xfrm>
          <a:prstGeom prst="rect">
            <a:avLst/>
          </a:prstGeom>
          <a:solidFill>
            <a:srgbClr val="DCFCE7"/>
          </a:solidFill>
          <a:ln w="19050">
            <a:solidFill>
              <a:srgbClr val="16A34A"/>
            </a:solidFill>
            <a:prstDash val="solid"/>
          </a:ln>
        </p:spPr>
      </p:sp>
      <p:sp>
        <p:nvSpPr>
          <p:cNvPr id="14" name="Rectangle 13">
            <a:extLst>
              <a:ext uri="{FF2B5EF4-FFF2-40B4-BE49-F238E27FC236}">
                <a16:creationId xmlns:a16="http://schemas.microsoft.com/office/drawing/2014/main" id="{106D69AA-9D7A-4B11-ABD3-C492E45712CD}"/>
              </a:ext>
            </a:extLst>
          </p:cNvPr>
          <p:cNvSpPr>
            <a:spLocks noGrp="1"/>
          </p:cNvSpPr>
          <p:nvPr/>
        </p:nvSpPr>
        <p:spPr>
          <a:xfrm>
            <a:off x="6477000" y="2781300"/>
            <a:ext cx="1371600" cy="495300"/>
          </a:xfrm>
          <a:prstGeom prst="rect">
            <a:avLst/>
          </a:prstGeom>
          <a:noFill/>
          <a:ln w="0">
            <a:noFill/>
            <a:prstDash val="solid"/>
          </a:ln>
        </p:spPr>
        <p:txBody>
          <a:bodyPr/>
          <a:lstStyle/>
          <a:p>
            <a:pPr algn="ctr">
              <a:defRPr sz="1350" b="1">
                <a:solidFill>
                  <a:srgbClr val="111827"/>
                </a:solidFill>
              </a:defRPr>
            </a:pPr>
            <a:r>
              <a:rPr sz="1350" b="1">
                <a:solidFill>
                  <a:srgbClr val="111827"/>
                </a:solidFill>
              </a:rPr>
              <a:t>5 xác suất</a:t>
            </a:r>
          </a:p>
          <a:p>
            <a:pPr algn="ctr">
              <a:defRPr sz="1350" b="1">
                <a:solidFill>
                  <a:srgbClr val="111827"/>
                </a:solidFill>
              </a:defRPr>
            </a:pPr>
            <a:r>
              <a:rPr sz="1350" b="1">
                <a:solidFill>
                  <a:srgbClr val="111827"/>
                </a:solidFill>
              </a:rPr>
              <a:t>lớp</a:t>
            </a:r>
          </a:p>
        </p:txBody>
      </p:sp>
      <p:sp>
        <p:nvSpPr>
          <p:cNvPr id="15" name="Rectangle 14">
            <a:extLst>
              <a:ext uri="{FF2B5EF4-FFF2-40B4-BE49-F238E27FC236}">
                <a16:creationId xmlns:a16="http://schemas.microsoft.com/office/drawing/2014/main" id="{14941426-9521-4D5B-A2C0-56A6C6CEB6DD}"/>
              </a:ext>
            </a:extLst>
          </p:cNvPr>
          <p:cNvSpPr>
            <a:spLocks noGrp="1"/>
          </p:cNvSpPr>
          <p:nvPr/>
        </p:nvSpPr>
        <p:spPr>
          <a:xfrm>
            <a:off x="1619250" y="4095750"/>
            <a:ext cx="8858250" cy="1143000"/>
          </a:xfrm>
          <a:prstGeom prst="rect">
            <a:avLst/>
          </a:prstGeom>
          <a:noFill/>
          <a:ln w="0">
            <a:noFill/>
            <a:prstDash val="solid"/>
          </a:ln>
        </p:spPr>
        <p:txBody>
          <a:bodyPr/>
          <a:lstStyle/>
          <a:p>
            <a:pPr algn="l">
              <a:defRPr sz="1650" b="0">
                <a:solidFill>
                  <a:srgbClr val="111827"/>
                </a:solidFill>
              </a:defRPr>
            </a:pPr>
            <a:r>
              <a:rPr sz="1650" b="0">
                <a:solidFill>
                  <a:srgbClr val="111827"/>
                </a:solidFill>
              </a:rPr>
              <a:t>• Backbone nhỏ gọn, phù hợp tài nguyên huấn luyện.</a:t>
            </a:r>
          </a:p>
          <a:p>
            <a:pPr algn="l">
              <a:defRPr sz="1650" b="0">
                <a:solidFill>
                  <a:srgbClr val="111827"/>
                </a:solidFill>
              </a:defRPr>
            </a:pPr>
            <a:r>
              <a:rPr sz="1650" b="0">
                <a:solidFill>
                  <a:srgbClr val="111827"/>
                </a:solidFill>
              </a:rPr>
              <a:t>• Transfer learning giúp tận dụng đặc trưng ảnh đã học trước.</a:t>
            </a:r>
          </a:p>
          <a:p>
            <a:pPr algn="l">
              <a:defRPr sz="1650" b="0">
                <a:solidFill>
                  <a:srgbClr val="111827"/>
                </a:solidFill>
              </a:defRPr>
            </a:pPr>
            <a:r>
              <a:rPr sz="1650" b="0">
                <a:solidFill>
                  <a:srgbClr val="111827"/>
                </a:solidFill>
              </a:rPr>
              <a:t>• Output classification được dùng tiếp cho Grad-CAM/Grad-CAM++.</a:t>
            </a:r>
          </a:p>
        </p:txBody>
      </p:sp>
      <p:sp>
        <p:nvSpPr>
          <p:cNvPr id="16" name="Rectangle 15">
            <a:extLst>
              <a:ext uri="{FF2B5EF4-FFF2-40B4-BE49-F238E27FC236}">
                <a16:creationId xmlns:a16="http://schemas.microsoft.com/office/drawing/2014/main" id="{E08B4DDE-7E0A-460A-A4E5-4AB03EE0E1AC}"/>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9/21</a:t>
            </a:r>
          </a:p>
        </p:txBody>
      </p:sp>
    </p:spTree>
    <p:extLst>
      <p:ext uri="{BB962C8B-B14F-4D97-AF65-F5344CB8AC3E}">
        <p14:creationId xmlns:p14="http://schemas.microsoft.com/office/powerpoint/2010/main" val="67129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238ECF-F724-42CF-B296-7C85A4FA7E11}"/>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Grad-CAM++ tạo tín hiệu cho nhãn giả</a:t>
            </a:r>
          </a:p>
        </p:txBody>
      </p:sp>
      <p:sp>
        <p:nvSpPr>
          <p:cNvPr id="2" name="Rectangle 1">
            <a:extLst>
              <a:ext uri="{FF2B5EF4-FFF2-40B4-BE49-F238E27FC236}">
                <a16:creationId xmlns:a16="http://schemas.microsoft.com/office/drawing/2014/main" id="{01E59DD5-9680-4935-B114-84FC70AFA5F3}"/>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Explainability and pseudo-labels</a:t>
            </a:r>
          </a:p>
        </p:txBody>
      </p:sp>
      <p:sp>
        <p:nvSpPr>
          <p:cNvPr id="3" name="Rectangle 2">
            <a:extLst>
              <a:ext uri="{FF2B5EF4-FFF2-40B4-BE49-F238E27FC236}">
                <a16:creationId xmlns:a16="http://schemas.microsoft.com/office/drawing/2014/main" id="{2AD3192A-CEA5-4819-8741-F243C8AC20B9}"/>
              </a:ext>
            </a:extLst>
          </p:cNvPr>
          <p:cNvSpPr>
            <a:spLocks noGrp="1"/>
          </p:cNvSpPr>
          <p:nvPr/>
        </p:nvSpPr>
        <p:spPr>
          <a:xfrm>
            <a:off x="609600" y="1562100"/>
            <a:ext cx="1809750" cy="38100"/>
          </a:xfrm>
          <a:prstGeom prst="rect">
            <a:avLst/>
          </a:prstGeom>
          <a:solidFill>
            <a:srgbClr val="16A34A"/>
          </a:solidFill>
          <a:ln w="0">
            <a:noFill/>
            <a:prstDash val="solid"/>
          </a:ln>
        </p:spPr>
      </p:sp>
      <p:pic>
        <p:nvPicPr>
          <p:cNvPr id="10" name="Picture 9"/>
          <p:cNvPicPr>
            <a:picLocks noChangeAspect="1"/>
          </p:cNvPicPr>
          <p:nvPr/>
        </p:nvPicPr>
        <p:blipFill>
          <a:blip r:embed="rId3"/>
          <a:stretch/>
        </p:blipFill>
        <p:spPr>
          <a:xfrm>
            <a:off x="1829779" y="1739866"/>
            <a:ext cx="2548257" cy="4336983"/>
          </a:xfrm>
          <a:prstGeom prst="rect">
            <a:avLst/>
          </a:prstGeom>
        </p:spPr>
      </p:pic>
      <p:sp>
        <p:nvSpPr>
          <p:cNvPr id="5" name="Rectangle 4">
            <a:extLst>
              <a:ext uri="{FF2B5EF4-FFF2-40B4-BE49-F238E27FC236}">
                <a16:creationId xmlns:a16="http://schemas.microsoft.com/office/drawing/2014/main" id="{8D1F8BE0-83DC-4E40-B1CA-C21D85BA2301}"/>
              </a:ext>
            </a:extLst>
          </p:cNvPr>
          <p:cNvSpPr>
            <a:spLocks noGrp="1"/>
          </p:cNvSpPr>
          <p:nvPr/>
        </p:nvSpPr>
        <p:spPr>
          <a:xfrm>
            <a:off x="6572250" y="2190750"/>
            <a:ext cx="4476750" cy="2381250"/>
          </a:xfrm>
          <a:prstGeom prst="rect">
            <a:avLst/>
          </a:prstGeom>
          <a:noFill/>
          <a:ln w="0">
            <a:noFill/>
            <a:prstDash val="solid"/>
          </a:ln>
        </p:spPr>
        <p:txBody>
          <a:bodyPr/>
          <a:lstStyle/>
          <a:p>
            <a:pPr algn="l">
              <a:defRPr sz="1725" b="0">
                <a:solidFill>
                  <a:srgbClr val="111827"/>
                </a:solidFill>
              </a:defRPr>
            </a:pPr>
            <a:r>
              <a:rPr sz="1725" b="0">
                <a:solidFill>
                  <a:srgbClr val="111827"/>
                </a:solidFill>
              </a:rPr>
              <a:t>• Heatmap cho biết vùng đóng góp vào dự đoán lớp.</a:t>
            </a:r>
          </a:p>
          <a:p>
            <a:pPr algn="l">
              <a:defRPr sz="1725" b="0">
                <a:solidFill>
                  <a:srgbClr val="111827"/>
                </a:solidFill>
              </a:defRPr>
            </a:pPr>
            <a:r>
              <a:rPr sz="1725" b="0">
                <a:solidFill>
                  <a:srgbClr val="111827"/>
                </a:solidFill>
              </a:rPr>
              <a:t>• Threshold + hậu xử lý hình thái tạo mask giả.</a:t>
            </a:r>
          </a:p>
          <a:p>
            <a:pPr algn="l">
              <a:defRPr sz="1725" b="0">
                <a:solidFill>
                  <a:srgbClr val="111827"/>
                </a:solidFill>
              </a:defRPr>
            </a:pPr>
            <a:r>
              <a:rPr sz="1725" b="0">
                <a:solidFill>
                  <a:srgbClr val="111827"/>
                </a:solidFill>
              </a:rPr>
              <a:t>• Healthy Leaf được ép mask rỗng để tránh nhiễu.</a:t>
            </a:r>
          </a:p>
          <a:p>
            <a:pPr algn="l">
              <a:defRPr sz="1725" b="0">
                <a:solidFill>
                  <a:srgbClr val="111827"/>
                </a:solidFill>
              </a:defRPr>
            </a:pPr>
            <a:r>
              <a:rPr sz="1725" b="0">
                <a:solidFill>
                  <a:srgbClr val="111827"/>
                </a:solidFill>
              </a:rPr>
              <a:t>• Mask giả là dữ liệu huấn luyện cho segmentation.</a:t>
            </a:r>
          </a:p>
        </p:txBody>
      </p:sp>
      <p:sp>
        <p:nvSpPr>
          <p:cNvPr id="6" name="Rectangle 5">
            <a:extLst>
              <a:ext uri="{FF2B5EF4-FFF2-40B4-BE49-F238E27FC236}">
                <a16:creationId xmlns:a16="http://schemas.microsoft.com/office/drawing/2014/main" id="{C1C5DFDD-359C-4B14-86FC-F7344A02F6E8}"/>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10/21</a:t>
            </a:r>
          </a:p>
        </p:txBody>
      </p:sp>
    </p:spTree>
    <p:extLst>
      <p:ext uri="{BB962C8B-B14F-4D97-AF65-F5344CB8AC3E}">
        <p14:creationId xmlns:p14="http://schemas.microsoft.com/office/powerpoint/2010/main" val="23191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49674659-F229-4A3C-969B-C96950607B61}"/>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E1-E4 tách các giả thuyết về pseudo-label</a:t>
            </a:r>
          </a:p>
        </p:txBody>
      </p:sp>
      <p:sp>
        <p:nvSpPr>
          <p:cNvPr id="2" name="Rectangle 1">
            <a:extLst>
              <a:ext uri="{FF2B5EF4-FFF2-40B4-BE49-F238E27FC236}">
                <a16:creationId xmlns:a16="http://schemas.microsoft.com/office/drawing/2014/main" id="{F2DFAFAE-2D46-49CB-9210-E42E69300CA4}"/>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Segmentation experiments</a:t>
            </a:r>
          </a:p>
        </p:txBody>
      </p:sp>
      <p:sp>
        <p:nvSpPr>
          <p:cNvPr id="3" name="Rectangle 2">
            <a:extLst>
              <a:ext uri="{FF2B5EF4-FFF2-40B4-BE49-F238E27FC236}">
                <a16:creationId xmlns:a16="http://schemas.microsoft.com/office/drawing/2014/main" id="{22698CD6-EB62-4EA1-8F7E-0259F7ABAA6F}"/>
              </a:ext>
            </a:extLst>
          </p:cNvPr>
          <p:cNvSpPr>
            <a:spLocks noGrp="1"/>
          </p:cNvSpPr>
          <p:nvPr/>
        </p:nvSpPr>
        <p:spPr>
          <a:xfrm>
            <a:off x="609600" y="1562100"/>
            <a:ext cx="1809750" cy="38100"/>
          </a:xfrm>
          <a:prstGeom prst="rect">
            <a:avLst/>
          </a:prstGeom>
          <a:solidFill>
            <a:srgbClr val="16A34A"/>
          </a:solidFill>
          <a:ln w="0">
            <a:noFill/>
            <a:prstDash val="solid"/>
          </a:ln>
        </p:spPr>
        <p:txBody>
          <a:bodyPr/>
          <a:p/>
        </p:txBody>
      </p:sp>
      <p:sp>
        <p:nvSpPr>
          <p:cNvPr id="4" name="Rectangle 3">
            <a:extLst>
              <a:ext uri="{FF2B5EF4-FFF2-40B4-BE49-F238E27FC236}">
                <a16:creationId xmlns:a16="http://schemas.microsoft.com/office/drawing/2014/main" id="{516661A6-981C-4B7E-A4E2-1053E69E1E4A}"/>
              </a:ext>
            </a:extLst>
          </p:cNvPr>
          <p:cNvSpPr>
            <a:spLocks noGrp="1"/>
          </p:cNvSpPr>
          <p:nvPr/>
        </p:nvSpPr>
        <p:spPr>
          <a:xfrm>
            <a:off x="704850" y="1952625"/>
            <a:ext cx="1143000" cy="619125"/>
          </a:xfrm>
          <a:prstGeom prst="rect">
            <a:avLst/>
          </a:prstGeom>
          <a:solidFill>
            <a:srgbClr val="DCFCE7"/>
          </a:solidFill>
          <a:ln w="9525">
            <a:solidFill>
              <a:srgbClr val="CBD5E1"/>
            </a:solidFill>
            <a:prstDash val="solid"/>
          </a:ln>
        </p:spPr>
        <p:txBody>
          <a:bodyPr/>
          <a:p/>
        </p:txBody>
      </p:sp>
      <p:sp>
        <p:nvSpPr>
          <p:cNvPr id="5" name="Rectangle 4">
            <a:extLst>
              <a:ext uri="{FF2B5EF4-FFF2-40B4-BE49-F238E27FC236}">
                <a16:creationId xmlns:a16="http://schemas.microsoft.com/office/drawing/2014/main" id="{9CB6EE18-A526-4AB8-B2A2-ED210E4519C4}"/>
              </a:ext>
            </a:extLst>
          </p:cNvPr>
          <p:cNvSpPr>
            <a:spLocks noGrp="1"/>
          </p:cNvSpPr>
          <p:nvPr/>
        </p:nvSpPr>
        <p:spPr>
          <a:xfrm>
            <a:off x="781050" y="2028825"/>
            <a:ext cx="99060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Exp</a:t>
            </a:r>
          </a:p>
        </p:txBody>
      </p:sp>
      <p:sp>
        <p:nvSpPr>
          <p:cNvPr id="6" name="Rectangle 5">
            <a:extLst>
              <a:ext uri="{FF2B5EF4-FFF2-40B4-BE49-F238E27FC236}">
                <a16:creationId xmlns:a16="http://schemas.microsoft.com/office/drawing/2014/main" id="{53B09EC5-FAB7-410B-B106-5CC36A9487E5}"/>
              </a:ext>
            </a:extLst>
          </p:cNvPr>
          <p:cNvSpPr>
            <a:spLocks noGrp="1"/>
          </p:cNvSpPr>
          <p:nvPr/>
        </p:nvSpPr>
        <p:spPr>
          <a:xfrm>
            <a:off x="1847850" y="1952625"/>
            <a:ext cx="2762250" cy="619125"/>
          </a:xfrm>
          <a:prstGeom prst="rect">
            <a:avLst/>
          </a:prstGeom>
          <a:solidFill>
            <a:srgbClr val="DCFCE7"/>
          </a:solidFill>
          <a:ln w="9525">
            <a:solidFill>
              <a:srgbClr val="CBD5E1"/>
            </a:solidFill>
            <a:prstDash val="solid"/>
          </a:ln>
        </p:spPr>
        <p:txBody>
          <a:bodyPr/>
          <a:p/>
        </p:txBody>
      </p:sp>
      <p:sp>
        <p:nvSpPr>
          <p:cNvPr id="7" name="Rectangle 6">
            <a:extLst>
              <a:ext uri="{FF2B5EF4-FFF2-40B4-BE49-F238E27FC236}">
                <a16:creationId xmlns:a16="http://schemas.microsoft.com/office/drawing/2014/main" id="{1FD6FEF4-9150-4FB6-9D11-23EDC11C11BC}"/>
              </a:ext>
            </a:extLst>
          </p:cNvPr>
          <p:cNvSpPr>
            <a:spLocks noGrp="1"/>
          </p:cNvSpPr>
          <p:nvPr/>
        </p:nvSpPr>
        <p:spPr>
          <a:xfrm>
            <a:off x="1924050" y="2028825"/>
            <a:ext cx="260985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Pseudo-label</a:t>
            </a:r>
          </a:p>
        </p:txBody>
      </p:sp>
      <p:sp>
        <p:nvSpPr>
          <p:cNvPr id="8" name="Rectangle 7">
            <a:extLst>
              <a:ext uri="{FF2B5EF4-FFF2-40B4-BE49-F238E27FC236}">
                <a16:creationId xmlns:a16="http://schemas.microsoft.com/office/drawing/2014/main" id="{9506EA22-3B9E-4CA6-BF57-42EC354AA23C}"/>
              </a:ext>
            </a:extLst>
          </p:cNvPr>
          <p:cNvSpPr>
            <a:spLocks noGrp="1"/>
          </p:cNvSpPr>
          <p:nvPr/>
        </p:nvSpPr>
        <p:spPr>
          <a:xfrm>
            <a:off x="4610100" y="1952625"/>
            <a:ext cx="3048000" cy="619125"/>
          </a:xfrm>
          <a:prstGeom prst="rect">
            <a:avLst/>
          </a:prstGeom>
          <a:solidFill>
            <a:srgbClr val="DCFCE7"/>
          </a:solidFill>
          <a:ln w="9525">
            <a:solidFill>
              <a:srgbClr val="CBD5E1"/>
            </a:solidFill>
            <a:prstDash val="solid"/>
          </a:ln>
        </p:spPr>
        <p:txBody>
          <a:bodyPr/>
          <a:p/>
        </p:txBody>
      </p:sp>
      <p:sp>
        <p:nvSpPr>
          <p:cNvPr id="9" name="Rectangle 8">
            <a:extLst>
              <a:ext uri="{FF2B5EF4-FFF2-40B4-BE49-F238E27FC236}">
                <a16:creationId xmlns:a16="http://schemas.microsoft.com/office/drawing/2014/main" id="{9168CE03-63CC-45E8-AD68-207607A3CBB6}"/>
              </a:ext>
            </a:extLst>
          </p:cNvPr>
          <p:cNvSpPr>
            <a:spLocks noGrp="1"/>
          </p:cNvSpPr>
          <p:nvPr/>
        </p:nvSpPr>
        <p:spPr>
          <a:xfrm>
            <a:off x="4686300" y="2028825"/>
            <a:ext cx="289560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Model</a:t>
            </a:r>
          </a:p>
        </p:txBody>
      </p:sp>
      <p:sp>
        <p:nvSpPr>
          <p:cNvPr id="10" name="Rectangle 9">
            <a:extLst>
              <a:ext uri="{FF2B5EF4-FFF2-40B4-BE49-F238E27FC236}">
                <a16:creationId xmlns:a16="http://schemas.microsoft.com/office/drawing/2014/main" id="{D97D4178-0B76-4787-84AE-BA504FA62EB5}"/>
              </a:ext>
            </a:extLst>
          </p:cNvPr>
          <p:cNvSpPr>
            <a:spLocks noGrp="1"/>
          </p:cNvSpPr>
          <p:nvPr/>
        </p:nvSpPr>
        <p:spPr>
          <a:xfrm>
            <a:off x="7658100" y="1952625"/>
            <a:ext cx="3810000" cy="619125"/>
          </a:xfrm>
          <a:prstGeom prst="rect">
            <a:avLst/>
          </a:prstGeom>
          <a:solidFill>
            <a:srgbClr val="DCFCE7"/>
          </a:solidFill>
          <a:ln w="9525">
            <a:solidFill>
              <a:srgbClr val="CBD5E1"/>
            </a:solidFill>
            <a:prstDash val="solid"/>
          </a:ln>
        </p:spPr>
        <p:txBody>
          <a:bodyPr/>
          <a:p/>
        </p:txBody>
      </p:sp>
      <p:sp>
        <p:nvSpPr>
          <p:cNvPr id="11" name="Rectangle 10">
            <a:extLst>
              <a:ext uri="{FF2B5EF4-FFF2-40B4-BE49-F238E27FC236}">
                <a16:creationId xmlns:a16="http://schemas.microsoft.com/office/drawing/2014/main" id="{8001148D-4959-498B-B9EE-1FF869ACDAAD}"/>
              </a:ext>
            </a:extLst>
          </p:cNvPr>
          <p:cNvSpPr>
            <a:spLocks noGrp="1"/>
          </p:cNvSpPr>
          <p:nvPr/>
        </p:nvSpPr>
        <p:spPr>
          <a:xfrm>
            <a:off x="7734300" y="2028825"/>
            <a:ext cx="365760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Vai trò</a:t>
            </a:r>
          </a:p>
        </p:txBody>
      </p:sp>
      <p:sp>
        <p:nvSpPr>
          <p:cNvPr id="12" name="Rectangle 11">
            <a:extLst>
              <a:ext uri="{FF2B5EF4-FFF2-40B4-BE49-F238E27FC236}">
                <a16:creationId xmlns:a16="http://schemas.microsoft.com/office/drawing/2014/main" id="{DA397043-686F-457C-9741-FB6A6E4C163C}"/>
              </a:ext>
            </a:extLst>
          </p:cNvPr>
          <p:cNvSpPr>
            <a:spLocks noGrp="1"/>
          </p:cNvSpPr>
          <p:nvPr/>
        </p:nvSpPr>
        <p:spPr>
          <a:xfrm>
            <a:off x="704850" y="2571750"/>
            <a:ext cx="1143000" cy="619125"/>
          </a:xfrm>
          <a:prstGeom prst="rect">
            <a:avLst/>
          </a:prstGeom>
          <a:solidFill>
            <a:srgbClr val="FFFFFF"/>
          </a:solidFill>
          <a:ln w="9525">
            <a:solidFill>
              <a:srgbClr val="CBD5E1"/>
            </a:solidFill>
            <a:prstDash val="solid"/>
          </a:ln>
        </p:spPr>
        <p:txBody>
          <a:bodyPr/>
          <a:p/>
        </p:txBody>
      </p:sp>
      <p:sp>
        <p:nvSpPr>
          <p:cNvPr id="13" name="Rectangle 12">
            <a:extLst>
              <a:ext uri="{FF2B5EF4-FFF2-40B4-BE49-F238E27FC236}">
                <a16:creationId xmlns:a16="http://schemas.microsoft.com/office/drawing/2014/main" id="{AF87A90B-798A-4F06-A61F-B6BFEB04967E}"/>
              </a:ext>
            </a:extLst>
          </p:cNvPr>
          <p:cNvSpPr>
            <a:spLocks noGrp="1"/>
          </p:cNvSpPr>
          <p:nvPr/>
        </p:nvSpPr>
        <p:spPr>
          <a:xfrm>
            <a:off x="781050" y="2647950"/>
            <a:ext cx="990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E1</a:t>
            </a:r>
          </a:p>
        </p:txBody>
      </p:sp>
      <p:sp>
        <p:nvSpPr>
          <p:cNvPr id="14" name="Rectangle 13">
            <a:extLst>
              <a:ext uri="{FF2B5EF4-FFF2-40B4-BE49-F238E27FC236}">
                <a16:creationId xmlns:a16="http://schemas.microsoft.com/office/drawing/2014/main" id="{08D8146C-C8E9-4D6B-93B9-6EA846C2C665}"/>
              </a:ext>
            </a:extLst>
          </p:cNvPr>
          <p:cNvSpPr>
            <a:spLocks noGrp="1"/>
          </p:cNvSpPr>
          <p:nvPr/>
        </p:nvSpPr>
        <p:spPr>
          <a:xfrm>
            <a:off x="1847850" y="2571750"/>
            <a:ext cx="2762250" cy="619125"/>
          </a:xfrm>
          <a:prstGeom prst="rect">
            <a:avLst/>
          </a:prstGeom>
          <a:solidFill>
            <a:srgbClr val="FFFFFF"/>
          </a:solidFill>
          <a:ln w="9525">
            <a:solidFill>
              <a:srgbClr val="CBD5E1"/>
            </a:solidFill>
            <a:prstDash val="solid"/>
          </a:ln>
        </p:spPr>
        <p:txBody>
          <a:bodyPr/>
          <a:p/>
        </p:txBody>
      </p:sp>
      <p:sp>
        <p:nvSpPr>
          <p:cNvPr id="15" name="Rectangle 14">
            <a:extLst>
              <a:ext uri="{FF2B5EF4-FFF2-40B4-BE49-F238E27FC236}">
                <a16:creationId xmlns:a16="http://schemas.microsoft.com/office/drawing/2014/main" id="{F553D13E-9800-4713-8479-C503D4B4E858}"/>
              </a:ext>
            </a:extLst>
          </p:cNvPr>
          <p:cNvSpPr>
            <a:spLocks noGrp="1"/>
          </p:cNvSpPr>
          <p:nvPr/>
        </p:nvSpPr>
        <p:spPr>
          <a:xfrm>
            <a:off x="1924050" y="2647950"/>
            <a:ext cx="260985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Grad-CAM</a:t>
            </a:r>
          </a:p>
        </p:txBody>
      </p:sp>
      <p:sp>
        <p:nvSpPr>
          <p:cNvPr id="16" name="Rectangle 15">
            <a:extLst>
              <a:ext uri="{FF2B5EF4-FFF2-40B4-BE49-F238E27FC236}">
                <a16:creationId xmlns:a16="http://schemas.microsoft.com/office/drawing/2014/main" id="{8E07D7C6-186D-44BB-A766-9A52612204C1}"/>
              </a:ext>
            </a:extLst>
          </p:cNvPr>
          <p:cNvSpPr>
            <a:spLocks noGrp="1"/>
          </p:cNvSpPr>
          <p:nvPr/>
        </p:nvSpPr>
        <p:spPr>
          <a:xfrm>
            <a:off x="4610100" y="2571750"/>
            <a:ext cx="3048000" cy="619125"/>
          </a:xfrm>
          <a:prstGeom prst="rect">
            <a:avLst/>
          </a:prstGeom>
          <a:solidFill>
            <a:srgbClr val="FFFFFF"/>
          </a:solidFill>
          <a:ln w="9525">
            <a:solidFill>
              <a:srgbClr val="CBD5E1"/>
            </a:solidFill>
            <a:prstDash val="solid"/>
          </a:ln>
        </p:spPr>
        <p:txBody>
          <a:bodyPr/>
          <a:p/>
        </p:txBody>
      </p:sp>
      <p:sp>
        <p:nvSpPr>
          <p:cNvPr id="17" name="Rectangle 16">
            <a:extLst>
              <a:ext uri="{FF2B5EF4-FFF2-40B4-BE49-F238E27FC236}">
                <a16:creationId xmlns:a16="http://schemas.microsoft.com/office/drawing/2014/main" id="{7FD7622E-C7F6-4711-B075-E12FFC322B19}"/>
              </a:ext>
            </a:extLst>
          </p:cNvPr>
          <p:cNvSpPr>
            <a:spLocks noGrp="1"/>
          </p:cNvSpPr>
          <p:nvPr/>
        </p:nvSpPr>
        <p:spPr>
          <a:xfrm>
            <a:off x="4686300" y="2647950"/>
            <a:ext cx="2895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EfficientNet-U-Net</a:t>
            </a:r>
          </a:p>
        </p:txBody>
      </p:sp>
      <p:sp>
        <p:nvSpPr>
          <p:cNvPr id="18" name="Rectangle 17">
            <a:extLst>
              <a:ext uri="{FF2B5EF4-FFF2-40B4-BE49-F238E27FC236}">
                <a16:creationId xmlns:a16="http://schemas.microsoft.com/office/drawing/2014/main" id="{7884F981-05DA-4CE9-8369-76FD624C3994}"/>
              </a:ext>
            </a:extLst>
          </p:cNvPr>
          <p:cNvSpPr>
            <a:spLocks noGrp="1"/>
          </p:cNvSpPr>
          <p:nvPr/>
        </p:nvSpPr>
        <p:spPr>
          <a:xfrm>
            <a:off x="7658100" y="2571750"/>
            <a:ext cx="3810000" cy="619125"/>
          </a:xfrm>
          <a:prstGeom prst="rect">
            <a:avLst/>
          </a:prstGeom>
          <a:solidFill>
            <a:srgbClr val="FFFFFF"/>
          </a:solidFill>
          <a:ln w="9525">
            <a:solidFill>
              <a:srgbClr val="CBD5E1"/>
            </a:solidFill>
            <a:prstDash val="solid"/>
          </a:ln>
        </p:spPr>
        <p:txBody>
          <a:bodyPr/>
          <a:p/>
        </p:txBody>
      </p:sp>
      <p:sp>
        <p:nvSpPr>
          <p:cNvPr id="19" name="Rectangle 18">
            <a:extLst>
              <a:ext uri="{FF2B5EF4-FFF2-40B4-BE49-F238E27FC236}">
                <a16:creationId xmlns:a16="http://schemas.microsoft.com/office/drawing/2014/main" id="{59189829-D663-4878-B5E8-DAF0CFC04E01}"/>
              </a:ext>
            </a:extLst>
          </p:cNvPr>
          <p:cNvSpPr>
            <a:spLocks noGrp="1"/>
          </p:cNvSpPr>
          <p:nvPr/>
        </p:nvSpPr>
        <p:spPr>
          <a:xfrm>
            <a:off x="7734300" y="2647950"/>
            <a:ext cx="3657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Baseline</a:t>
            </a:r>
          </a:p>
        </p:txBody>
      </p:sp>
      <p:sp>
        <p:nvSpPr>
          <p:cNvPr id="20" name="Rectangle 19">
            <a:extLst>
              <a:ext uri="{FF2B5EF4-FFF2-40B4-BE49-F238E27FC236}">
                <a16:creationId xmlns:a16="http://schemas.microsoft.com/office/drawing/2014/main" id="{A8826392-7BA2-4726-BD9D-384399824C4A}"/>
              </a:ext>
            </a:extLst>
          </p:cNvPr>
          <p:cNvSpPr>
            <a:spLocks noGrp="1"/>
          </p:cNvSpPr>
          <p:nvPr/>
        </p:nvSpPr>
        <p:spPr>
          <a:xfrm>
            <a:off x="704850" y="3190875"/>
            <a:ext cx="1143000" cy="619125"/>
          </a:xfrm>
          <a:prstGeom prst="rect">
            <a:avLst/>
          </a:prstGeom>
          <a:solidFill>
            <a:srgbClr val="F8FAFC"/>
          </a:solidFill>
          <a:ln w="9525">
            <a:solidFill>
              <a:srgbClr val="CBD5E1"/>
            </a:solidFill>
            <a:prstDash val="solid"/>
          </a:ln>
        </p:spPr>
        <p:txBody>
          <a:bodyPr/>
          <a:p/>
        </p:txBody>
      </p:sp>
      <p:sp>
        <p:nvSpPr>
          <p:cNvPr id="21" name="Rectangle 20">
            <a:extLst>
              <a:ext uri="{FF2B5EF4-FFF2-40B4-BE49-F238E27FC236}">
                <a16:creationId xmlns:a16="http://schemas.microsoft.com/office/drawing/2014/main" id="{E29E64E5-77F3-48EC-91EB-80B34F3ED599}"/>
              </a:ext>
            </a:extLst>
          </p:cNvPr>
          <p:cNvSpPr>
            <a:spLocks noGrp="1"/>
          </p:cNvSpPr>
          <p:nvPr/>
        </p:nvSpPr>
        <p:spPr>
          <a:xfrm>
            <a:off x="781050" y="3267075"/>
            <a:ext cx="990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E2</a:t>
            </a:r>
          </a:p>
        </p:txBody>
      </p:sp>
      <p:sp>
        <p:nvSpPr>
          <p:cNvPr id="22" name="Rectangle 21">
            <a:extLst>
              <a:ext uri="{FF2B5EF4-FFF2-40B4-BE49-F238E27FC236}">
                <a16:creationId xmlns:a16="http://schemas.microsoft.com/office/drawing/2014/main" id="{E59B44C2-ECBF-4646-9069-945D6602930A}"/>
              </a:ext>
            </a:extLst>
          </p:cNvPr>
          <p:cNvSpPr>
            <a:spLocks noGrp="1"/>
          </p:cNvSpPr>
          <p:nvPr/>
        </p:nvSpPr>
        <p:spPr>
          <a:xfrm>
            <a:off x="1847850" y="3190875"/>
            <a:ext cx="2762250" cy="619125"/>
          </a:xfrm>
          <a:prstGeom prst="rect">
            <a:avLst/>
          </a:prstGeom>
          <a:solidFill>
            <a:srgbClr val="F8FAFC"/>
          </a:solidFill>
          <a:ln w="9525">
            <a:solidFill>
              <a:srgbClr val="CBD5E1"/>
            </a:solidFill>
            <a:prstDash val="solid"/>
          </a:ln>
        </p:spPr>
        <p:txBody>
          <a:bodyPr/>
          <a:p/>
        </p:txBody>
      </p:sp>
      <p:sp>
        <p:nvSpPr>
          <p:cNvPr id="23" name="Rectangle 22">
            <a:extLst>
              <a:ext uri="{FF2B5EF4-FFF2-40B4-BE49-F238E27FC236}">
                <a16:creationId xmlns:a16="http://schemas.microsoft.com/office/drawing/2014/main" id="{EEA3D296-6328-4CCA-832A-D8762CF51962}"/>
              </a:ext>
            </a:extLst>
          </p:cNvPr>
          <p:cNvSpPr>
            <a:spLocks noGrp="1"/>
          </p:cNvSpPr>
          <p:nvPr/>
        </p:nvSpPr>
        <p:spPr>
          <a:xfrm>
            <a:off x="1924050" y="3267075"/>
            <a:ext cx="260985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Grad-CAM++</a:t>
            </a:r>
          </a:p>
        </p:txBody>
      </p:sp>
      <p:sp>
        <p:nvSpPr>
          <p:cNvPr id="24" name="Rectangle 23">
            <a:extLst>
              <a:ext uri="{FF2B5EF4-FFF2-40B4-BE49-F238E27FC236}">
                <a16:creationId xmlns:a16="http://schemas.microsoft.com/office/drawing/2014/main" id="{2524A26B-C40A-4FF8-92FD-3259894BACF4}"/>
              </a:ext>
            </a:extLst>
          </p:cNvPr>
          <p:cNvSpPr>
            <a:spLocks noGrp="1"/>
          </p:cNvSpPr>
          <p:nvPr/>
        </p:nvSpPr>
        <p:spPr>
          <a:xfrm>
            <a:off x="4610100" y="3190875"/>
            <a:ext cx="3048000" cy="619125"/>
          </a:xfrm>
          <a:prstGeom prst="rect">
            <a:avLst/>
          </a:prstGeom>
          <a:solidFill>
            <a:srgbClr val="F8FAFC"/>
          </a:solidFill>
          <a:ln w="9525">
            <a:solidFill>
              <a:srgbClr val="CBD5E1"/>
            </a:solidFill>
            <a:prstDash val="solid"/>
          </a:ln>
        </p:spPr>
        <p:txBody>
          <a:bodyPr/>
          <a:p/>
        </p:txBody>
      </p:sp>
      <p:sp>
        <p:nvSpPr>
          <p:cNvPr id="25" name="Rectangle 24">
            <a:extLst>
              <a:ext uri="{FF2B5EF4-FFF2-40B4-BE49-F238E27FC236}">
                <a16:creationId xmlns:a16="http://schemas.microsoft.com/office/drawing/2014/main" id="{F200732F-CAA4-45EE-9746-2F09DD888A3F}"/>
              </a:ext>
            </a:extLst>
          </p:cNvPr>
          <p:cNvSpPr>
            <a:spLocks noGrp="1"/>
          </p:cNvSpPr>
          <p:nvPr/>
        </p:nvSpPr>
        <p:spPr>
          <a:xfrm>
            <a:off x="4686300" y="3267075"/>
            <a:ext cx="2895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UNet++</a:t>
            </a:r>
          </a:p>
        </p:txBody>
      </p:sp>
      <p:sp>
        <p:nvSpPr>
          <p:cNvPr id="26" name="Rectangle 25">
            <a:extLst>
              <a:ext uri="{FF2B5EF4-FFF2-40B4-BE49-F238E27FC236}">
                <a16:creationId xmlns:a16="http://schemas.microsoft.com/office/drawing/2014/main" id="{5605D1FE-3D4A-4FB1-9787-84EC51238E8D}"/>
              </a:ext>
            </a:extLst>
          </p:cNvPr>
          <p:cNvSpPr>
            <a:spLocks noGrp="1"/>
          </p:cNvSpPr>
          <p:nvPr/>
        </p:nvSpPr>
        <p:spPr>
          <a:xfrm>
            <a:off x="7658100" y="3190875"/>
            <a:ext cx="3810000" cy="619125"/>
          </a:xfrm>
          <a:prstGeom prst="rect">
            <a:avLst/>
          </a:prstGeom>
          <a:solidFill>
            <a:srgbClr val="F8FAFC"/>
          </a:solidFill>
          <a:ln w="9525">
            <a:solidFill>
              <a:srgbClr val="CBD5E1"/>
            </a:solidFill>
            <a:prstDash val="solid"/>
          </a:ln>
        </p:spPr>
        <p:txBody>
          <a:bodyPr/>
          <a:p/>
        </p:txBody>
      </p:sp>
      <p:sp>
        <p:nvSpPr>
          <p:cNvPr id="27" name="Rectangle 26">
            <a:extLst>
              <a:ext uri="{FF2B5EF4-FFF2-40B4-BE49-F238E27FC236}">
                <a16:creationId xmlns:a16="http://schemas.microsoft.com/office/drawing/2014/main" id="{46A9B09E-D63A-4897-9F6B-5D8CD3EF062B}"/>
              </a:ext>
            </a:extLst>
          </p:cNvPr>
          <p:cNvSpPr>
            <a:spLocks noGrp="1"/>
          </p:cNvSpPr>
          <p:nvPr/>
        </p:nvSpPr>
        <p:spPr>
          <a:xfrm>
            <a:off x="7734300" y="3267075"/>
            <a:ext cx="3657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Cải thiện heatmap</a:t>
            </a:r>
          </a:p>
        </p:txBody>
      </p:sp>
      <p:sp>
        <p:nvSpPr>
          <p:cNvPr id="28" name="Rectangle 27">
            <a:extLst>
              <a:ext uri="{FF2B5EF4-FFF2-40B4-BE49-F238E27FC236}">
                <a16:creationId xmlns:a16="http://schemas.microsoft.com/office/drawing/2014/main" id="{A24BCEB6-F09B-4A07-9F1D-DF537A6CDDB2}"/>
              </a:ext>
            </a:extLst>
          </p:cNvPr>
          <p:cNvSpPr>
            <a:spLocks noGrp="1"/>
          </p:cNvSpPr>
          <p:nvPr/>
        </p:nvSpPr>
        <p:spPr>
          <a:xfrm>
            <a:off x="704850" y="3810000"/>
            <a:ext cx="1143000" cy="619125"/>
          </a:xfrm>
          <a:prstGeom prst="rect">
            <a:avLst/>
          </a:prstGeom>
          <a:solidFill>
            <a:srgbClr val="FFFFFF"/>
          </a:solidFill>
          <a:ln w="9525">
            <a:solidFill>
              <a:srgbClr val="CBD5E1"/>
            </a:solidFill>
            <a:prstDash val="solid"/>
          </a:ln>
        </p:spPr>
        <p:txBody>
          <a:bodyPr/>
          <a:p/>
        </p:txBody>
      </p:sp>
      <p:sp>
        <p:nvSpPr>
          <p:cNvPr id="29" name="Rectangle 28">
            <a:extLst>
              <a:ext uri="{FF2B5EF4-FFF2-40B4-BE49-F238E27FC236}">
                <a16:creationId xmlns:a16="http://schemas.microsoft.com/office/drawing/2014/main" id="{8CF79805-E527-4B0D-B9E0-99B5A241325D}"/>
              </a:ext>
            </a:extLst>
          </p:cNvPr>
          <p:cNvSpPr>
            <a:spLocks noGrp="1"/>
          </p:cNvSpPr>
          <p:nvPr/>
        </p:nvSpPr>
        <p:spPr>
          <a:xfrm>
            <a:off x="781050" y="3886200"/>
            <a:ext cx="990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E3</a:t>
            </a:r>
          </a:p>
        </p:txBody>
      </p:sp>
      <p:sp>
        <p:nvSpPr>
          <p:cNvPr id="30" name="Rectangle 29">
            <a:extLst>
              <a:ext uri="{FF2B5EF4-FFF2-40B4-BE49-F238E27FC236}">
                <a16:creationId xmlns:a16="http://schemas.microsoft.com/office/drawing/2014/main" id="{20372119-1207-412C-A7FF-F4E4B813DCF2}"/>
              </a:ext>
            </a:extLst>
          </p:cNvPr>
          <p:cNvSpPr>
            <a:spLocks noGrp="1"/>
          </p:cNvSpPr>
          <p:nvPr/>
        </p:nvSpPr>
        <p:spPr>
          <a:xfrm>
            <a:off x="1847850" y="3810000"/>
            <a:ext cx="2762250" cy="619125"/>
          </a:xfrm>
          <a:prstGeom prst="rect">
            <a:avLst/>
          </a:prstGeom>
          <a:solidFill>
            <a:srgbClr val="FFFFFF"/>
          </a:solidFill>
          <a:ln w="9525">
            <a:solidFill>
              <a:srgbClr val="CBD5E1"/>
            </a:solidFill>
            <a:prstDash val="solid"/>
          </a:ln>
        </p:spPr>
        <p:txBody>
          <a:bodyPr/>
          <a:p/>
        </p:txBody>
      </p:sp>
      <p:sp>
        <p:nvSpPr>
          <p:cNvPr id="31" name="Rectangle 30">
            <a:extLst>
              <a:ext uri="{FF2B5EF4-FFF2-40B4-BE49-F238E27FC236}">
                <a16:creationId xmlns:a16="http://schemas.microsoft.com/office/drawing/2014/main" id="{5DFB56DC-FC71-43C4-9158-A416CEB0B2F0}"/>
              </a:ext>
            </a:extLst>
          </p:cNvPr>
          <p:cNvSpPr>
            <a:spLocks noGrp="1"/>
          </p:cNvSpPr>
          <p:nvPr/>
        </p:nvSpPr>
        <p:spPr>
          <a:xfrm>
            <a:off x="1924050" y="3886200"/>
            <a:ext cx="260985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SAM-refined</a:t>
            </a:r>
          </a:p>
        </p:txBody>
      </p:sp>
      <p:sp>
        <p:nvSpPr>
          <p:cNvPr id="32" name="Rectangle 31">
            <a:extLst>
              <a:ext uri="{FF2B5EF4-FFF2-40B4-BE49-F238E27FC236}">
                <a16:creationId xmlns:a16="http://schemas.microsoft.com/office/drawing/2014/main" id="{CBA0C7DB-7E75-443B-BEB2-800485780EBB}"/>
              </a:ext>
            </a:extLst>
          </p:cNvPr>
          <p:cNvSpPr>
            <a:spLocks noGrp="1"/>
          </p:cNvSpPr>
          <p:nvPr/>
        </p:nvSpPr>
        <p:spPr>
          <a:xfrm>
            <a:off x="4610100" y="3810000"/>
            <a:ext cx="3048000" cy="619125"/>
          </a:xfrm>
          <a:prstGeom prst="rect">
            <a:avLst/>
          </a:prstGeom>
          <a:solidFill>
            <a:srgbClr val="FFFFFF"/>
          </a:solidFill>
          <a:ln w="9525">
            <a:solidFill>
              <a:srgbClr val="CBD5E1"/>
            </a:solidFill>
            <a:prstDash val="solid"/>
          </a:ln>
        </p:spPr>
        <p:txBody>
          <a:bodyPr/>
          <a:p/>
        </p:txBody>
      </p:sp>
      <p:sp>
        <p:nvSpPr>
          <p:cNvPr id="33" name="Rectangle 32">
            <a:extLst>
              <a:ext uri="{FF2B5EF4-FFF2-40B4-BE49-F238E27FC236}">
                <a16:creationId xmlns:a16="http://schemas.microsoft.com/office/drawing/2014/main" id="{CC0338D5-1774-4AC6-BD04-31D974C6DBD3}"/>
              </a:ext>
            </a:extLst>
          </p:cNvPr>
          <p:cNvSpPr>
            <a:spLocks noGrp="1"/>
          </p:cNvSpPr>
          <p:nvPr/>
        </p:nvSpPr>
        <p:spPr>
          <a:xfrm>
            <a:off x="4686300" y="3886200"/>
            <a:ext cx="2895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UNet++</a:t>
            </a:r>
          </a:p>
        </p:txBody>
      </p:sp>
      <p:sp>
        <p:nvSpPr>
          <p:cNvPr id="34" name="Rectangle 33">
            <a:extLst>
              <a:ext uri="{FF2B5EF4-FFF2-40B4-BE49-F238E27FC236}">
                <a16:creationId xmlns:a16="http://schemas.microsoft.com/office/drawing/2014/main" id="{E42B9336-047E-47FF-A543-3A1B9C8FABB4}"/>
              </a:ext>
            </a:extLst>
          </p:cNvPr>
          <p:cNvSpPr>
            <a:spLocks noGrp="1"/>
          </p:cNvSpPr>
          <p:nvPr/>
        </p:nvSpPr>
        <p:spPr>
          <a:xfrm>
            <a:off x="7658100" y="3810000"/>
            <a:ext cx="3810000" cy="619125"/>
          </a:xfrm>
          <a:prstGeom prst="rect">
            <a:avLst/>
          </a:prstGeom>
          <a:solidFill>
            <a:srgbClr val="FFFFFF"/>
          </a:solidFill>
          <a:ln w="9525">
            <a:solidFill>
              <a:srgbClr val="CBD5E1"/>
            </a:solidFill>
            <a:prstDash val="solid"/>
          </a:ln>
        </p:spPr>
        <p:txBody>
          <a:bodyPr/>
          <a:p/>
        </p:txBody>
      </p:sp>
      <p:sp>
        <p:nvSpPr>
          <p:cNvPr id="35" name="Rectangle 34">
            <a:extLst>
              <a:ext uri="{FF2B5EF4-FFF2-40B4-BE49-F238E27FC236}">
                <a16:creationId xmlns:a16="http://schemas.microsoft.com/office/drawing/2014/main" id="{88FD5D5A-2EDE-4FC8-8E8C-EFD73EBCAB18}"/>
              </a:ext>
            </a:extLst>
          </p:cNvPr>
          <p:cNvSpPr>
            <a:spLocks noGrp="1"/>
          </p:cNvSpPr>
          <p:nvPr/>
        </p:nvSpPr>
        <p:spPr>
          <a:xfrm>
            <a:off x="7734300" y="3886200"/>
            <a:ext cx="3657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Kiểm tra SAM</a:t>
            </a:r>
          </a:p>
        </p:txBody>
      </p:sp>
      <p:sp>
        <p:nvSpPr>
          <p:cNvPr id="36" name="Rectangle 35">
            <a:extLst>
              <a:ext uri="{FF2B5EF4-FFF2-40B4-BE49-F238E27FC236}">
                <a16:creationId xmlns:a16="http://schemas.microsoft.com/office/drawing/2014/main" id="{C1A09725-0B97-4D0E-86A4-E91FB908FC3B}"/>
              </a:ext>
            </a:extLst>
          </p:cNvPr>
          <p:cNvSpPr>
            <a:spLocks noGrp="1"/>
          </p:cNvSpPr>
          <p:nvPr/>
        </p:nvSpPr>
        <p:spPr>
          <a:xfrm>
            <a:off x="704850" y="4429125"/>
            <a:ext cx="1143000" cy="619125"/>
          </a:xfrm>
          <a:prstGeom prst="rect">
            <a:avLst/>
          </a:prstGeom>
          <a:solidFill>
            <a:srgbClr val="F8FAFC"/>
          </a:solidFill>
          <a:ln w="9525">
            <a:solidFill>
              <a:srgbClr val="CBD5E1"/>
            </a:solidFill>
            <a:prstDash val="solid"/>
          </a:ln>
        </p:spPr>
        <p:txBody>
          <a:bodyPr/>
          <a:p/>
        </p:txBody>
      </p:sp>
      <p:sp>
        <p:nvSpPr>
          <p:cNvPr id="37" name="Rectangle 36">
            <a:extLst>
              <a:ext uri="{FF2B5EF4-FFF2-40B4-BE49-F238E27FC236}">
                <a16:creationId xmlns:a16="http://schemas.microsoft.com/office/drawing/2014/main" id="{24F43E6B-5714-4531-B588-BB5BDEB00FC6}"/>
              </a:ext>
            </a:extLst>
          </p:cNvPr>
          <p:cNvSpPr>
            <a:spLocks noGrp="1"/>
          </p:cNvSpPr>
          <p:nvPr/>
        </p:nvSpPr>
        <p:spPr>
          <a:xfrm>
            <a:off x="781050" y="4505325"/>
            <a:ext cx="990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E4</a:t>
            </a:r>
          </a:p>
        </p:txBody>
      </p:sp>
      <p:sp>
        <p:nvSpPr>
          <p:cNvPr id="38" name="Rectangle 37">
            <a:extLst>
              <a:ext uri="{FF2B5EF4-FFF2-40B4-BE49-F238E27FC236}">
                <a16:creationId xmlns:a16="http://schemas.microsoft.com/office/drawing/2014/main" id="{4C080AF8-53B2-4116-A312-83C1BE3FA6D5}"/>
              </a:ext>
            </a:extLst>
          </p:cNvPr>
          <p:cNvSpPr>
            <a:spLocks noGrp="1"/>
          </p:cNvSpPr>
          <p:nvPr/>
        </p:nvSpPr>
        <p:spPr>
          <a:xfrm>
            <a:off x="1847850" y="4429125"/>
            <a:ext cx="2762250" cy="619125"/>
          </a:xfrm>
          <a:prstGeom prst="rect">
            <a:avLst/>
          </a:prstGeom>
          <a:solidFill>
            <a:srgbClr val="F8FAFC"/>
          </a:solidFill>
          <a:ln w="9525">
            <a:solidFill>
              <a:srgbClr val="CBD5E1"/>
            </a:solidFill>
            <a:prstDash val="solid"/>
          </a:ln>
        </p:spPr>
        <p:txBody>
          <a:bodyPr/>
          <a:p/>
        </p:txBody>
      </p:sp>
      <p:sp>
        <p:nvSpPr>
          <p:cNvPr id="39" name="Rectangle 38">
            <a:extLst>
              <a:ext uri="{FF2B5EF4-FFF2-40B4-BE49-F238E27FC236}">
                <a16:creationId xmlns:a16="http://schemas.microsoft.com/office/drawing/2014/main" id="{650681B1-7F39-4E86-966B-A0373CDF9FC3}"/>
              </a:ext>
            </a:extLst>
          </p:cNvPr>
          <p:cNvSpPr>
            <a:spLocks noGrp="1"/>
          </p:cNvSpPr>
          <p:nvPr/>
        </p:nvSpPr>
        <p:spPr>
          <a:xfrm>
            <a:off x="1924050" y="4505325"/>
            <a:ext cx="260985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Color prior</a:t>
            </a:r>
          </a:p>
        </p:txBody>
      </p:sp>
      <p:sp>
        <p:nvSpPr>
          <p:cNvPr id="40" name="Rectangle 39">
            <a:extLst>
              <a:ext uri="{FF2B5EF4-FFF2-40B4-BE49-F238E27FC236}">
                <a16:creationId xmlns:a16="http://schemas.microsoft.com/office/drawing/2014/main" id="{10BE3EB9-D43E-4E40-BF89-A81010E1FD86}"/>
              </a:ext>
            </a:extLst>
          </p:cNvPr>
          <p:cNvSpPr>
            <a:spLocks noGrp="1"/>
          </p:cNvSpPr>
          <p:nvPr/>
        </p:nvSpPr>
        <p:spPr>
          <a:xfrm>
            <a:off x="4610100" y="4429125"/>
            <a:ext cx="3048000" cy="619125"/>
          </a:xfrm>
          <a:prstGeom prst="rect">
            <a:avLst/>
          </a:prstGeom>
          <a:solidFill>
            <a:srgbClr val="F8FAFC"/>
          </a:solidFill>
          <a:ln w="9525">
            <a:solidFill>
              <a:srgbClr val="CBD5E1"/>
            </a:solidFill>
            <a:prstDash val="solid"/>
          </a:ln>
        </p:spPr>
        <p:txBody>
          <a:bodyPr/>
          <a:p/>
        </p:txBody>
      </p:sp>
      <p:sp>
        <p:nvSpPr>
          <p:cNvPr id="41" name="Rectangle 40">
            <a:extLst>
              <a:ext uri="{FF2B5EF4-FFF2-40B4-BE49-F238E27FC236}">
                <a16:creationId xmlns:a16="http://schemas.microsoft.com/office/drawing/2014/main" id="{22FB76C1-ED80-4BE7-806D-D5B99869B10A}"/>
              </a:ext>
            </a:extLst>
          </p:cNvPr>
          <p:cNvSpPr>
            <a:spLocks noGrp="1"/>
          </p:cNvSpPr>
          <p:nvPr/>
        </p:nvSpPr>
        <p:spPr>
          <a:xfrm>
            <a:off x="4686300" y="4505325"/>
            <a:ext cx="2895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UNet++</a:t>
            </a:r>
          </a:p>
        </p:txBody>
      </p:sp>
      <p:sp>
        <p:nvSpPr>
          <p:cNvPr id="42" name="Rectangle 41">
            <a:extLst>
              <a:ext uri="{FF2B5EF4-FFF2-40B4-BE49-F238E27FC236}">
                <a16:creationId xmlns:a16="http://schemas.microsoft.com/office/drawing/2014/main" id="{93601BBC-143F-46E2-9266-7166FB26D6AA}"/>
              </a:ext>
            </a:extLst>
          </p:cNvPr>
          <p:cNvSpPr>
            <a:spLocks noGrp="1"/>
          </p:cNvSpPr>
          <p:nvPr/>
        </p:nvSpPr>
        <p:spPr>
          <a:xfrm>
            <a:off x="7658100" y="4429125"/>
            <a:ext cx="3810000" cy="619125"/>
          </a:xfrm>
          <a:prstGeom prst="rect">
            <a:avLst/>
          </a:prstGeom>
          <a:solidFill>
            <a:srgbClr val="F8FAFC"/>
          </a:solidFill>
          <a:ln w="9525">
            <a:solidFill>
              <a:srgbClr val="CBD5E1"/>
            </a:solidFill>
            <a:prstDash val="solid"/>
          </a:ln>
        </p:spPr>
        <p:txBody>
          <a:bodyPr/>
          <a:p/>
        </p:txBody>
      </p:sp>
      <p:sp>
        <p:nvSpPr>
          <p:cNvPr id="43" name="Rectangle 42">
            <a:extLst>
              <a:ext uri="{FF2B5EF4-FFF2-40B4-BE49-F238E27FC236}">
                <a16:creationId xmlns:a16="http://schemas.microsoft.com/office/drawing/2014/main" id="{0709FA80-E198-4C04-988D-37FBFB0B9D11}"/>
              </a:ext>
            </a:extLst>
          </p:cNvPr>
          <p:cNvSpPr>
            <a:spLocks noGrp="1"/>
          </p:cNvSpPr>
          <p:nvPr/>
        </p:nvSpPr>
        <p:spPr>
          <a:xfrm>
            <a:off x="7734300" y="4505325"/>
            <a:ext cx="3657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Checkpoint đơn lẻ tốt nhất</a:t>
            </a:r>
          </a:p>
        </p:txBody>
      </p:sp>
      <p:sp>
        <p:nvSpPr>
          <p:cNvPr id="44" name="Rectangle 43">
            <a:extLst>
              <a:ext uri="{FF2B5EF4-FFF2-40B4-BE49-F238E27FC236}">
                <a16:creationId xmlns:a16="http://schemas.microsoft.com/office/drawing/2014/main" id="{4EED1824-C9BD-4E99-AB16-38E015C0B45C}"/>
              </a:ext>
            </a:extLst>
          </p:cNvPr>
          <p:cNvSpPr>
            <a:spLocks noGrp="1"/>
          </p:cNvSpPr>
          <p:nvPr/>
        </p:nvSpPr>
        <p:spPr>
          <a:xfrm>
            <a:off x="704850" y="5048250"/>
            <a:ext cx="1143000" cy="619125"/>
          </a:xfrm>
          <a:prstGeom prst="rect">
            <a:avLst/>
          </a:prstGeom>
          <a:solidFill>
            <a:srgbClr val="FFFFFF"/>
          </a:solidFill>
          <a:ln w="9525">
            <a:solidFill>
              <a:srgbClr val="CBD5E1"/>
            </a:solidFill>
            <a:prstDash val="solid"/>
          </a:ln>
        </p:spPr>
        <p:txBody>
          <a:bodyPr/>
          <a:p/>
        </p:txBody>
      </p:sp>
      <p:sp>
        <p:nvSpPr>
          <p:cNvPr id="45" name="Rectangle 44">
            <a:extLst>
              <a:ext uri="{FF2B5EF4-FFF2-40B4-BE49-F238E27FC236}">
                <a16:creationId xmlns:a16="http://schemas.microsoft.com/office/drawing/2014/main" id="{37C89D6F-8222-4A62-808D-5505538A6E74}"/>
              </a:ext>
            </a:extLst>
          </p:cNvPr>
          <p:cNvSpPr>
            <a:spLocks noGrp="1"/>
          </p:cNvSpPr>
          <p:nvPr/>
        </p:nvSpPr>
        <p:spPr>
          <a:xfrm>
            <a:off x="781050" y="5124450"/>
            <a:ext cx="990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F1</a:t>
            </a:r>
          </a:p>
        </p:txBody>
      </p:sp>
      <p:sp>
        <p:nvSpPr>
          <p:cNvPr id="46" name="Rectangle 45">
            <a:extLst>
              <a:ext uri="{FF2B5EF4-FFF2-40B4-BE49-F238E27FC236}">
                <a16:creationId xmlns:a16="http://schemas.microsoft.com/office/drawing/2014/main" id="{22D2F884-97B0-4059-B345-84A6F11F7476}"/>
              </a:ext>
            </a:extLst>
          </p:cNvPr>
          <p:cNvSpPr>
            <a:spLocks noGrp="1"/>
          </p:cNvSpPr>
          <p:nvPr/>
        </p:nvSpPr>
        <p:spPr>
          <a:xfrm>
            <a:off x="1847850" y="5048250"/>
            <a:ext cx="2762250" cy="619125"/>
          </a:xfrm>
          <a:prstGeom prst="rect">
            <a:avLst/>
          </a:prstGeom>
          <a:solidFill>
            <a:srgbClr val="FFFFFF"/>
          </a:solidFill>
          <a:ln w="9525">
            <a:solidFill>
              <a:srgbClr val="CBD5E1"/>
            </a:solidFill>
            <a:prstDash val="solid"/>
          </a:ln>
        </p:spPr>
        <p:txBody>
          <a:bodyPr/>
          <a:p/>
        </p:txBody>
      </p:sp>
      <p:sp>
        <p:nvSpPr>
          <p:cNvPr id="47" name="Rectangle 46">
            <a:extLst>
              <a:ext uri="{FF2B5EF4-FFF2-40B4-BE49-F238E27FC236}">
                <a16:creationId xmlns:a16="http://schemas.microsoft.com/office/drawing/2014/main" id="{259368FD-BA30-49EE-B14E-31C6EAA584EC}"/>
              </a:ext>
            </a:extLst>
          </p:cNvPr>
          <p:cNvSpPr>
            <a:spLocks noGrp="1"/>
          </p:cNvSpPr>
          <p:nvPr/>
        </p:nvSpPr>
        <p:spPr>
          <a:xfrm>
            <a:off x="1924050" y="5124450"/>
            <a:ext cx="260985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Fusion E2/E3/E4 (0,25/0,15/0,60)</a:t>
            </a:r>
          </a:p>
        </p:txBody>
      </p:sp>
      <p:sp>
        <p:nvSpPr>
          <p:cNvPr id="48" name="Rectangle 47">
            <a:extLst>
              <a:ext uri="{FF2B5EF4-FFF2-40B4-BE49-F238E27FC236}">
                <a16:creationId xmlns:a16="http://schemas.microsoft.com/office/drawing/2014/main" id="{1817782D-684D-454A-B324-C16D3113655C}"/>
              </a:ext>
            </a:extLst>
          </p:cNvPr>
          <p:cNvSpPr>
            <a:spLocks noGrp="1"/>
          </p:cNvSpPr>
          <p:nvPr/>
        </p:nvSpPr>
        <p:spPr>
          <a:xfrm>
            <a:off x="4610100" y="5048250"/>
            <a:ext cx="3048000" cy="619125"/>
          </a:xfrm>
          <a:prstGeom prst="rect">
            <a:avLst/>
          </a:prstGeom>
          <a:solidFill>
            <a:srgbClr val="FFFFFF"/>
          </a:solidFill>
          <a:ln w="9525">
            <a:solidFill>
              <a:srgbClr val="CBD5E1"/>
            </a:solidFill>
            <a:prstDash val="solid"/>
          </a:ln>
        </p:spPr>
      </p:sp>
      <p:sp>
        <p:nvSpPr>
          <p:cNvPr id="49" name="Rectangle 48">
            <a:extLst>
              <a:ext uri="{FF2B5EF4-FFF2-40B4-BE49-F238E27FC236}">
                <a16:creationId xmlns:a16="http://schemas.microsoft.com/office/drawing/2014/main" id="{9008E2FB-6BE8-42E2-B2F0-1AE8556B8203}"/>
              </a:ext>
            </a:extLst>
          </p:cNvPr>
          <p:cNvSpPr>
            <a:spLocks noGrp="1"/>
          </p:cNvSpPr>
          <p:nvPr/>
        </p:nvSpPr>
        <p:spPr>
          <a:xfrm>
            <a:off x="4686300" y="5124450"/>
            <a:ext cx="2895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Post-processing</a:t>
            </a:r>
          </a:p>
        </p:txBody>
      </p:sp>
      <p:sp>
        <p:nvSpPr>
          <p:cNvPr id="50" name="Rectangle 49">
            <a:extLst>
              <a:ext uri="{FF2B5EF4-FFF2-40B4-BE49-F238E27FC236}">
                <a16:creationId xmlns:a16="http://schemas.microsoft.com/office/drawing/2014/main" id="{DA2E337A-EAC3-4692-84A7-5F5E7600A7D3}"/>
              </a:ext>
            </a:extLst>
          </p:cNvPr>
          <p:cNvSpPr>
            <a:spLocks noGrp="1"/>
          </p:cNvSpPr>
          <p:nvPr/>
        </p:nvSpPr>
        <p:spPr>
          <a:xfrm>
            <a:off x="7658100" y="5048250"/>
            <a:ext cx="3810000" cy="619125"/>
          </a:xfrm>
          <a:prstGeom prst="rect">
            <a:avLst/>
          </a:prstGeom>
          <a:solidFill>
            <a:srgbClr val="FFFFFF"/>
          </a:solidFill>
          <a:ln w="9525">
            <a:solidFill>
              <a:srgbClr val="CBD5E1"/>
            </a:solidFill>
            <a:prstDash val="solid"/>
          </a:ln>
        </p:spPr>
      </p:sp>
      <p:sp>
        <p:nvSpPr>
          <p:cNvPr id="51" name="Rectangle 50">
            <a:extLst>
              <a:ext uri="{FF2B5EF4-FFF2-40B4-BE49-F238E27FC236}">
                <a16:creationId xmlns:a16="http://schemas.microsoft.com/office/drawing/2014/main" id="{18E16FFF-2832-44A7-B60B-72E98E6ECEBA}"/>
              </a:ext>
            </a:extLst>
          </p:cNvPr>
          <p:cNvSpPr>
            <a:spLocks noGrp="1"/>
          </p:cNvSpPr>
          <p:nvPr/>
        </p:nvSpPr>
        <p:spPr>
          <a:xfrm>
            <a:off x="7734300" y="5124450"/>
            <a:ext cx="36576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Cấu hình final</a:t>
            </a:r>
          </a:p>
        </p:txBody>
      </p:sp>
      <p:sp>
        <p:nvSpPr>
          <p:cNvPr id="52" name="Rectangle 51">
            <a:extLst>
              <a:ext uri="{FF2B5EF4-FFF2-40B4-BE49-F238E27FC236}">
                <a16:creationId xmlns:a16="http://schemas.microsoft.com/office/drawing/2014/main" id="{EA6F17E1-1B12-4AFF-A29B-81665BE0E914}"/>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11/21</a:t>
            </a:r>
          </a:p>
        </p:txBody>
      </p:sp>
    </p:spTree>
    <p:extLst>
      <p:ext uri="{BB962C8B-B14F-4D97-AF65-F5344CB8AC3E}">
        <p14:creationId xmlns:p14="http://schemas.microsoft.com/office/powerpoint/2010/main" val="688767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74AE3B8-9241-4191-A8B8-27741E7030B2}"/>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Checkpoint được đọc theo val_IoU thay vì chỉ theo loss</a:t>
            </a:r>
          </a:p>
        </p:txBody>
      </p:sp>
      <p:sp>
        <p:nvSpPr>
          <p:cNvPr id="2" name="Rectangle 1">
            <a:extLst>
              <a:ext uri="{FF2B5EF4-FFF2-40B4-BE49-F238E27FC236}">
                <a16:creationId xmlns:a16="http://schemas.microsoft.com/office/drawing/2014/main" id="{D193B884-D2AB-4074-B773-472F370068A1}"/>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Training configuration</a:t>
            </a:r>
          </a:p>
        </p:txBody>
      </p:sp>
      <p:sp>
        <p:nvSpPr>
          <p:cNvPr id="3" name="Rectangle 2">
            <a:extLst>
              <a:ext uri="{FF2B5EF4-FFF2-40B4-BE49-F238E27FC236}">
                <a16:creationId xmlns:a16="http://schemas.microsoft.com/office/drawing/2014/main" id="{E749FDE1-B36B-4800-BAA8-49B327B911ED}"/>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A39B15DF-288D-4BA1-A99A-D1414FB895ED}"/>
              </a:ext>
            </a:extLst>
          </p:cNvPr>
          <p:cNvSpPr>
            <a:spLocks noGrp="1"/>
          </p:cNvSpPr>
          <p:nvPr/>
        </p:nvSpPr>
        <p:spPr>
          <a:xfrm>
            <a:off x="666750" y="2019300"/>
            <a:ext cx="2095500" cy="638175"/>
          </a:xfrm>
          <a:prstGeom prst="rect">
            <a:avLst/>
          </a:prstGeom>
          <a:solidFill>
            <a:srgbClr val="FEF3C7"/>
          </a:solidFill>
          <a:ln w="9525">
            <a:solidFill>
              <a:srgbClr val="CBD5E1"/>
            </a:solidFill>
            <a:prstDash val="solid"/>
          </a:ln>
        </p:spPr>
      </p:sp>
      <p:sp>
        <p:nvSpPr>
          <p:cNvPr id="5" name="Rectangle 4">
            <a:extLst>
              <a:ext uri="{FF2B5EF4-FFF2-40B4-BE49-F238E27FC236}">
                <a16:creationId xmlns:a16="http://schemas.microsoft.com/office/drawing/2014/main" id="{F420714C-726D-43A1-B63E-141D7C771292}"/>
              </a:ext>
            </a:extLst>
          </p:cNvPr>
          <p:cNvSpPr>
            <a:spLocks noGrp="1"/>
          </p:cNvSpPr>
          <p:nvPr/>
        </p:nvSpPr>
        <p:spPr>
          <a:xfrm>
            <a:off x="742950" y="2095500"/>
            <a:ext cx="1943100" cy="523875"/>
          </a:xfrm>
          <a:prstGeom prst="rect">
            <a:avLst/>
          </a:prstGeom>
          <a:noFill/>
          <a:ln w="0">
            <a:noFill/>
            <a:prstDash val="solid"/>
          </a:ln>
        </p:spPr>
        <p:txBody>
          <a:bodyPr/>
          <a:lstStyle/>
          <a:p>
            <a:pPr algn="l">
              <a:defRPr sz="1200" b="1">
                <a:solidFill>
                  <a:srgbClr val="111827"/>
                </a:solidFill>
              </a:defRPr>
            </a:pPr>
            <a:r>
              <a:rPr sz="1200" b="1">
                <a:solidFill>
                  <a:srgbClr val="111827"/>
                </a:solidFill>
              </a:rPr>
              <a:t>Task</a:t>
            </a:r>
          </a:p>
        </p:txBody>
      </p:sp>
      <p:sp>
        <p:nvSpPr>
          <p:cNvPr id="6" name="Rectangle 5">
            <a:extLst>
              <a:ext uri="{FF2B5EF4-FFF2-40B4-BE49-F238E27FC236}">
                <a16:creationId xmlns:a16="http://schemas.microsoft.com/office/drawing/2014/main" id="{3D52A333-4A57-4C95-851F-9784E91B2343}"/>
              </a:ext>
            </a:extLst>
          </p:cNvPr>
          <p:cNvSpPr>
            <a:spLocks noGrp="1"/>
          </p:cNvSpPr>
          <p:nvPr/>
        </p:nvSpPr>
        <p:spPr>
          <a:xfrm>
            <a:off x="2762250" y="2019300"/>
            <a:ext cx="2857500" cy="638175"/>
          </a:xfrm>
          <a:prstGeom prst="rect">
            <a:avLst/>
          </a:prstGeom>
          <a:solidFill>
            <a:srgbClr val="FEF3C7"/>
          </a:solidFill>
          <a:ln w="9525">
            <a:solidFill>
              <a:srgbClr val="CBD5E1"/>
            </a:solidFill>
            <a:prstDash val="solid"/>
          </a:ln>
        </p:spPr>
      </p:sp>
      <p:sp>
        <p:nvSpPr>
          <p:cNvPr id="7" name="Rectangle 6">
            <a:extLst>
              <a:ext uri="{FF2B5EF4-FFF2-40B4-BE49-F238E27FC236}">
                <a16:creationId xmlns:a16="http://schemas.microsoft.com/office/drawing/2014/main" id="{DD7C56AD-E2E5-4AF6-B2C7-0656DA074768}"/>
              </a:ext>
            </a:extLst>
          </p:cNvPr>
          <p:cNvSpPr>
            <a:spLocks noGrp="1"/>
          </p:cNvSpPr>
          <p:nvPr/>
        </p:nvSpPr>
        <p:spPr>
          <a:xfrm>
            <a:off x="2838450" y="2095500"/>
            <a:ext cx="2705100" cy="523875"/>
          </a:xfrm>
          <a:prstGeom prst="rect">
            <a:avLst/>
          </a:prstGeom>
          <a:noFill/>
          <a:ln w="0">
            <a:noFill/>
            <a:prstDash val="solid"/>
          </a:ln>
        </p:spPr>
        <p:txBody>
          <a:bodyPr/>
          <a:lstStyle/>
          <a:p>
            <a:pPr algn="l">
              <a:defRPr sz="1200" b="1">
                <a:solidFill>
                  <a:srgbClr val="111827"/>
                </a:solidFill>
              </a:defRPr>
            </a:pPr>
            <a:r>
              <a:rPr sz="1200" b="1">
                <a:solidFill>
                  <a:srgbClr val="111827"/>
                </a:solidFill>
              </a:rPr>
              <a:t>Model</a:t>
            </a:r>
          </a:p>
        </p:txBody>
      </p:sp>
      <p:sp>
        <p:nvSpPr>
          <p:cNvPr id="8" name="Rectangle 7">
            <a:extLst>
              <a:ext uri="{FF2B5EF4-FFF2-40B4-BE49-F238E27FC236}">
                <a16:creationId xmlns:a16="http://schemas.microsoft.com/office/drawing/2014/main" id="{FF6652B3-3769-4AE6-8D7A-E6A8A7533238}"/>
              </a:ext>
            </a:extLst>
          </p:cNvPr>
          <p:cNvSpPr>
            <a:spLocks noGrp="1"/>
          </p:cNvSpPr>
          <p:nvPr/>
        </p:nvSpPr>
        <p:spPr>
          <a:xfrm>
            <a:off x="5619750" y="2019300"/>
            <a:ext cx="3143250" cy="638175"/>
          </a:xfrm>
          <a:prstGeom prst="rect">
            <a:avLst/>
          </a:prstGeom>
          <a:solidFill>
            <a:srgbClr val="FEF3C7"/>
          </a:solidFill>
          <a:ln w="9525">
            <a:solidFill>
              <a:srgbClr val="CBD5E1"/>
            </a:solidFill>
            <a:prstDash val="solid"/>
          </a:ln>
        </p:spPr>
      </p:sp>
      <p:sp>
        <p:nvSpPr>
          <p:cNvPr id="9" name="Rectangle 8">
            <a:extLst>
              <a:ext uri="{FF2B5EF4-FFF2-40B4-BE49-F238E27FC236}">
                <a16:creationId xmlns:a16="http://schemas.microsoft.com/office/drawing/2014/main" id="{29C79BD0-DD53-4206-B18A-F91D567B52F3}"/>
              </a:ext>
            </a:extLst>
          </p:cNvPr>
          <p:cNvSpPr>
            <a:spLocks noGrp="1"/>
          </p:cNvSpPr>
          <p:nvPr/>
        </p:nvSpPr>
        <p:spPr>
          <a:xfrm>
            <a:off x="5695950" y="2095500"/>
            <a:ext cx="2990850" cy="523875"/>
          </a:xfrm>
          <a:prstGeom prst="rect">
            <a:avLst/>
          </a:prstGeom>
          <a:noFill/>
          <a:ln w="0">
            <a:noFill/>
            <a:prstDash val="solid"/>
          </a:ln>
        </p:spPr>
        <p:txBody>
          <a:bodyPr/>
          <a:lstStyle/>
          <a:p>
            <a:pPr algn="l">
              <a:defRPr sz="1200" b="1">
                <a:solidFill>
                  <a:srgbClr val="111827"/>
                </a:solidFill>
              </a:defRPr>
            </a:pPr>
            <a:r>
              <a:rPr sz="1200" b="1">
                <a:solidFill>
                  <a:srgbClr val="111827"/>
                </a:solidFill>
              </a:rPr>
              <a:t>Loss / criterion</a:t>
            </a:r>
          </a:p>
        </p:txBody>
      </p:sp>
      <p:sp>
        <p:nvSpPr>
          <p:cNvPr id="10" name="Rectangle 9">
            <a:extLst>
              <a:ext uri="{FF2B5EF4-FFF2-40B4-BE49-F238E27FC236}">
                <a16:creationId xmlns:a16="http://schemas.microsoft.com/office/drawing/2014/main" id="{F446F0DD-8BC4-439F-9AEC-9E33D28E0ABF}"/>
              </a:ext>
            </a:extLst>
          </p:cNvPr>
          <p:cNvSpPr>
            <a:spLocks noGrp="1"/>
          </p:cNvSpPr>
          <p:nvPr/>
        </p:nvSpPr>
        <p:spPr>
          <a:xfrm>
            <a:off x="8763000" y="2019300"/>
            <a:ext cx="2762250" cy="638175"/>
          </a:xfrm>
          <a:prstGeom prst="rect">
            <a:avLst/>
          </a:prstGeom>
          <a:solidFill>
            <a:srgbClr val="FEF3C7"/>
          </a:solidFill>
          <a:ln w="9525">
            <a:solidFill>
              <a:srgbClr val="CBD5E1"/>
            </a:solidFill>
            <a:prstDash val="solid"/>
          </a:ln>
        </p:spPr>
      </p:sp>
      <p:sp>
        <p:nvSpPr>
          <p:cNvPr id="11" name="Rectangle 10">
            <a:extLst>
              <a:ext uri="{FF2B5EF4-FFF2-40B4-BE49-F238E27FC236}">
                <a16:creationId xmlns:a16="http://schemas.microsoft.com/office/drawing/2014/main" id="{9E3757FC-1401-4CBE-AD31-CF397B8F6B21}"/>
              </a:ext>
            </a:extLst>
          </p:cNvPr>
          <p:cNvSpPr>
            <a:spLocks noGrp="1"/>
          </p:cNvSpPr>
          <p:nvPr/>
        </p:nvSpPr>
        <p:spPr>
          <a:xfrm>
            <a:off x="8839200" y="2095500"/>
            <a:ext cx="2609850" cy="523875"/>
          </a:xfrm>
          <a:prstGeom prst="rect">
            <a:avLst/>
          </a:prstGeom>
          <a:noFill/>
          <a:ln w="0">
            <a:noFill/>
            <a:prstDash val="solid"/>
          </a:ln>
        </p:spPr>
        <p:txBody>
          <a:bodyPr/>
          <a:lstStyle/>
          <a:p>
            <a:pPr algn="l">
              <a:defRPr sz="1200" b="1">
                <a:solidFill>
                  <a:srgbClr val="111827"/>
                </a:solidFill>
              </a:defRPr>
            </a:pPr>
            <a:r>
              <a:rPr sz="1200" b="1">
                <a:solidFill>
                  <a:srgbClr val="111827"/>
                </a:solidFill>
              </a:rPr>
              <a:t>Checkpoint</a:t>
            </a:r>
          </a:p>
        </p:txBody>
      </p:sp>
      <p:sp>
        <p:nvSpPr>
          <p:cNvPr id="12" name="Rectangle 11">
            <a:extLst>
              <a:ext uri="{FF2B5EF4-FFF2-40B4-BE49-F238E27FC236}">
                <a16:creationId xmlns:a16="http://schemas.microsoft.com/office/drawing/2014/main" id="{506A1A94-6628-4577-8A4E-0607EFD5F05A}"/>
              </a:ext>
            </a:extLst>
          </p:cNvPr>
          <p:cNvSpPr>
            <a:spLocks noGrp="1"/>
          </p:cNvSpPr>
          <p:nvPr/>
        </p:nvSpPr>
        <p:spPr>
          <a:xfrm>
            <a:off x="666750" y="2657475"/>
            <a:ext cx="2095500" cy="638175"/>
          </a:xfrm>
          <a:prstGeom prst="rect">
            <a:avLst/>
          </a:prstGeom>
          <a:solidFill>
            <a:srgbClr val="FFFFFF"/>
          </a:solidFill>
          <a:ln w="9525">
            <a:solidFill>
              <a:srgbClr val="CBD5E1"/>
            </a:solidFill>
            <a:prstDash val="solid"/>
          </a:ln>
        </p:spPr>
      </p:sp>
      <p:sp>
        <p:nvSpPr>
          <p:cNvPr id="13" name="Rectangle 12">
            <a:extLst>
              <a:ext uri="{FF2B5EF4-FFF2-40B4-BE49-F238E27FC236}">
                <a16:creationId xmlns:a16="http://schemas.microsoft.com/office/drawing/2014/main" id="{D256243F-0EAC-4EAF-B3AB-3E239591D458}"/>
              </a:ext>
            </a:extLst>
          </p:cNvPr>
          <p:cNvSpPr>
            <a:spLocks noGrp="1"/>
          </p:cNvSpPr>
          <p:nvPr/>
        </p:nvSpPr>
        <p:spPr>
          <a:xfrm>
            <a:off x="742950" y="2733675"/>
            <a:ext cx="1943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Classification</a:t>
            </a:r>
          </a:p>
        </p:txBody>
      </p:sp>
      <p:sp>
        <p:nvSpPr>
          <p:cNvPr id="14" name="Rectangle 13">
            <a:extLst>
              <a:ext uri="{FF2B5EF4-FFF2-40B4-BE49-F238E27FC236}">
                <a16:creationId xmlns:a16="http://schemas.microsoft.com/office/drawing/2014/main" id="{4C61C17A-D446-410C-9C1A-E03D8A90AAE7}"/>
              </a:ext>
            </a:extLst>
          </p:cNvPr>
          <p:cNvSpPr>
            <a:spLocks noGrp="1"/>
          </p:cNvSpPr>
          <p:nvPr/>
        </p:nvSpPr>
        <p:spPr>
          <a:xfrm>
            <a:off x="2762250" y="2657475"/>
            <a:ext cx="2857500" cy="638175"/>
          </a:xfrm>
          <a:prstGeom prst="rect">
            <a:avLst/>
          </a:prstGeom>
          <a:solidFill>
            <a:srgbClr val="FFFFFF"/>
          </a:solidFill>
          <a:ln w="9525">
            <a:solidFill>
              <a:srgbClr val="CBD5E1"/>
            </a:solidFill>
            <a:prstDash val="solid"/>
          </a:ln>
        </p:spPr>
      </p:sp>
      <p:sp>
        <p:nvSpPr>
          <p:cNvPr id="15" name="Rectangle 14">
            <a:extLst>
              <a:ext uri="{FF2B5EF4-FFF2-40B4-BE49-F238E27FC236}">
                <a16:creationId xmlns:a16="http://schemas.microsoft.com/office/drawing/2014/main" id="{9D5BF320-A0F1-44E6-B18C-645241ABB3F4}"/>
              </a:ext>
            </a:extLst>
          </p:cNvPr>
          <p:cNvSpPr>
            <a:spLocks noGrp="1"/>
          </p:cNvSpPr>
          <p:nvPr/>
        </p:nvSpPr>
        <p:spPr>
          <a:xfrm>
            <a:off x="2838450" y="2733675"/>
            <a:ext cx="2705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EfficientNet-B0</a:t>
            </a:r>
          </a:p>
        </p:txBody>
      </p:sp>
      <p:sp>
        <p:nvSpPr>
          <p:cNvPr id="16" name="Rectangle 15">
            <a:extLst>
              <a:ext uri="{FF2B5EF4-FFF2-40B4-BE49-F238E27FC236}">
                <a16:creationId xmlns:a16="http://schemas.microsoft.com/office/drawing/2014/main" id="{D4A0175E-A84C-44B1-AC87-1E03048F646F}"/>
              </a:ext>
            </a:extLst>
          </p:cNvPr>
          <p:cNvSpPr>
            <a:spLocks noGrp="1"/>
          </p:cNvSpPr>
          <p:nvPr/>
        </p:nvSpPr>
        <p:spPr>
          <a:xfrm>
            <a:off x="5619750" y="2657475"/>
            <a:ext cx="3143250" cy="638175"/>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F09E8410-1BBC-4894-9110-E65DCF177689}"/>
              </a:ext>
            </a:extLst>
          </p:cNvPr>
          <p:cNvSpPr>
            <a:spLocks noGrp="1"/>
          </p:cNvSpPr>
          <p:nvPr/>
        </p:nvSpPr>
        <p:spPr>
          <a:xfrm>
            <a:off x="5695950" y="2733675"/>
            <a:ext cx="2990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Cross-entropy</a:t>
            </a:r>
          </a:p>
        </p:txBody>
      </p:sp>
      <p:sp>
        <p:nvSpPr>
          <p:cNvPr id="18" name="Rectangle 17">
            <a:extLst>
              <a:ext uri="{FF2B5EF4-FFF2-40B4-BE49-F238E27FC236}">
                <a16:creationId xmlns:a16="http://schemas.microsoft.com/office/drawing/2014/main" id="{FCAC011D-E379-40B1-8390-E6268ECCDF6F}"/>
              </a:ext>
            </a:extLst>
          </p:cNvPr>
          <p:cNvSpPr>
            <a:spLocks noGrp="1"/>
          </p:cNvSpPr>
          <p:nvPr/>
        </p:nvSpPr>
        <p:spPr>
          <a:xfrm>
            <a:off x="8763000" y="2657475"/>
            <a:ext cx="2762250" cy="638175"/>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8C0CA13A-AA76-488A-B9D9-988EE11F9C61}"/>
              </a:ext>
            </a:extLst>
          </p:cNvPr>
          <p:cNvSpPr>
            <a:spLocks noGrp="1"/>
          </p:cNvSpPr>
          <p:nvPr/>
        </p:nvSpPr>
        <p:spPr>
          <a:xfrm>
            <a:off x="8839200" y="2733675"/>
            <a:ext cx="2609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Best validation</a:t>
            </a:r>
          </a:p>
        </p:txBody>
      </p:sp>
      <p:sp>
        <p:nvSpPr>
          <p:cNvPr id="20" name="Rectangle 19">
            <a:extLst>
              <a:ext uri="{FF2B5EF4-FFF2-40B4-BE49-F238E27FC236}">
                <a16:creationId xmlns:a16="http://schemas.microsoft.com/office/drawing/2014/main" id="{E8F9E7F1-7BA7-4CC8-B6AF-108EE4BB8C14}"/>
              </a:ext>
            </a:extLst>
          </p:cNvPr>
          <p:cNvSpPr>
            <a:spLocks noGrp="1"/>
          </p:cNvSpPr>
          <p:nvPr/>
        </p:nvSpPr>
        <p:spPr>
          <a:xfrm>
            <a:off x="666750" y="3295650"/>
            <a:ext cx="2095500" cy="638175"/>
          </a:xfrm>
          <a:prstGeom prst="rect">
            <a:avLst/>
          </a:prstGeom>
          <a:solidFill>
            <a:srgbClr val="F8FAFC"/>
          </a:solidFill>
          <a:ln w="9525">
            <a:solidFill>
              <a:srgbClr val="CBD5E1"/>
            </a:solidFill>
            <a:prstDash val="solid"/>
          </a:ln>
        </p:spPr>
      </p:sp>
      <p:sp>
        <p:nvSpPr>
          <p:cNvPr id="21" name="Rectangle 20">
            <a:extLst>
              <a:ext uri="{FF2B5EF4-FFF2-40B4-BE49-F238E27FC236}">
                <a16:creationId xmlns:a16="http://schemas.microsoft.com/office/drawing/2014/main" id="{D5213F7B-2A34-4FAA-A054-C600F20CC612}"/>
              </a:ext>
            </a:extLst>
          </p:cNvPr>
          <p:cNvSpPr>
            <a:spLocks noGrp="1"/>
          </p:cNvSpPr>
          <p:nvPr/>
        </p:nvSpPr>
        <p:spPr>
          <a:xfrm>
            <a:off x="742950" y="3371850"/>
            <a:ext cx="1943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E1 segmentation</a:t>
            </a:r>
          </a:p>
        </p:txBody>
      </p:sp>
      <p:sp>
        <p:nvSpPr>
          <p:cNvPr id="22" name="Rectangle 21">
            <a:extLst>
              <a:ext uri="{FF2B5EF4-FFF2-40B4-BE49-F238E27FC236}">
                <a16:creationId xmlns:a16="http://schemas.microsoft.com/office/drawing/2014/main" id="{3F4BD711-164F-45ED-A83D-725E3B0023E7}"/>
              </a:ext>
            </a:extLst>
          </p:cNvPr>
          <p:cNvSpPr>
            <a:spLocks noGrp="1"/>
          </p:cNvSpPr>
          <p:nvPr/>
        </p:nvSpPr>
        <p:spPr>
          <a:xfrm>
            <a:off x="2762250" y="3295650"/>
            <a:ext cx="2857500" cy="638175"/>
          </a:xfrm>
          <a:prstGeom prst="rect">
            <a:avLst/>
          </a:prstGeom>
          <a:solidFill>
            <a:srgbClr val="F8FAFC"/>
          </a:solidFill>
          <a:ln w="9525">
            <a:solidFill>
              <a:srgbClr val="CBD5E1"/>
            </a:solidFill>
            <a:prstDash val="solid"/>
          </a:ln>
        </p:spPr>
      </p:sp>
      <p:sp>
        <p:nvSpPr>
          <p:cNvPr id="23" name="Rectangle 22">
            <a:extLst>
              <a:ext uri="{FF2B5EF4-FFF2-40B4-BE49-F238E27FC236}">
                <a16:creationId xmlns:a16="http://schemas.microsoft.com/office/drawing/2014/main" id="{1FDDFEC6-F89E-47B7-90CA-5704E8C33D6D}"/>
              </a:ext>
            </a:extLst>
          </p:cNvPr>
          <p:cNvSpPr>
            <a:spLocks noGrp="1"/>
          </p:cNvSpPr>
          <p:nvPr/>
        </p:nvSpPr>
        <p:spPr>
          <a:xfrm>
            <a:off x="2838450" y="3371850"/>
            <a:ext cx="2705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EfficientNet-U-Net</a:t>
            </a:r>
          </a:p>
        </p:txBody>
      </p:sp>
      <p:sp>
        <p:nvSpPr>
          <p:cNvPr id="24" name="Rectangle 23">
            <a:extLst>
              <a:ext uri="{FF2B5EF4-FFF2-40B4-BE49-F238E27FC236}">
                <a16:creationId xmlns:a16="http://schemas.microsoft.com/office/drawing/2014/main" id="{463339FA-C6C6-46B0-BB0A-25986C4DA303}"/>
              </a:ext>
            </a:extLst>
          </p:cNvPr>
          <p:cNvSpPr>
            <a:spLocks noGrp="1"/>
          </p:cNvSpPr>
          <p:nvPr/>
        </p:nvSpPr>
        <p:spPr>
          <a:xfrm>
            <a:off x="5619750" y="3295650"/>
            <a:ext cx="3143250" cy="638175"/>
          </a:xfrm>
          <a:prstGeom prst="rect">
            <a:avLst/>
          </a:prstGeom>
          <a:solidFill>
            <a:srgbClr val="F8FAFC"/>
          </a:solidFill>
          <a:ln w="9525">
            <a:solidFill>
              <a:srgbClr val="CBD5E1"/>
            </a:solidFill>
            <a:prstDash val="solid"/>
          </a:ln>
        </p:spPr>
      </p:sp>
      <p:sp>
        <p:nvSpPr>
          <p:cNvPr id="25" name="Rectangle 24">
            <a:extLst>
              <a:ext uri="{FF2B5EF4-FFF2-40B4-BE49-F238E27FC236}">
                <a16:creationId xmlns:a16="http://schemas.microsoft.com/office/drawing/2014/main" id="{C0C9296A-E104-4D1F-9ECA-9E1BF1AA4430}"/>
              </a:ext>
            </a:extLst>
          </p:cNvPr>
          <p:cNvSpPr>
            <a:spLocks noGrp="1"/>
          </p:cNvSpPr>
          <p:nvPr/>
        </p:nvSpPr>
        <p:spPr>
          <a:xfrm>
            <a:off x="5695950" y="3371850"/>
            <a:ext cx="2990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BCE/Dice-style</a:t>
            </a:r>
          </a:p>
        </p:txBody>
      </p:sp>
      <p:sp>
        <p:nvSpPr>
          <p:cNvPr id="26" name="Rectangle 25">
            <a:extLst>
              <a:ext uri="{FF2B5EF4-FFF2-40B4-BE49-F238E27FC236}">
                <a16:creationId xmlns:a16="http://schemas.microsoft.com/office/drawing/2014/main" id="{6F848CF1-0718-46FE-8050-DF41234570DB}"/>
              </a:ext>
            </a:extLst>
          </p:cNvPr>
          <p:cNvSpPr>
            <a:spLocks noGrp="1"/>
          </p:cNvSpPr>
          <p:nvPr/>
        </p:nvSpPr>
        <p:spPr>
          <a:xfrm>
            <a:off x="8763000" y="3295650"/>
            <a:ext cx="2762250" cy="638175"/>
          </a:xfrm>
          <a:prstGeom prst="rect">
            <a:avLst/>
          </a:prstGeom>
          <a:solidFill>
            <a:srgbClr val="F8FAFC"/>
          </a:solidFill>
          <a:ln w="9525">
            <a:solidFill>
              <a:srgbClr val="CBD5E1"/>
            </a:solidFill>
            <a:prstDash val="solid"/>
          </a:ln>
        </p:spPr>
      </p:sp>
      <p:sp>
        <p:nvSpPr>
          <p:cNvPr id="27" name="Rectangle 26">
            <a:extLst>
              <a:ext uri="{FF2B5EF4-FFF2-40B4-BE49-F238E27FC236}">
                <a16:creationId xmlns:a16="http://schemas.microsoft.com/office/drawing/2014/main" id="{9CA228BE-A2D8-4804-829C-9511E2C1DD66}"/>
              </a:ext>
            </a:extLst>
          </p:cNvPr>
          <p:cNvSpPr>
            <a:spLocks noGrp="1"/>
          </p:cNvSpPr>
          <p:nvPr/>
        </p:nvSpPr>
        <p:spPr>
          <a:xfrm>
            <a:off x="8839200" y="3371850"/>
            <a:ext cx="2609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val_IoU</a:t>
            </a:r>
          </a:p>
        </p:txBody>
      </p:sp>
      <p:sp>
        <p:nvSpPr>
          <p:cNvPr id="28" name="Rectangle 27">
            <a:extLst>
              <a:ext uri="{FF2B5EF4-FFF2-40B4-BE49-F238E27FC236}">
                <a16:creationId xmlns:a16="http://schemas.microsoft.com/office/drawing/2014/main" id="{8B77E96F-F8B5-4E65-96C5-AC1D62DF3E81}"/>
              </a:ext>
            </a:extLst>
          </p:cNvPr>
          <p:cNvSpPr>
            <a:spLocks noGrp="1"/>
          </p:cNvSpPr>
          <p:nvPr/>
        </p:nvSpPr>
        <p:spPr>
          <a:xfrm>
            <a:off x="666750" y="3933825"/>
            <a:ext cx="2095500" cy="638175"/>
          </a:xfrm>
          <a:prstGeom prst="rect">
            <a:avLst/>
          </a:prstGeom>
          <a:solidFill>
            <a:srgbClr val="FFFFFF"/>
          </a:solidFill>
          <a:ln w="9525">
            <a:solidFill>
              <a:srgbClr val="CBD5E1"/>
            </a:solidFill>
            <a:prstDash val="solid"/>
          </a:ln>
        </p:spPr>
      </p:sp>
      <p:sp>
        <p:nvSpPr>
          <p:cNvPr id="29" name="Rectangle 28">
            <a:extLst>
              <a:ext uri="{FF2B5EF4-FFF2-40B4-BE49-F238E27FC236}">
                <a16:creationId xmlns:a16="http://schemas.microsoft.com/office/drawing/2014/main" id="{09328701-636E-4D32-BEAC-89D100995149}"/>
              </a:ext>
            </a:extLst>
          </p:cNvPr>
          <p:cNvSpPr>
            <a:spLocks noGrp="1"/>
          </p:cNvSpPr>
          <p:nvPr/>
        </p:nvSpPr>
        <p:spPr>
          <a:xfrm>
            <a:off x="742950" y="4010025"/>
            <a:ext cx="1943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E2-E4 segmentation</a:t>
            </a:r>
          </a:p>
        </p:txBody>
      </p:sp>
      <p:sp>
        <p:nvSpPr>
          <p:cNvPr id="30" name="Rectangle 29">
            <a:extLst>
              <a:ext uri="{FF2B5EF4-FFF2-40B4-BE49-F238E27FC236}">
                <a16:creationId xmlns:a16="http://schemas.microsoft.com/office/drawing/2014/main" id="{414EE062-9F1E-4278-8136-819EB6F1175B}"/>
              </a:ext>
            </a:extLst>
          </p:cNvPr>
          <p:cNvSpPr>
            <a:spLocks noGrp="1"/>
          </p:cNvSpPr>
          <p:nvPr/>
        </p:nvSpPr>
        <p:spPr>
          <a:xfrm>
            <a:off x="2762250" y="3933825"/>
            <a:ext cx="2857500" cy="638175"/>
          </a:xfrm>
          <a:prstGeom prst="rect">
            <a:avLst/>
          </a:prstGeom>
          <a:solidFill>
            <a:srgbClr val="FFFFFF"/>
          </a:solidFill>
          <a:ln w="9525">
            <a:solidFill>
              <a:srgbClr val="CBD5E1"/>
            </a:solidFill>
            <a:prstDash val="solid"/>
          </a:ln>
        </p:spPr>
      </p:sp>
      <p:sp>
        <p:nvSpPr>
          <p:cNvPr id="31" name="Rectangle 30">
            <a:extLst>
              <a:ext uri="{FF2B5EF4-FFF2-40B4-BE49-F238E27FC236}">
                <a16:creationId xmlns:a16="http://schemas.microsoft.com/office/drawing/2014/main" id="{A3D91E48-03CF-4A7C-871A-CB7AB9B02CD0}"/>
              </a:ext>
            </a:extLst>
          </p:cNvPr>
          <p:cNvSpPr>
            <a:spLocks noGrp="1"/>
          </p:cNvSpPr>
          <p:nvPr/>
        </p:nvSpPr>
        <p:spPr>
          <a:xfrm>
            <a:off x="2838450" y="4010025"/>
            <a:ext cx="2705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UNet++ EfficientNet-B0</a:t>
            </a:r>
          </a:p>
        </p:txBody>
      </p:sp>
      <p:sp>
        <p:nvSpPr>
          <p:cNvPr id="32" name="Rectangle 31">
            <a:extLst>
              <a:ext uri="{FF2B5EF4-FFF2-40B4-BE49-F238E27FC236}">
                <a16:creationId xmlns:a16="http://schemas.microsoft.com/office/drawing/2014/main" id="{313D3B98-F849-40B0-8B39-5D38BB46AE4E}"/>
              </a:ext>
            </a:extLst>
          </p:cNvPr>
          <p:cNvSpPr>
            <a:spLocks noGrp="1"/>
          </p:cNvSpPr>
          <p:nvPr/>
        </p:nvSpPr>
        <p:spPr>
          <a:xfrm>
            <a:off x="5619750" y="3933825"/>
            <a:ext cx="3143250" cy="638175"/>
          </a:xfrm>
          <a:prstGeom prst="rect">
            <a:avLst/>
          </a:prstGeom>
          <a:solidFill>
            <a:srgbClr val="FFFFFF"/>
          </a:solidFill>
          <a:ln w="9525">
            <a:solidFill>
              <a:srgbClr val="CBD5E1"/>
            </a:solidFill>
            <a:prstDash val="solid"/>
          </a:ln>
        </p:spPr>
      </p:sp>
      <p:sp>
        <p:nvSpPr>
          <p:cNvPr id="33" name="Rectangle 32">
            <a:extLst>
              <a:ext uri="{FF2B5EF4-FFF2-40B4-BE49-F238E27FC236}">
                <a16:creationId xmlns:a16="http://schemas.microsoft.com/office/drawing/2014/main" id="{3966763E-403D-42E6-87D7-9D88959C85B2}"/>
              </a:ext>
            </a:extLst>
          </p:cNvPr>
          <p:cNvSpPr>
            <a:spLocks noGrp="1"/>
          </p:cNvSpPr>
          <p:nvPr/>
        </p:nvSpPr>
        <p:spPr>
          <a:xfrm>
            <a:off x="5695950" y="4010025"/>
            <a:ext cx="2990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FocalDice/BCE-Dice variants</a:t>
            </a:r>
          </a:p>
        </p:txBody>
      </p:sp>
      <p:sp>
        <p:nvSpPr>
          <p:cNvPr id="34" name="Rectangle 33">
            <a:extLst>
              <a:ext uri="{FF2B5EF4-FFF2-40B4-BE49-F238E27FC236}">
                <a16:creationId xmlns:a16="http://schemas.microsoft.com/office/drawing/2014/main" id="{74AE7BAF-51BA-4EB7-9E21-279D55CC8996}"/>
              </a:ext>
            </a:extLst>
          </p:cNvPr>
          <p:cNvSpPr>
            <a:spLocks noGrp="1"/>
          </p:cNvSpPr>
          <p:nvPr/>
        </p:nvSpPr>
        <p:spPr>
          <a:xfrm>
            <a:off x="8763000" y="3933825"/>
            <a:ext cx="2762250" cy="638175"/>
          </a:xfrm>
          <a:prstGeom prst="rect">
            <a:avLst/>
          </a:prstGeom>
          <a:solidFill>
            <a:srgbClr val="FFFFFF"/>
          </a:solidFill>
          <a:ln w="9525">
            <a:solidFill>
              <a:srgbClr val="CBD5E1"/>
            </a:solidFill>
            <a:prstDash val="solid"/>
          </a:ln>
        </p:spPr>
      </p:sp>
      <p:sp>
        <p:nvSpPr>
          <p:cNvPr id="35" name="Rectangle 34">
            <a:extLst>
              <a:ext uri="{FF2B5EF4-FFF2-40B4-BE49-F238E27FC236}">
                <a16:creationId xmlns:a16="http://schemas.microsoft.com/office/drawing/2014/main" id="{9193CCA3-2173-4E4D-B569-CD79FDFDE5CF}"/>
              </a:ext>
            </a:extLst>
          </p:cNvPr>
          <p:cNvSpPr>
            <a:spLocks noGrp="1"/>
          </p:cNvSpPr>
          <p:nvPr/>
        </p:nvSpPr>
        <p:spPr>
          <a:xfrm>
            <a:off x="8839200" y="4010025"/>
            <a:ext cx="2609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val_IoU sau rerun</a:t>
            </a:r>
          </a:p>
        </p:txBody>
      </p:sp>
      <p:sp>
        <p:nvSpPr>
          <p:cNvPr id="36" name="Rectangle 35">
            <a:extLst>
              <a:ext uri="{FF2B5EF4-FFF2-40B4-BE49-F238E27FC236}">
                <a16:creationId xmlns:a16="http://schemas.microsoft.com/office/drawing/2014/main" id="{AE5CEF5D-BBB0-4358-B561-7432833D19C5}"/>
              </a:ext>
            </a:extLst>
          </p:cNvPr>
          <p:cNvSpPr>
            <a:spLocks noGrp="1"/>
          </p:cNvSpPr>
          <p:nvPr/>
        </p:nvSpPr>
        <p:spPr>
          <a:xfrm>
            <a:off x="666750" y="4572000"/>
            <a:ext cx="2095500" cy="638175"/>
          </a:xfrm>
          <a:prstGeom prst="rect">
            <a:avLst/>
          </a:prstGeom>
          <a:solidFill>
            <a:srgbClr val="F8FAFC"/>
          </a:solidFill>
          <a:ln w="9525">
            <a:solidFill>
              <a:srgbClr val="CBD5E1"/>
            </a:solidFill>
            <a:prstDash val="solid"/>
          </a:ln>
        </p:spPr>
      </p:sp>
      <p:sp>
        <p:nvSpPr>
          <p:cNvPr id="37" name="Rectangle 36">
            <a:extLst>
              <a:ext uri="{FF2B5EF4-FFF2-40B4-BE49-F238E27FC236}">
                <a16:creationId xmlns:a16="http://schemas.microsoft.com/office/drawing/2014/main" id="{CB82C992-94FB-410A-96FD-943F25EBF2DE}"/>
              </a:ext>
            </a:extLst>
          </p:cNvPr>
          <p:cNvSpPr>
            <a:spLocks noGrp="1"/>
          </p:cNvSpPr>
          <p:nvPr/>
        </p:nvSpPr>
        <p:spPr>
          <a:xfrm>
            <a:off x="742950" y="4648200"/>
            <a:ext cx="1943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F1 final</a:t>
            </a:r>
          </a:p>
        </p:txBody>
      </p:sp>
      <p:sp>
        <p:nvSpPr>
          <p:cNvPr id="38" name="Rectangle 37">
            <a:extLst>
              <a:ext uri="{FF2B5EF4-FFF2-40B4-BE49-F238E27FC236}">
                <a16:creationId xmlns:a16="http://schemas.microsoft.com/office/drawing/2014/main" id="{F5A26EEB-D9EF-4894-86B5-E0FCA261135C}"/>
              </a:ext>
            </a:extLst>
          </p:cNvPr>
          <p:cNvSpPr>
            <a:spLocks noGrp="1"/>
          </p:cNvSpPr>
          <p:nvPr/>
        </p:nvSpPr>
        <p:spPr>
          <a:xfrm>
            <a:off x="2762250" y="4572000"/>
            <a:ext cx="2857500" cy="638175"/>
          </a:xfrm>
          <a:prstGeom prst="rect">
            <a:avLst/>
          </a:prstGeom>
          <a:solidFill>
            <a:srgbClr val="F8FAFC"/>
          </a:solidFill>
          <a:ln w="9525">
            <a:solidFill>
              <a:srgbClr val="CBD5E1"/>
            </a:solidFill>
            <a:prstDash val="solid"/>
          </a:ln>
        </p:spPr>
      </p:sp>
      <p:sp>
        <p:nvSpPr>
          <p:cNvPr id="39" name="Rectangle 38">
            <a:extLst>
              <a:ext uri="{FF2B5EF4-FFF2-40B4-BE49-F238E27FC236}">
                <a16:creationId xmlns:a16="http://schemas.microsoft.com/office/drawing/2014/main" id="{76652883-1081-41D3-9815-2B2A05D0E495}"/>
              </a:ext>
            </a:extLst>
          </p:cNvPr>
          <p:cNvSpPr>
            <a:spLocks noGrp="1"/>
          </p:cNvSpPr>
          <p:nvPr/>
        </p:nvSpPr>
        <p:spPr>
          <a:xfrm>
            <a:off x="2838450" y="4648200"/>
            <a:ext cx="270510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Fusion/post-processing</a:t>
            </a:r>
          </a:p>
        </p:txBody>
      </p:sp>
      <p:sp>
        <p:nvSpPr>
          <p:cNvPr id="40" name="Rectangle 39">
            <a:extLst>
              <a:ext uri="{FF2B5EF4-FFF2-40B4-BE49-F238E27FC236}">
                <a16:creationId xmlns:a16="http://schemas.microsoft.com/office/drawing/2014/main" id="{A2CA429D-9141-4C19-9353-3101E7AA90DE}"/>
              </a:ext>
            </a:extLst>
          </p:cNvPr>
          <p:cNvSpPr>
            <a:spLocks noGrp="1"/>
          </p:cNvSpPr>
          <p:nvPr/>
        </p:nvSpPr>
        <p:spPr>
          <a:xfrm>
            <a:off x="5619750" y="4572000"/>
            <a:ext cx="3143250" cy="638175"/>
          </a:xfrm>
          <a:prstGeom prst="rect">
            <a:avLst/>
          </a:prstGeom>
          <a:solidFill>
            <a:srgbClr val="F8FAFC"/>
          </a:solidFill>
          <a:ln w="9525">
            <a:solidFill>
              <a:srgbClr val="CBD5E1"/>
            </a:solidFill>
            <a:prstDash val="solid"/>
          </a:ln>
        </p:spPr>
      </p:sp>
      <p:sp>
        <p:nvSpPr>
          <p:cNvPr id="41" name="Rectangle 40">
            <a:extLst>
              <a:ext uri="{FF2B5EF4-FFF2-40B4-BE49-F238E27FC236}">
                <a16:creationId xmlns:a16="http://schemas.microsoft.com/office/drawing/2014/main" id="{4B442558-57B1-4FD3-9C6A-69D447584C3E}"/>
              </a:ext>
            </a:extLst>
          </p:cNvPr>
          <p:cNvSpPr>
            <a:spLocks noGrp="1"/>
          </p:cNvSpPr>
          <p:nvPr/>
        </p:nvSpPr>
        <p:spPr>
          <a:xfrm>
            <a:off x="5695950" y="4648200"/>
            <a:ext cx="2990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Threshold + coverage cap</a:t>
            </a:r>
          </a:p>
        </p:txBody>
      </p:sp>
      <p:sp>
        <p:nvSpPr>
          <p:cNvPr id="42" name="Rectangle 41">
            <a:extLst>
              <a:ext uri="{FF2B5EF4-FFF2-40B4-BE49-F238E27FC236}">
                <a16:creationId xmlns:a16="http://schemas.microsoft.com/office/drawing/2014/main" id="{1F674823-28DE-4FB6-B186-92A322832F35}"/>
              </a:ext>
            </a:extLst>
          </p:cNvPr>
          <p:cNvSpPr>
            <a:spLocks noGrp="1"/>
          </p:cNvSpPr>
          <p:nvPr/>
        </p:nvSpPr>
        <p:spPr>
          <a:xfrm>
            <a:off x="8763000" y="4572000"/>
            <a:ext cx="2762250" cy="638175"/>
          </a:xfrm>
          <a:prstGeom prst="rect">
            <a:avLst/>
          </a:prstGeom>
          <a:solidFill>
            <a:srgbClr val="F8FAFC"/>
          </a:solidFill>
          <a:ln w="9525">
            <a:solidFill>
              <a:srgbClr val="CBD5E1"/>
            </a:solidFill>
            <a:prstDash val="solid"/>
          </a:ln>
        </p:spPr>
      </p:sp>
      <p:sp>
        <p:nvSpPr>
          <p:cNvPr id="43" name="Rectangle 42">
            <a:extLst>
              <a:ext uri="{FF2B5EF4-FFF2-40B4-BE49-F238E27FC236}">
                <a16:creationId xmlns:a16="http://schemas.microsoft.com/office/drawing/2014/main" id="{F1E8B4C8-2A9C-447D-8483-CA696D93226A}"/>
              </a:ext>
            </a:extLst>
          </p:cNvPr>
          <p:cNvSpPr>
            <a:spLocks noGrp="1"/>
          </p:cNvSpPr>
          <p:nvPr/>
        </p:nvSpPr>
        <p:spPr>
          <a:xfrm>
            <a:off x="8839200" y="4648200"/>
            <a:ext cx="2609850" cy="523875"/>
          </a:xfrm>
          <a:prstGeom prst="rect">
            <a:avLst/>
          </a:prstGeom>
          <a:noFill/>
          <a:ln w="0">
            <a:noFill/>
            <a:prstDash val="solid"/>
          </a:ln>
        </p:spPr>
        <p:txBody>
          <a:bodyPr/>
          <a:lstStyle/>
          <a:p>
            <a:pPr algn="l">
              <a:defRPr sz="1125" b="0">
                <a:solidFill>
                  <a:srgbClr val="111827"/>
                </a:solidFill>
              </a:defRPr>
            </a:pPr>
            <a:r>
              <a:rPr sz="1125" b="0">
                <a:solidFill>
                  <a:srgbClr val="111827"/>
                </a:solidFill>
              </a:rPr>
              <a:t>GT_OK tune/holdout</a:t>
            </a:r>
          </a:p>
        </p:txBody>
      </p:sp>
      <p:sp>
        <p:nvSpPr>
          <p:cNvPr id="44" name="Rectangle 43">
            <a:extLst>
              <a:ext uri="{FF2B5EF4-FFF2-40B4-BE49-F238E27FC236}">
                <a16:creationId xmlns:a16="http://schemas.microsoft.com/office/drawing/2014/main" id="{5AFBF16D-6C7A-44D7-8207-1CFFB8D4EECE}"/>
              </a:ext>
            </a:extLst>
          </p:cNvPr>
          <p:cNvSpPr>
            <a:spLocks noGrp="1"/>
          </p:cNvSpPr>
          <p:nvPr/>
        </p:nvSpPr>
        <p:spPr>
          <a:xfrm>
            <a:off x="1143000" y="5572125"/>
            <a:ext cx="9906000" cy="438150"/>
          </a:xfrm>
          <a:prstGeom prst="rect">
            <a:avLst/>
          </a:prstGeom>
          <a:noFill/>
          <a:ln w="0">
            <a:noFill/>
            <a:prstDash val="solid"/>
          </a:ln>
        </p:spPr>
        <p:txBody>
          <a:bodyPr/>
          <a:lstStyle/>
          <a:p>
            <a:pPr algn="ctr">
              <a:defRPr sz="1650" b="1">
                <a:solidFill>
                  <a:srgbClr val="D97706"/>
                </a:solidFill>
              </a:defRPr>
            </a:pPr>
            <a:r>
              <a:rPr sz="1650" b="1">
                <a:solidFill>
                  <a:srgbClr val="D97706"/>
                </a:solidFill>
              </a:rPr>
              <a:t>Điểm cần nói rõ: loss thấp không luôn đồng nghĩa IoU cao trong bài toán mask nhỏ và mất cân bằng.</a:t>
            </a:r>
          </a:p>
        </p:txBody>
      </p:sp>
      <p:sp>
        <p:nvSpPr>
          <p:cNvPr id="45" name="Rectangle 44">
            <a:extLst>
              <a:ext uri="{FF2B5EF4-FFF2-40B4-BE49-F238E27FC236}">
                <a16:creationId xmlns:a16="http://schemas.microsoft.com/office/drawing/2014/main" id="{FDE7861F-7EDB-45E3-8AB7-94E3D72F6608}"/>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12/21</a:t>
            </a:r>
          </a:p>
        </p:txBody>
      </p:sp>
    </p:spTree>
    <p:extLst>
      <p:ext uri="{BB962C8B-B14F-4D97-AF65-F5344CB8AC3E}">
        <p14:creationId xmlns:p14="http://schemas.microsoft.com/office/powerpoint/2010/main" val="686759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C4C19C-D9CB-4103-9DB7-FC18117EDB92}"/>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Pseudo-test và GT_OK trả lời hai câu hỏi khác nhau</a:t>
            </a:r>
          </a:p>
        </p:txBody>
      </p:sp>
      <p:sp>
        <p:nvSpPr>
          <p:cNvPr id="2" name="Rectangle 1">
            <a:extLst>
              <a:ext uri="{FF2B5EF4-FFF2-40B4-BE49-F238E27FC236}">
                <a16:creationId xmlns:a16="http://schemas.microsoft.com/office/drawing/2014/main" id="{407F11A1-EFAA-4F65-8874-C7641536ED90}"/>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Evaluation metrics</a:t>
            </a:r>
          </a:p>
        </p:txBody>
      </p:sp>
      <p:sp>
        <p:nvSpPr>
          <p:cNvPr id="3" name="Rectangle 2">
            <a:extLst>
              <a:ext uri="{FF2B5EF4-FFF2-40B4-BE49-F238E27FC236}">
                <a16:creationId xmlns:a16="http://schemas.microsoft.com/office/drawing/2014/main" id="{FFDB6E5F-6C3D-4AFD-A7BE-B1034757E0B3}"/>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6B5DF810-1D8C-42A8-9273-DAD63394729D}"/>
              </a:ext>
            </a:extLst>
          </p:cNvPr>
          <p:cNvSpPr>
            <a:spLocks noGrp="1"/>
          </p:cNvSpPr>
          <p:nvPr/>
        </p:nvSpPr>
        <p:spPr>
          <a:xfrm>
            <a:off x="857250" y="2143125"/>
            <a:ext cx="4619625" cy="2381250"/>
          </a:xfrm>
          <a:prstGeom prst="rect">
            <a:avLst/>
          </a:prstGeom>
          <a:solidFill>
            <a:srgbClr val="EFF6FF"/>
          </a:solidFill>
          <a:ln w="19050">
            <a:solidFill>
              <a:srgbClr val="BFDBFE"/>
            </a:solidFill>
            <a:prstDash val="solid"/>
          </a:ln>
        </p:spPr>
      </p:sp>
      <p:sp>
        <p:nvSpPr>
          <p:cNvPr id="5" name="Rectangle 4">
            <a:extLst>
              <a:ext uri="{FF2B5EF4-FFF2-40B4-BE49-F238E27FC236}">
                <a16:creationId xmlns:a16="http://schemas.microsoft.com/office/drawing/2014/main" id="{AA67A4BA-36BF-4357-ABC8-C54D69D49657}"/>
              </a:ext>
            </a:extLst>
          </p:cNvPr>
          <p:cNvSpPr>
            <a:spLocks noGrp="1"/>
          </p:cNvSpPr>
          <p:nvPr/>
        </p:nvSpPr>
        <p:spPr>
          <a:xfrm>
            <a:off x="1143000" y="2381250"/>
            <a:ext cx="4000500" cy="342900"/>
          </a:xfrm>
          <a:prstGeom prst="rect">
            <a:avLst/>
          </a:prstGeom>
          <a:noFill/>
          <a:ln w="0">
            <a:noFill/>
            <a:prstDash val="solid"/>
          </a:ln>
        </p:spPr>
        <p:txBody>
          <a:bodyPr/>
          <a:lstStyle/>
          <a:p>
            <a:pPr algn="l">
              <a:defRPr sz="2100" b="1">
                <a:solidFill>
                  <a:srgbClr val="2563EB"/>
                </a:solidFill>
              </a:defRPr>
            </a:pPr>
            <a:r>
              <a:rPr sz="2100" b="1">
                <a:solidFill>
                  <a:srgbClr val="2563EB"/>
                </a:solidFill>
              </a:rPr>
              <a:t>Classification</a:t>
            </a:r>
          </a:p>
        </p:txBody>
      </p:sp>
      <p:sp>
        <p:nvSpPr>
          <p:cNvPr id="6" name="Rectangle 5">
            <a:extLst>
              <a:ext uri="{FF2B5EF4-FFF2-40B4-BE49-F238E27FC236}">
                <a16:creationId xmlns:a16="http://schemas.microsoft.com/office/drawing/2014/main" id="{057F8A27-057B-426D-BAF9-9EECEF5ED90E}"/>
              </a:ext>
            </a:extLst>
          </p:cNvPr>
          <p:cNvSpPr>
            <a:spLocks noGrp="1"/>
          </p:cNvSpPr>
          <p:nvPr/>
        </p:nvSpPr>
        <p:spPr>
          <a:xfrm>
            <a:off x="1219200" y="2952750"/>
            <a:ext cx="3810000" cy="1190625"/>
          </a:xfrm>
          <a:prstGeom prst="rect">
            <a:avLst/>
          </a:prstGeom>
          <a:noFill/>
          <a:ln w="0">
            <a:noFill/>
            <a:prstDash val="solid"/>
          </a:ln>
        </p:spPr>
        <p:txBody>
          <a:bodyPr/>
          <a:lstStyle/>
          <a:p>
            <a:pPr algn="l">
              <a:defRPr sz="1650" b="0">
                <a:solidFill>
                  <a:srgbClr val="111827"/>
                </a:solidFill>
              </a:defRPr>
            </a:pPr>
            <a:r>
              <a:rPr sz="1650" b="0">
                <a:solidFill>
                  <a:srgbClr val="111827"/>
                </a:solidFill>
              </a:rPr>
              <a:t>• Accuracy</a:t>
            </a:r>
          </a:p>
          <a:p>
            <a:pPr algn="l">
              <a:defRPr sz="1650" b="0">
                <a:solidFill>
                  <a:srgbClr val="111827"/>
                </a:solidFill>
              </a:defRPr>
            </a:pPr>
            <a:r>
              <a:rPr sz="1650" b="0">
                <a:solidFill>
                  <a:srgbClr val="111827"/>
                </a:solidFill>
              </a:rPr>
              <a:t>• Precision / Recall / F1</a:t>
            </a:r>
          </a:p>
          <a:p>
            <a:pPr algn="l">
              <a:defRPr sz="1650" b="0">
                <a:solidFill>
                  <a:srgbClr val="111827"/>
                </a:solidFill>
              </a:defRPr>
            </a:pPr>
            <a:r>
              <a:rPr sz="1650" b="0">
                <a:solidFill>
                  <a:srgbClr val="111827"/>
                </a:solidFill>
              </a:rPr>
              <a:t>• Confusion matrix</a:t>
            </a:r>
          </a:p>
          <a:p>
            <a:pPr algn="l">
              <a:defRPr sz="1650" b="0">
                <a:solidFill>
                  <a:srgbClr val="111827"/>
                </a:solidFill>
              </a:defRPr>
            </a:pPr>
            <a:r>
              <a:rPr sz="1650" b="0">
                <a:solidFill>
                  <a:srgbClr val="111827"/>
                </a:solidFill>
              </a:rPr>
              <a:t>• ROC-AUC, PR-AUC</a:t>
            </a:r>
          </a:p>
        </p:txBody>
      </p:sp>
      <p:sp>
        <p:nvSpPr>
          <p:cNvPr id="7" name="Rectangle 6">
            <a:extLst>
              <a:ext uri="{FF2B5EF4-FFF2-40B4-BE49-F238E27FC236}">
                <a16:creationId xmlns:a16="http://schemas.microsoft.com/office/drawing/2014/main" id="{139F3BFE-9A35-44B1-B67E-FE60D57F1EE1}"/>
              </a:ext>
            </a:extLst>
          </p:cNvPr>
          <p:cNvSpPr>
            <a:spLocks noGrp="1"/>
          </p:cNvSpPr>
          <p:nvPr/>
        </p:nvSpPr>
        <p:spPr>
          <a:xfrm>
            <a:off x="6715125" y="2143125"/>
            <a:ext cx="4619625" cy="2381250"/>
          </a:xfrm>
          <a:prstGeom prst="rect">
            <a:avLst/>
          </a:prstGeom>
          <a:solidFill>
            <a:srgbClr val="F0FDF4"/>
          </a:solidFill>
          <a:ln w="19050">
            <a:solidFill>
              <a:srgbClr val="BBF7D0"/>
            </a:solidFill>
            <a:prstDash val="solid"/>
          </a:ln>
        </p:spPr>
      </p:sp>
      <p:sp>
        <p:nvSpPr>
          <p:cNvPr id="8" name="Rectangle 7">
            <a:extLst>
              <a:ext uri="{FF2B5EF4-FFF2-40B4-BE49-F238E27FC236}">
                <a16:creationId xmlns:a16="http://schemas.microsoft.com/office/drawing/2014/main" id="{4EDF3545-16F7-4238-AA22-7A4F046328E7}"/>
              </a:ext>
            </a:extLst>
          </p:cNvPr>
          <p:cNvSpPr>
            <a:spLocks noGrp="1"/>
          </p:cNvSpPr>
          <p:nvPr/>
        </p:nvSpPr>
        <p:spPr>
          <a:xfrm>
            <a:off x="7000875" y="2381250"/>
            <a:ext cx="4000500" cy="342900"/>
          </a:xfrm>
          <a:prstGeom prst="rect">
            <a:avLst/>
          </a:prstGeom>
          <a:noFill/>
          <a:ln w="0">
            <a:noFill/>
            <a:prstDash val="solid"/>
          </a:ln>
        </p:spPr>
        <p:txBody>
          <a:bodyPr/>
          <a:lstStyle/>
          <a:p>
            <a:pPr algn="l">
              <a:defRPr sz="2100" b="1">
                <a:solidFill>
                  <a:srgbClr val="16A34A"/>
                </a:solidFill>
              </a:defRPr>
            </a:pPr>
            <a:r>
              <a:rPr sz="2100" b="1">
                <a:solidFill>
                  <a:srgbClr val="16A34A"/>
                </a:solidFill>
              </a:rPr>
              <a:t>Segmentation</a:t>
            </a:r>
          </a:p>
        </p:txBody>
      </p:sp>
      <p:sp>
        <p:nvSpPr>
          <p:cNvPr id="9" name="Rectangle 8">
            <a:extLst>
              <a:ext uri="{FF2B5EF4-FFF2-40B4-BE49-F238E27FC236}">
                <a16:creationId xmlns:a16="http://schemas.microsoft.com/office/drawing/2014/main" id="{2C6DF505-F29E-4023-9288-30CDDA23629A}"/>
              </a:ext>
            </a:extLst>
          </p:cNvPr>
          <p:cNvSpPr>
            <a:spLocks noGrp="1"/>
          </p:cNvSpPr>
          <p:nvPr/>
        </p:nvSpPr>
        <p:spPr>
          <a:xfrm>
            <a:off x="7077075" y="2952750"/>
            <a:ext cx="3810000" cy="1190625"/>
          </a:xfrm>
          <a:prstGeom prst="rect">
            <a:avLst/>
          </a:prstGeom>
          <a:noFill/>
          <a:ln w="0">
            <a:noFill/>
            <a:prstDash val="solid"/>
          </a:ln>
        </p:spPr>
        <p:txBody>
          <a:bodyPr/>
          <a:lstStyle/>
          <a:p>
            <a:pPr algn="l">
              <a:defRPr sz="1650" b="0">
                <a:solidFill>
                  <a:srgbClr val="111827"/>
                </a:solidFill>
              </a:defRPr>
            </a:pPr>
            <a:r>
              <a:rPr sz="1650" b="0">
                <a:solidFill>
                  <a:srgbClr val="111827"/>
                </a:solidFill>
              </a:rPr>
              <a:t>• IoU</a:t>
            </a:r>
          </a:p>
          <a:p>
            <a:pPr algn="l">
              <a:defRPr sz="1650" b="0">
                <a:solidFill>
                  <a:srgbClr val="111827"/>
                </a:solidFill>
              </a:defRPr>
            </a:pPr>
            <a:r>
              <a:rPr sz="1650" b="0">
                <a:solidFill>
                  <a:srgbClr val="111827"/>
                </a:solidFill>
              </a:rPr>
              <a:t>• Dice</a:t>
            </a:r>
          </a:p>
          <a:p>
            <a:pPr algn="l">
              <a:defRPr sz="1650" b="0">
                <a:solidFill>
                  <a:srgbClr val="111827"/>
                </a:solidFill>
              </a:defRPr>
            </a:pPr>
            <a:r>
              <a:rPr sz="1650" b="0">
                <a:solidFill>
                  <a:srgbClr val="111827"/>
                </a:solidFill>
              </a:rPr>
              <a:t>• Precision / Recall</a:t>
            </a:r>
          </a:p>
          <a:p>
            <a:pPr algn="l">
              <a:defRPr sz="1650" b="0">
                <a:solidFill>
                  <a:srgbClr val="111827"/>
                </a:solidFill>
              </a:defRPr>
            </a:pPr>
            <a:r>
              <a:rPr sz="1650" b="0">
                <a:solidFill>
                  <a:srgbClr val="111827"/>
                </a:solidFill>
              </a:rPr>
              <a:t>• GT_OK là mốc chung</a:t>
            </a:r>
          </a:p>
        </p:txBody>
      </p:sp>
      <p:sp>
        <p:nvSpPr>
          <p:cNvPr id="10" name="Rectangle 9">
            <a:extLst>
              <a:ext uri="{FF2B5EF4-FFF2-40B4-BE49-F238E27FC236}">
                <a16:creationId xmlns:a16="http://schemas.microsoft.com/office/drawing/2014/main" id="{931FEB9F-EF24-4D58-B5F2-B51520854D98}"/>
              </a:ext>
            </a:extLst>
          </p:cNvPr>
          <p:cNvSpPr>
            <a:spLocks noGrp="1"/>
          </p:cNvSpPr>
          <p:nvPr/>
        </p:nvSpPr>
        <p:spPr>
          <a:xfrm>
            <a:off x="1619250" y="5143500"/>
            <a:ext cx="8953500" cy="552450"/>
          </a:xfrm>
          <a:prstGeom prst="rect">
            <a:avLst/>
          </a:prstGeom>
          <a:noFill/>
          <a:ln w="0">
            <a:noFill/>
            <a:prstDash val="solid"/>
          </a:ln>
        </p:spPr>
        <p:txBody>
          <a:bodyPr/>
          <a:lstStyle/>
          <a:p>
            <a:pPr algn="ctr">
              <a:defRPr sz="1950" b="1">
                <a:solidFill>
                  <a:srgbClr val="111827"/>
                </a:solidFill>
              </a:defRPr>
            </a:pPr>
            <a:r>
              <a:rPr sz="1950" b="1">
                <a:solidFill>
                  <a:srgbClr val="111827"/>
                </a:solidFill>
              </a:rPr>
              <a:t>Pseudo-test đo khả năng học lại nhãn giả; GT_OK đo gần hơn chất lượng định vị thật.</a:t>
            </a:r>
          </a:p>
        </p:txBody>
      </p:sp>
      <p:sp>
        <p:nvSpPr>
          <p:cNvPr id="11" name="Rectangle 10">
            <a:extLst>
              <a:ext uri="{FF2B5EF4-FFF2-40B4-BE49-F238E27FC236}">
                <a16:creationId xmlns:a16="http://schemas.microsoft.com/office/drawing/2014/main" id="{CD153D36-0996-4FAD-9779-F317A618DC79}"/>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13/21</a:t>
            </a:r>
          </a:p>
        </p:txBody>
      </p:sp>
    </p:spTree>
    <p:extLst>
      <p:ext uri="{BB962C8B-B14F-4D97-AF65-F5344CB8AC3E}">
        <p14:creationId xmlns:p14="http://schemas.microsoft.com/office/powerpoint/2010/main" val="643276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E0A4EF-9AFA-4E95-B351-09446FC95168}"/>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Phân loại đạt 97,19% accuracy trên tập test</a:t>
            </a:r>
          </a:p>
        </p:txBody>
      </p:sp>
      <p:sp>
        <p:nvSpPr>
          <p:cNvPr id="2" name="Rectangle 1">
            <a:extLst>
              <a:ext uri="{FF2B5EF4-FFF2-40B4-BE49-F238E27FC236}">
                <a16:creationId xmlns:a16="http://schemas.microsoft.com/office/drawing/2014/main" id="{28511C9D-BD39-4FE2-860B-B58FE9BFD00B}"/>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Classification results</a:t>
            </a:r>
          </a:p>
        </p:txBody>
      </p:sp>
      <p:sp>
        <p:nvSpPr>
          <p:cNvPr id="3" name="Rectangle 2">
            <a:extLst>
              <a:ext uri="{FF2B5EF4-FFF2-40B4-BE49-F238E27FC236}">
                <a16:creationId xmlns:a16="http://schemas.microsoft.com/office/drawing/2014/main" id="{B36C6008-1D7A-4169-AEF8-DC4D103533CC}"/>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6BFD236C-78FD-4246-9678-BAF086D331BA}"/>
              </a:ext>
            </a:extLst>
          </p:cNvPr>
          <p:cNvSpPr>
            <a:spLocks noGrp="1"/>
          </p:cNvSpPr>
          <p:nvPr/>
        </p:nvSpPr>
        <p:spPr>
          <a:xfrm>
            <a:off x="666750" y="1905000"/>
            <a:ext cx="1809750" cy="1219200"/>
          </a:xfrm>
          <a:prstGeom prst="rect">
            <a:avLst/>
          </a:prstGeom>
          <a:solidFill>
            <a:srgbClr val="F3F4F6"/>
          </a:solidFill>
          <a:ln w="9525">
            <a:solidFill>
              <a:srgbClr val="CBD5E1"/>
            </a:solidFill>
            <a:prstDash val="solid"/>
          </a:ln>
        </p:spPr>
      </p:sp>
      <p:sp>
        <p:nvSpPr>
          <p:cNvPr id="5" name="Rectangle 4">
            <a:extLst>
              <a:ext uri="{FF2B5EF4-FFF2-40B4-BE49-F238E27FC236}">
                <a16:creationId xmlns:a16="http://schemas.microsoft.com/office/drawing/2014/main" id="{FEAD816F-87B5-40F7-9D7E-B4A726887EFA}"/>
              </a:ext>
            </a:extLst>
          </p:cNvPr>
          <p:cNvSpPr>
            <a:spLocks noGrp="1"/>
          </p:cNvSpPr>
          <p:nvPr/>
        </p:nvSpPr>
        <p:spPr>
          <a:xfrm>
            <a:off x="838200" y="2076450"/>
            <a:ext cx="1466850" cy="495300"/>
          </a:xfrm>
          <a:prstGeom prst="rect">
            <a:avLst/>
          </a:prstGeom>
          <a:noFill/>
          <a:ln w="0">
            <a:noFill/>
            <a:prstDash val="solid"/>
          </a:ln>
        </p:spPr>
        <p:txBody>
          <a:bodyPr/>
          <a:lstStyle/>
          <a:p>
            <a:pPr algn="ctr">
              <a:defRPr sz="2550" b="1">
                <a:solidFill>
                  <a:srgbClr val="16A34A"/>
                </a:solidFill>
              </a:defRPr>
            </a:pPr>
            <a:r>
              <a:rPr sz="2550" b="1">
                <a:solidFill>
                  <a:srgbClr val="16A34A"/>
                </a:solidFill>
              </a:rPr>
              <a:t>97,19%</a:t>
            </a:r>
          </a:p>
        </p:txBody>
      </p:sp>
      <p:sp>
        <p:nvSpPr>
          <p:cNvPr id="6" name="Rectangle 5">
            <a:extLst>
              <a:ext uri="{FF2B5EF4-FFF2-40B4-BE49-F238E27FC236}">
                <a16:creationId xmlns:a16="http://schemas.microsoft.com/office/drawing/2014/main" id="{CB5D83FD-7834-4F99-A416-7E985FAE9FB9}"/>
              </a:ext>
            </a:extLst>
          </p:cNvPr>
          <p:cNvSpPr>
            <a:spLocks noGrp="1"/>
          </p:cNvSpPr>
          <p:nvPr/>
        </p:nvSpPr>
        <p:spPr>
          <a:xfrm>
            <a:off x="838200" y="2647950"/>
            <a:ext cx="14668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Accuracy</a:t>
            </a:r>
          </a:p>
        </p:txBody>
      </p:sp>
      <p:sp>
        <p:nvSpPr>
          <p:cNvPr id="7" name="Rectangle 6">
            <a:extLst>
              <a:ext uri="{FF2B5EF4-FFF2-40B4-BE49-F238E27FC236}">
                <a16:creationId xmlns:a16="http://schemas.microsoft.com/office/drawing/2014/main" id="{7D362F12-4449-4DEB-A40A-DDF8F86D1E42}"/>
              </a:ext>
            </a:extLst>
          </p:cNvPr>
          <p:cNvSpPr>
            <a:spLocks noGrp="1"/>
          </p:cNvSpPr>
          <p:nvPr/>
        </p:nvSpPr>
        <p:spPr>
          <a:xfrm>
            <a:off x="2667000" y="1905000"/>
            <a:ext cx="1809750" cy="1219200"/>
          </a:xfrm>
          <a:prstGeom prst="rect">
            <a:avLst/>
          </a:prstGeom>
          <a:solidFill>
            <a:srgbClr val="F3F4F6"/>
          </a:solidFill>
          <a:ln w="9525">
            <a:solidFill>
              <a:srgbClr val="CBD5E1"/>
            </a:solidFill>
            <a:prstDash val="solid"/>
          </a:ln>
        </p:spPr>
      </p:sp>
      <p:sp>
        <p:nvSpPr>
          <p:cNvPr id="8" name="Rectangle 7">
            <a:extLst>
              <a:ext uri="{FF2B5EF4-FFF2-40B4-BE49-F238E27FC236}">
                <a16:creationId xmlns:a16="http://schemas.microsoft.com/office/drawing/2014/main" id="{8AF49EFC-0273-4776-B675-CA7D2223D909}"/>
              </a:ext>
            </a:extLst>
          </p:cNvPr>
          <p:cNvSpPr>
            <a:spLocks noGrp="1"/>
          </p:cNvSpPr>
          <p:nvPr/>
        </p:nvSpPr>
        <p:spPr>
          <a:xfrm>
            <a:off x="2838450" y="2076450"/>
            <a:ext cx="1466850" cy="495300"/>
          </a:xfrm>
          <a:prstGeom prst="rect">
            <a:avLst/>
          </a:prstGeom>
          <a:noFill/>
          <a:ln w="0">
            <a:noFill/>
            <a:prstDash val="solid"/>
          </a:ln>
        </p:spPr>
        <p:txBody>
          <a:bodyPr/>
          <a:lstStyle/>
          <a:p>
            <a:pPr algn="ctr">
              <a:defRPr sz="2550" b="1">
                <a:solidFill>
                  <a:srgbClr val="2563EB"/>
                </a:solidFill>
              </a:defRPr>
            </a:pPr>
            <a:r>
              <a:rPr sz="2550" b="1">
                <a:solidFill>
                  <a:srgbClr val="2563EB"/>
                </a:solidFill>
              </a:rPr>
              <a:t>97,19%</a:t>
            </a:r>
          </a:p>
        </p:txBody>
      </p:sp>
      <p:sp>
        <p:nvSpPr>
          <p:cNvPr id="9" name="Rectangle 8">
            <a:extLst>
              <a:ext uri="{FF2B5EF4-FFF2-40B4-BE49-F238E27FC236}">
                <a16:creationId xmlns:a16="http://schemas.microsoft.com/office/drawing/2014/main" id="{E4DBDD0E-EF28-43B7-A1FA-5CD297E52FA9}"/>
              </a:ext>
            </a:extLst>
          </p:cNvPr>
          <p:cNvSpPr>
            <a:spLocks noGrp="1"/>
          </p:cNvSpPr>
          <p:nvPr/>
        </p:nvSpPr>
        <p:spPr>
          <a:xfrm>
            <a:off x="2838450" y="2647950"/>
            <a:ext cx="14668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Weighted F1</a:t>
            </a:r>
          </a:p>
        </p:txBody>
      </p:sp>
      <p:sp>
        <p:nvSpPr>
          <p:cNvPr id="10" name="Rectangle 9">
            <a:extLst>
              <a:ext uri="{FF2B5EF4-FFF2-40B4-BE49-F238E27FC236}">
                <a16:creationId xmlns:a16="http://schemas.microsoft.com/office/drawing/2014/main" id="{3140F417-5FF2-4216-929F-02E4F4585604}"/>
              </a:ext>
            </a:extLst>
          </p:cNvPr>
          <p:cNvSpPr>
            <a:spLocks noGrp="1"/>
          </p:cNvSpPr>
          <p:nvPr/>
        </p:nvSpPr>
        <p:spPr>
          <a:xfrm>
            <a:off x="4667250" y="1905000"/>
            <a:ext cx="1809750" cy="1219200"/>
          </a:xfrm>
          <a:prstGeom prst="rect">
            <a:avLst/>
          </a:prstGeom>
          <a:solidFill>
            <a:srgbClr val="F3F4F6"/>
          </a:solidFill>
          <a:ln w="9525">
            <a:solidFill>
              <a:srgbClr val="CBD5E1"/>
            </a:solidFill>
            <a:prstDash val="solid"/>
          </a:ln>
        </p:spPr>
      </p:sp>
      <p:sp>
        <p:nvSpPr>
          <p:cNvPr id="11" name="Rectangle 10">
            <a:extLst>
              <a:ext uri="{FF2B5EF4-FFF2-40B4-BE49-F238E27FC236}">
                <a16:creationId xmlns:a16="http://schemas.microsoft.com/office/drawing/2014/main" id="{4CFBE8D7-3CD5-49EB-B4CC-47D48892D3E0}"/>
              </a:ext>
            </a:extLst>
          </p:cNvPr>
          <p:cNvSpPr>
            <a:spLocks noGrp="1"/>
          </p:cNvSpPr>
          <p:nvPr/>
        </p:nvSpPr>
        <p:spPr>
          <a:xfrm>
            <a:off x="4838700" y="2076450"/>
            <a:ext cx="1466850" cy="495300"/>
          </a:xfrm>
          <a:prstGeom prst="rect">
            <a:avLst/>
          </a:prstGeom>
          <a:noFill/>
          <a:ln w="0">
            <a:noFill/>
            <a:prstDash val="solid"/>
          </a:ln>
        </p:spPr>
        <p:txBody>
          <a:bodyPr/>
          <a:lstStyle/>
          <a:p>
            <a:pPr algn="ctr">
              <a:defRPr sz="2550" b="1">
                <a:solidFill>
                  <a:srgbClr val="D97706"/>
                </a:solidFill>
              </a:defRPr>
            </a:pPr>
            <a:r>
              <a:rPr sz="2550" b="1">
                <a:solidFill>
                  <a:srgbClr val="D97706"/>
                </a:solidFill>
              </a:rPr>
              <a:t>97,22%</a:t>
            </a:r>
          </a:p>
        </p:txBody>
      </p:sp>
      <p:sp>
        <p:nvSpPr>
          <p:cNvPr id="12" name="Rectangle 11">
            <a:extLst>
              <a:ext uri="{FF2B5EF4-FFF2-40B4-BE49-F238E27FC236}">
                <a16:creationId xmlns:a16="http://schemas.microsoft.com/office/drawing/2014/main" id="{BE744DD6-D5FA-4A26-8148-11231E25B02F}"/>
              </a:ext>
            </a:extLst>
          </p:cNvPr>
          <p:cNvSpPr>
            <a:spLocks noGrp="1"/>
          </p:cNvSpPr>
          <p:nvPr/>
        </p:nvSpPr>
        <p:spPr>
          <a:xfrm>
            <a:off x="4838700" y="2647950"/>
            <a:ext cx="14668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Precision</a:t>
            </a:r>
          </a:p>
        </p:txBody>
      </p:sp>
      <p:sp>
        <p:nvSpPr>
          <p:cNvPr id="13" name="Rectangle 12">
            <a:extLst>
              <a:ext uri="{FF2B5EF4-FFF2-40B4-BE49-F238E27FC236}">
                <a16:creationId xmlns:a16="http://schemas.microsoft.com/office/drawing/2014/main" id="{6221E2D7-A27B-464F-A4D7-0D35776BBA8C}"/>
              </a:ext>
            </a:extLst>
          </p:cNvPr>
          <p:cNvSpPr>
            <a:spLocks noGrp="1"/>
          </p:cNvSpPr>
          <p:nvPr/>
        </p:nvSpPr>
        <p:spPr>
          <a:xfrm>
            <a:off x="6667500" y="1905000"/>
            <a:ext cx="1809750" cy="1219200"/>
          </a:xfrm>
          <a:prstGeom prst="rect">
            <a:avLst/>
          </a:prstGeom>
          <a:solidFill>
            <a:srgbClr val="F3F4F6"/>
          </a:solidFill>
          <a:ln w="9525">
            <a:solidFill>
              <a:srgbClr val="CBD5E1"/>
            </a:solidFill>
            <a:prstDash val="solid"/>
          </a:ln>
        </p:spPr>
      </p:sp>
      <p:sp>
        <p:nvSpPr>
          <p:cNvPr id="14" name="Rectangle 13">
            <a:extLst>
              <a:ext uri="{FF2B5EF4-FFF2-40B4-BE49-F238E27FC236}">
                <a16:creationId xmlns:a16="http://schemas.microsoft.com/office/drawing/2014/main" id="{D1BE31D1-717A-4AA9-9401-BDDCBB0C23FD}"/>
              </a:ext>
            </a:extLst>
          </p:cNvPr>
          <p:cNvSpPr>
            <a:spLocks noGrp="1"/>
          </p:cNvSpPr>
          <p:nvPr/>
        </p:nvSpPr>
        <p:spPr>
          <a:xfrm>
            <a:off x="6838950" y="2076450"/>
            <a:ext cx="1466850" cy="495300"/>
          </a:xfrm>
          <a:prstGeom prst="rect">
            <a:avLst/>
          </a:prstGeom>
          <a:noFill/>
          <a:ln w="0">
            <a:noFill/>
            <a:prstDash val="solid"/>
          </a:ln>
        </p:spPr>
        <p:txBody>
          <a:bodyPr/>
          <a:lstStyle/>
          <a:p>
            <a:pPr algn="ctr">
              <a:defRPr sz="2550" b="1">
                <a:solidFill>
                  <a:srgbClr val="DC2626"/>
                </a:solidFill>
              </a:defRPr>
            </a:pPr>
            <a:r>
              <a:rPr sz="2550" b="1">
                <a:solidFill>
                  <a:srgbClr val="DC2626"/>
                </a:solidFill>
              </a:rPr>
              <a:t>890</a:t>
            </a:r>
          </a:p>
        </p:txBody>
      </p:sp>
      <p:sp>
        <p:nvSpPr>
          <p:cNvPr id="15" name="Rectangle 14">
            <a:extLst>
              <a:ext uri="{FF2B5EF4-FFF2-40B4-BE49-F238E27FC236}">
                <a16:creationId xmlns:a16="http://schemas.microsoft.com/office/drawing/2014/main" id="{0A306D89-F0AF-4D5F-B474-C67B679CFA09}"/>
              </a:ext>
            </a:extLst>
          </p:cNvPr>
          <p:cNvSpPr>
            <a:spLocks noGrp="1"/>
          </p:cNvSpPr>
          <p:nvPr/>
        </p:nvSpPr>
        <p:spPr>
          <a:xfrm>
            <a:off x="6838950" y="2647950"/>
            <a:ext cx="146685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Test images</a:t>
            </a:r>
          </a:p>
        </p:txBody>
      </p:sp>
      <p:pic>
        <p:nvPicPr>
          <p:cNvPr id="34" name="Picture 33"/>
          <p:cNvPicPr>
            <a:picLocks noChangeAspect="1"/>
          </p:cNvPicPr>
          <p:nvPr/>
        </p:nvPicPr>
        <p:blipFill>
          <a:blip r:embed="rId3"/>
          <a:stretch/>
        </p:blipFill>
        <p:spPr>
          <a:xfrm>
            <a:off x="1657458" y="3476625"/>
            <a:ext cx="3162085" cy="2476500"/>
          </a:xfrm>
          <a:prstGeom prst="rect">
            <a:avLst/>
          </a:prstGeom>
        </p:spPr>
      </p:pic>
      <p:pic>
        <p:nvPicPr>
          <p:cNvPr id="35" name="Picture 34"/>
          <p:cNvPicPr>
            <a:picLocks noChangeAspect="1"/>
          </p:cNvPicPr>
          <p:nvPr/>
        </p:nvPicPr>
        <p:blipFill>
          <a:blip r:embed="rId4"/>
          <a:stretch/>
        </p:blipFill>
        <p:spPr>
          <a:xfrm>
            <a:off x="6286500" y="3736480"/>
            <a:ext cx="4762500" cy="1956790"/>
          </a:xfrm>
          <a:prstGeom prst="rect">
            <a:avLst/>
          </a:prstGeom>
        </p:spPr>
      </p:pic>
      <p:sp>
        <p:nvSpPr>
          <p:cNvPr id="18" name="Rectangle 17">
            <a:extLst>
              <a:ext uri="{FF2B5EF4-FFF2-40B4-BE49-F238E27FC236}">
                <a16:creationId xmlns:a16="http://schemas.microsoft.com/office/drawing/2014/main" id="{A8FCE0F8-9480-43B1-8743-D26280A294FF}"/>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14/21</a:t>
            </a:r>
          </a:p>
        </p:txBody>
      </p:sp>
    </p:spTree>
    <p:extLst>
      <p:ext uri="{BB962C8B-B14F-4D97-AF65-F5344CB8AC3E}">
        <p14:creationId xmlns:p14="http://schemas.microsoft.com/office/powerpoint/2010/main" val="1845152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C0762FEE-0F26-4642-B8D6-6B99509777E3}"/>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F1 là cấu hình segmentation tốt nhất trên GT_OK</a:t>
            </a:r>
          </a:p>
        </p:txBody>
      </p:sp>
      <p:sp>
        <p:nvSpPr>
          <p:cNvPr id="2" name="Rectangle 1">
            <a:extLst>
              <a:ext uri="{FF2B5EF4-FFF2-40B4-BE49-F238E27FC236}">
                <a16:creationId xmlns:a16="http://schemas.microsoft.com/office/drawing/2014/main" id="{FA58FF2E-5DF9-44B8-BCFF-B2A67C939F38}"/>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Segmentation results</a:t>
            </a:r>
          </a:p>
        </p:txBody>
      </p:sp>
      <p:sp>
        <p:nvSpPr>
          <p:cNvPr id="3" name="Rectangle 2">
            <a:extLst>
              <a:ext uri="{FF2B5EF4-FFF2-40B4-BE49-F238E27FC236}">
                <a16:creationId xmlns:a16="http://schemas.microsoft.com/office/drawing/2014/main" id="{B0719B80-7C24-4F46-8FB1-1289FA7CCD80}"/>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2C292292-4892-443D-9260-44D9FA12EDD2}"/>
              </a:ext>
            </a:extLst>
          </p:cNvPr>
          <p:cNvSpPr>
            <a:spLocks noGrp="1"/>
          </p:cNvSpPr>
          <p:nvPr/>
        </p:nvSpPr>
        <p:spPr>
          <a:xfrm>
            <a:off x="666750" y="1885950"/>
            <a:ext cx="1238250" cy="590550"/>
          </a:xfrm>
          <a:prstGeom prst="rect">
            <a:avLst/>
          </a:prstGeom>
          <a:solidFill>
            <a:srgbClr val="DCFCE7"/>
          </a:solidFill>
          <a:ln w="9525">
            <a:solidFill>
              <a:srgbClr val="CBD5E1"/>
            </a:solidFill>
            <a:prstDash val="solid"/>
          </a:ln>
        </p:spPr>
      </p:sp>
      <p:sp>
        <p:nvSpPr>
          <p:cNvPr id="5" name="Rectangle 4">
            <a:extLst>
              <a:ext uri="{FF2B5EF4-FFF2-40B4-BE49-F238E27FC236}">
                <a16:creationId xmlns:a16="http://schemas.microsoft.com/office/drawing/2014/main" id="{843C7DD7-9702-4FA8-A338-480150B7BB55}"/>
              </a:ext>
            </a:extLst>
          </p:cNvPr>
          <p:cNvSpPr>
            <a:spLocks noGrp="1"/>
          </p:cNvSpPr>
          <p:nvPr/>
        </p:nvSpPr>
        <p:spPr>
          <a:xfrm>
            <a:off x="742950" y="1962150"/>
            <a:ext cx="1085850" cy="476250"/>
          </a:xfrm>
          <a:prstGeom prst="rect">
            <a:avLst/>
          </a:prstGeom>
          <a:noFill/>
          <a:ln w="0">
            <a:noFill/>
            <a:prstDash val="solid"/>
          </a:ln>
        </p:spPr>
        <p:txBody>
          <a:bodyPr/>
          <a:lstStyle/>
          <a:p>
            <a:pPr algn="l">
              <a:defRPr sz="1200" b="1">
                <a:solidFill>
                  <a:srgbClr val="111827"/>
                </a:solidFill>
              </a:defRPr>
            </a:pPr>
            <a:r>
              <a:rPr sz="1200" b="1">
                <a:solidFill>
                  <a:srgbClr val="111827"/>
                </a:solidFill>
              </a:rPr>
              <a:t>Method</a:t>
            </a:r>
          </a:p>
        </p:txBody>
      </p:sp>
      <p:sp>
        <p:nvSpPr>
          <p:cNvPr id="6" name="Rectangle 5">
            <a:extLst>
              <a:ext uri="{FF2B5EF4-FFF2-40B4-BE49-F238E27FC236}">
                <a16:creationId xmlns:a16="http://schemas.microsoft.com/office/drawing/2014/main" id="{A9F87855-531D-47D9-8C65-0B38D2DE939D}"/>
              </a:ext>
            </a:extLst>
          </p:cNvPr>
          <p:cNvSpPr>
            <a:spLocks noGrp="1"/>
          </p:cNvSpPr>
          <p:nvPr/>
        </p:nvSpPr>
        <p:spPr>
          <a:xfrm>
            <a:off x="1905000" y="1885950"/>
            <a:ext cx="1143000" cy="590550"/>
          </a:xfrm>
          <a:prstGeom prst="rect">
            <a:avLst/>
          </a:prstGeom>
          <a:solidFill>
            <a:srgbClr val="DCFCE7"/>
          </a:solidFill>
          <a:ln w="9525">
            <a:solidFill>
              <a:srgbClr val="CBD5E1"/>
            </a:solidFill>
            <a:prstDash val="solid"/>
          </a:ln>
        </p:spPr>
      </p:sp>
      <p:sp>
        <p:nvSpPr>
          <p:cNvPr id="7" name="Rectangle 6">
            <a:extLst>
              <a:ext uri="{FF2B5EF4-FFF2-40B4-BE49-F238E27FC236}">
                <a16:creationId xmlns:a16="http://schemas.microsoft.com/office/drawing/2014/main" id="{31499E64-7C8E-462F-AA74-39CE82B31864}"/>
              </a:ext>
            </a:extLst>
          </p:cNvPr>
          <p:cNvSpPr>
            <a:spLocks noGrp="1"/>
          </p:cNvSpPr>
          <p:nvPr/>
        </p:nvSpPr>
        <p:spPr>
          <a:xfrm>
            <a:off x="1981200" y="1962150"/>
            <a:ext cx="990600" cy="476250"/>
          </a:xfrm>
          <a:prstGeom prst="rect">
            <a:avLst/>
          </a:prstGeom>
          <a:noFill/>
          <a:ln w="0">
            <a:noFill/>
            <a:prstDash val="solid"/>
          </a:ln>
        </p:spPr>
        <p:txBody>
          <a:bodyPr/>
          <a:lstStyle/>
          <a:p>
            <a:pPr algn="l">
              <a:defRPr sz="1200" b="1">
                <a:solidFill>
                  <a:srgbClr val="111827"/>
                </a:solidFill>
              </a:defRPr>
            </a:pPr>
            <a:r>
              <a:rPr sz="1200" b="1">
                <a:solidFill>
                  <a:srgbClr val="111827"/>
                </a:solidFill>
              </a:rPr>
              <a:t>IoU</a:t>
            </a:r>
          </a:p>
        </p:txBody>
      </p:sp>
      <p:sp>
        <p:nvSpPr>
          <p:cNvPr id="8" name="Rectangle 7">
            <a:extLst>
              <a:ext uri="{FF2B5EF4-FFF2-40B4-BE49-F238E27FC236}">
                <a16:creationId xmlns:a16="http://schemas.microsoft.com/office/drawing/2014/main" id="{B9FF513A-1DD3-4A90-ACB7-6F86F9B8C8B0}"/>
              </a:ext>
            </a:extLst>
          </p:cNvPr>
          <p:cNvSpPr>
            <a:spLocks noGrp="1"/>
          </p:cNvSpPr>
          <p:nvPr/>
        </p:nvSpPr>
        <p:spPr>
          <a:xfrm>
            <a:off x="3048000" y="1885950"/>
            <a:ext cx="1143000" cy="590550"/>
          </a:xfrm>
          <a:prstGeom prst="rect">
            <a:avLst/>
          </a:prstGeom>
          <a:solidFill>
            <a:srgbClr val="DCFCE7"/>
          </a:solidFill>
          <a:ln w="9525">
            <a:solidFill>
              <a:srgbClr val="CBD5E1"/>
            </a:solidFill>
            <a:prstDash val="solid"/>
          </a:ln>
        </p:spPr>
      </p:sp>
      <p:sp>
        <p:nvSpPr>
          <p:cNvPr id="9" name="Rectangle 8">
            <a:extLst>
              <a:ext uri="{FF2B5EF4-FFF2-40B4-BE49-F238E27FC236}">
                <a16:creationId xmlns:a16="http://schemas.microsoft.com/office/drawing/2014/main" id="{D9563795-84CF-443C-8309-E41C8CC8043D}"/>
              </a:ext>
            </a:extLst>
          </p:cNvPr>
          <p:cNvSpPr>
            <a:spLocks noGrp="1"/>
          </p:cNvSpPr>
          <p:nvPr/>
        </p:nvSpPr>
        <p:spPr>
          <a:xfrm>
            <a:off x="3124200" y="1962150"/>
            <a:ext cx="990600" cy="476250"/>
          </a:xfrm>
          <a:prstGeom prst="rect">
            <a:avLst/>
          </a:prstGeom>
          <a:noFill/>
          <a:ln w="0">
            <a:noFill/>
            <a:prstDash val="solid"/>
          </a:ln>
        </p:spPr>
        <p:txBody>
          <a:bodyPr/>
          <a:lstStyle/>
          <a:p>
            <a:pPr algn="l">
              <a:defRPr sz="1200" b="1">
                <a:solidFill>
                  <a:srgbClr val="111827"/>
                </a:solidFill>
              </a:defRPr>
            </a:pPr>
            <a:r>
              <a:rPr sz="1200" b="1">
                <a:solidFill>
                  <a:srgbClr val="111827"/>
                </a:solidFill>
              </a:rPr>
              <a:t>Dice</a:t>
            </a:r>
          </a:p>
        </p:txBody>
      </p:sp>
      <p:sp>
        <p:nvSpPr>
          <p:cNvPr id="10" name="Rectangle 9">
            <a:extLst>
              <a:ext uri="{FF2B5EF4-FFF2-40B4-BE49-F238E27FC236}">
                <a16:creationId xmlns:a16="http://schemas.microsoft.com/office/drawing/2014/main" id="{7B630D14-69A3-489C-81B8-2CCA4D1BC154}"/>
              </a:ext>
            </a:extLst>
          </p:cNvPr>
          <p:cNvSpPr>
            <a:spLocks noGrp="1"/>
          </p:cNvSpPr>
          <p:nvPr/>
        </p:nvSpPr>
        <p:spPr>
          <a:xfrm>
            <a:off x="4191000" y="1885950"/>
            <a:ext cx="1143000" cy="590550"/>
          </a:xfrm>
          <a:prstGeom prst="rect">
            <a:avLst/>
          </a:prstGeom>
          <a:solidFill>
            <a:srgbClr val="DCFCE7"/>
          </a:solidFill>
          <a:ln w="9525">
            <a:solidFill>
              <a:srgbClr val="CBD5E1"/>
            </a:solidFill>
            <a:prstDash val="solid"/>
          </a:ln>
        </p:spPr>
      </p:sp>
      <p:sp>
        <p:nvSpPr>
          <p:cNvPr id="11" name="Rectangle 10">
            <a:extLst>
              <a:ext uri="{FF2B5EF4-FFF2-40B4-BE49-F238E27FC236}">
                <a16:creationId xmlns:a16="http://schemas.microsoft.com/office/drawing/2014/main" id="{65D6F806-862E-401C-82A7-8616D3298557}"/>
              </a:ext>
            </a:extLst>
          </p:cNvPr>
          <p:cNvSpPr>
            <a:spLocks noGrp="1"/>
          </p:cNvSpPr>
          <p:nvPr/>
        </p:nvSpPr>
        <p:spPr>
          <a:xfrm>
            <a:off x="4267200" y="1962150"/>
            <a:ext cx="990600" cy="476250"/>
          </a:xfrm>
          <a:prstGeom prst="rect">
            <a:avLst/>
          </a:prstGeom>
          <a:noFill/>
          <a:ln w="0">
            <a:noFill/>
            <a:prstDash val="solid"/>
          </a:ln>
        </p:spPr>
        <p:txBody>
          <a:bodyPr/>
          <a:lstStyle/>
          <a:p>
            <a:pPr algn="l">
              <a:defRPr sz="1200" b="1">
                <a:solidFill>
                  <a:srgbClr val="111827"/>
                </a:solidFill>
              </a:defRPr>
            </a:pPr>
            <a:r>
              <a:rPr sz="1200" b="1">
                <a:solidFill>
                  <a:srgbClr val="111827"/>
                </a:solidFill>
              </a:rPr>
              <a:t>Precision</a:t>
            </a:r>
          </a:p>
        </p:txBody>
      </p:sp>
      <p:sp>
        <p:nvSpPr>
          <p:cNvPr id="12" name="Rectangle 11">
            <a:extLst>
              <a:ext uri="{FF2B5EF4-FFF2-40B4-BE49-F238E27FC236}">
                <a16:creationId xmlns:a16="http://schemas.microsoft.com/office/drawing/2014/main" id="{BA98AEBA-AD49-4BF1-BFD7-A15A7A734B9A}"/>
              </a:ext>
            </a:extLst>
          </p:cNvPr>
          <p:cNvSpPr>
            <a:spLocks noGrp="1"/>
          </p:cNvSpPr>
          <p:nvPr/>
        </p:nvSpPr>
        <p:spPr>
          <a:xfrm>
            <a:off x="5334000" y="1885950"/>
            <a:ext cx="1143000" cy="590550"/>
          </a:xfrm>
          <a:prstGeom prst="rect">
            <a:avLst/>
          </a:prstGeom>
          <a:solidFill>
            <a:srgbClr val="DCFCE7"/>
          </a:solidFill>
          <a:ln w="9525">
            <a:solidFill>
              <a:srgbClr val="CBD5E1"/>
            </a:solidFill>
            <a:prstDash val="solid"/>
          </a:ln>
        </p:spPr>
      </p:sp>
      <p:sp>
        <p:nvSpPr>
          <p:cNvPr id="13" name="Rectangle 12">
            <a:extLst>
              <a:ext uri="{FF2B5EF4-FFF2-40B4-BE49-F238E27FC236}">
                <a16:creationId xmlns:a16="http://schemas.microsoft.com/office/drawing/2014/main" id="{EA66808A-3D7D-4E6B-8AB9-13F8A4C4F0C0}"/>
              </a:ext>
            </a:extLst>
          </p:cNvPr>
          <p:cNvSpPr>
            <a:spLocks noGrp="1"/>
          </p:cNvSpPr>
          <p:nvPr/>
        </p:nvSpPr>
        <p:spPr>
          <a:xfrm>
            <a:off x="5410200" y="1962150"/>
            <a:ext cx="990600" cy="476250"/>
          </a:xfrm>
          <a:prstGeom prst="rect">
            <a:avLst/>
          </a:prstGeom>
          <a:noFill/>
          <a:ln w="0">
            <a:noFill/>
            <a:prstDash val="solid"/>
          </a:ln>
        </p:spPr>
        <p:txBody>
          <a:bodyPr/>
          <a:lstStyle/>
          <a:p>
            <a:pPr algn="l">
              <a:defRPr sz="1200" b="1">
                <a:solidFill>
                  <a:srgbClr val="111827"/>
                </a:solidFill>
              </a:defRPr>
            </a:pPr>
            <a:r>
              <a:rPr sz="1200" b="1">
                <a:solidFill>
                  <a:srgbClr val="111827"/>
                </a:solidFill>
              </a:rPr>
              <a:t>Recall</a:t>
            </a:r>
          </a:p>
        </p:txBody>
      </p:sp>
      <p:sp>
        <p:nvSpPr>
          <p:cNvPr id="14" name="Rectangle 13">
            <a:extLst>
              <a:ext uri="{FF2B5EF4-FFF2-40B4-BE49-F238E27FC236}">
                <a16:creationId xmlns:a16="http://schemas.microsoft.com/office/drawing/2014/main" id="{8A8096DE-F126-4C9D-9922-26E165403A92}"/>
              </a:ext>
            </a:extLst>
          </p:cNvPr>
          <p:cNvSpPr>
            <a:spLocks noGrp="1"/>
          </p:cNvSpPr>
          <p:nvPr/>
        </p:nvSpPr>
        <p:spPr>
          <a:xfrm>
            <a:off x="666750" y="2476500"/>
            <a:ext cx="1238250" cy="590550"/>
          </a:xfrm>
          <a:prstGeom prst="rect">
            <a:avLst/>
          </a:prstGeom>
          <a:solidFill>
            <a:srgbClr val="FFFFFF"/>
          </a:solidFill>
          <a:ln w="9525">
            <a:solidFill>
              <a:srgbClr val="CBD5E1"/>
            </a:solidFill>
            <a:prstDash val="solid"/>
          </a:ln>
        </p:spPr>
      </p:sp>
      <p:sp>
        <p:nvSpPr>
          <p:cNvPr id="15" name="Rectangle 14">
            <a:extLst>
              <a:ext uri="{FF2B5EF4-FFF2-40B4-BE49-F238E27FC236}">
                <a16:creationId xmlns:a16="http://schemas.microsoft.com/office/drawing/2014/main" id="{39F57365-37C7-45A2-A2C0-357B3509BB14}"/>
              </a:ext>
            </a:extLst>
          </p:cNvPr>
          <p:cNvSpPr>
            <a:spLocks noGrp="1"/>
          </p:cNvSpPr>
          <p:nvPr/>
        </p:nvSpPr>
        <p:spPr>
          <a:xfrm>
            <a:off x="742950" y="2552700"/>
            <a:ext cx="108585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E1</a:t>
            </a:r>
          </a:p>
        </p:txBody>
      </p:sp>
      <p:sp>
        <p:nvSpPr>
          <p:cNvPr id="16" name="Rectangle 15">
            <a:extLst>
              <a:ext uri="{FF2B5EF4-FFF2-40B4-BE49-F238E27FC236}">
                <a16:creationId xmlns:a16="http://schemas.microsoft.com/office/drawing/2014/main" id="{136A44A6-B0DA-4ABE-9DC9-21AD7A9A655B}"/>
              </a:ext>
            </a:extLst>
          </p:cNvPr>
          <p:cNvSpPr>
            <a:spLocks noGrp="1"/>
          </p:cNvSpPr>
          <p:nvPr/>
        </p:nvSpPr>
        <p:spPr>
          <a:xfrm>
            <a:off x="1905000" y="2476500"/>
            <a:ext cx="1143000" cy="590550"/>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4C929926-7849-4E00-8B67-CE1D7C27DFC0}"/>
              </a:ext>
            </a:extLst>
          </p:cNvPr>
          <p:cNvSpPr>
            <a:spLocks noGrp="1"/>
          </p:cNvSpPr>
          <p:nvPr/>
        </p:nvSpPr>
        <p:spPr>
          <a:xfrm>
            <a:off x="1981200" y="25527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0,2169</a:t>
            </a:r>
          </a:p>
        </p:txBody>
      </p:sp>
      <p:sp>
        <p:nvSpPr>
          <p:cNvPr id="18" name="Rectangle 17">
            <a:extLst>
              <a:ext uri="{FF2B5EF4-FFF2-40B4-BE49-F238E27FC236}">
                <a16:creationId xmlns:a16="http://schemas.microsoft.com/office/drawing/2014/main" id="{8D0F5C9F-E43A-4D24-B98C-5EA18690BCBD}"/>
              </a:ext>
            </a:extLst>
          </p:cNvPr>
          <p:cNvSpPr>
            <a:spLocks noGrp="1"/>
          </p:cNvSpPr>
          <p:nvPr/>
        </p:nvSpPr>
        <p:spPr>
          <a:xfrm>
            <a:off x="3048000" y="2476500"/>
            <a:ext cx="1143000" cy="590550"/>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7870A954-0EEE-4E75-843D-929C132EF1D8}"/>
              </a:ext>
            </a:extLst>
          </p:cNvPr>
          <p:cNvSpPr>
            <a:spLocks noGrp="1"/>
          </p:cNvSpPr>
          <p:nvPr/>
        </p:nvSpPr>
        <p:spPr>
          <a:xfrm>
            <a:off x="3124200" y="25527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0,3565</a:t>
            </a:r>
          </a:p>
        </p:txBody>
      </p:sp>
      <p:sp>
        <p:nvSpPr>
          <p:cNvPr id="20" name="Rectangle 19">
            <a:extLst>
              <a:ext uri="{FF2B5EF4-FFF2-40B4-BE49-F238E27FC236}">
                <a16:creationId xmlns:a16="http://schemas.microsoft.com/office/drawing/2014/main" id="{338A6985-A466-4E9D-B9A6-53D5DB01A6AE}"/>
              </a:ext>
            </a:extLst>
          </p:cNvPr>
          <p:cNvSpPr>
            <a:spLocks noGrp="1"/>
          </p:cNvSpPr>
          <p:nvPr/>
        </p:nvSpPr>
        <p:spPr>
          <a:xfrm>
            <a:off x="4191000" y="2476500"/>
            <a:ext cx="1143000" cy="590550"/>
          </a:xfrm>
          <a:prstGeom prst="rect">
            <a:avLst/>
          </a:prstGeom>
          <a:solidFill>
            <a:srgbClr val="FFFFFF"/>
          </a:solidFill>
          <a:ln w="9525">
            <a:solidFill>
              <a:srgbClr val="CBD5E1"/>
            </a:solidFill>
            <a:prstDash val="solid"/>
          </a:ln>
        </p:spPr>
      </p:sp>
      <p:sp>
        <p:nvSpPr>
          <p:cNvPr id="21" name="Rectangle 20">
            <a:extLst>
              <a:ext uri="{FF2B5EF4-FFF2-40B4-BE49-F238E27FC236}">
                <a16:creationId xmlns:a16="http://schemas.microsoft.com/office/drawing/2014/main" id="{3CC1EA32-62C2-41B3-8FB0-420DF205B7EB}"/>
              </a:ext>
            </a:extLst>
          </p:cNvPr>
          <p:cNvSpPr>
            <a:spLocks noGrp="1"/>
          </p:cNvSpPr>
          <p:nvPr/>
        </p:nvSpPr>
        <p:spPr>
          <a:xfrm>
            <a:off x="4267200" y="25527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0,2460</a:t>
            </a:r>
          </a:p>
        </p:txBody>
      </p:sp>
      <p:sp>
        <p:nvSpPr>
          <p:cNvPr id="22" name="Rectangle 21">
            <a:extLst>
              <a:ext uri="{FF2B5EF4-FFF2-40B4-BE49-F238E27FC236}">
                <a16:creationId xmlns:a16="http://schemas.microsoft.com/office/drawing/2014/main" id="{C588D066-605B-4526-930E-AA943CAABED6}"/>
              </a:ext>
            </a:extLst>
          </p:cNvPr>
          <p:cNvSpPr>
            <a:spLocks noGrp="1"/>
          </p:cNvSpPr>
          <p:nvPr/>
        </p:nvSpPr>
        <p:spPr>
          <a:xfrm>
            <a:off x="5334000" y="2476500"/>
            <a:ext cx="1143000" cy="590550"/>
          </a:xfrm>
          <a:prstGeom prst="rect">
            <a:avLst/>
          </a:prstGeom>
          <a:solidFill>
            <a:srgbClr val="FFFFFF"/>
          </a:solidFill>
          <a:ln w="9525">
            <a:solidFill>
              <a:srgbClr val="CBD5E1"/>
            </a:solidFill>
            <a:prstDash val="solid"/>
          </a:ln>
        </p:spPr>
      </p:sp>
      <p:sp>
        <p:nvSpPr>
          <p:cNvPr id="23" name="Rectangle 22">
            <a:extLst>
              <a:ext uri="{FF2B5EF4-FFF2-40B4-BE49-F238E27FC236}">
                <a16:creationId xmlns:a16="http://schemas.microsoft.com/office/drawing/2014/main" id="{861D192F-2DDE-4E98-AE85-1AF12E3472F1}"/>
              </a:ext>
            </a:extLst>
          </p:cNvPr>
          <p:cNvSpPr>
            <a:spLocks noGrp="1"/>
          </p:cNvSpPr>
          <p:nvPr/>
        </p:nvSpPr>
        <p:spPr>
          <a:xfrm>
            <a:off x="5410200" y="25527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0,6472</a:t>
            </a:r>
          </a:p>
        </p:txBody>
      </p:sp>
      <p:sp>
        <p:nvSpPr>
          <p:cNvPr id="24" name="Rectangle 23">
            <a:extLst>
              <a:ext uri="{FF2B5EF4-FFF2-40B4-BE49-F238E27FC236}">
                <a16:creationId xmlns:a16="http://schemas.microsoft.com/office/drawing/2014/main" id="{5C086900-D6B4-4ECC-A87E-EBDC9969D110}"/>
              </a:ext>
            </a:extLst>
          </p:cNvPr>
          <p:cNvSpPr>
            <a:spLocks noGrp="1"/>
          </p:cNvSpPr>
          <p:nvPr/>
        </p:nvSpPr>
        <p:spPr>
          <a:xfrm>
            <a:off x="666750" y="3067050"/>
            <a:ext cx="1238250" cy="590550"/>
          </a:xfrm>
          <a:prstGeom prst="rect">
            <a:avLst/>
          </a:prstGeom>
          <a:solidFill>
            <a:srgbClr val="F8FAFC"/>
          </a:solidFill>
          <a:ln w="9525">
            <a:solidFill>
              <a:srgbClr val="CBD5E1"/>
            </a:solidFill>
            <a:prstDash val="solid"/>
          </a:ln>
        </p:spPr>
      </p:sp>
      <p:sp>
        <p:nvSpPr>
          <p:cNvPr id="25" name="Rectangle 24">
            <a:extLst>
              <a:ext uri="{FF2B5EF4-FFF2-40B4-BE49-F238E27FC236}">
                <a16:creationId xmlns:a16="http://schemas.microsoft.com/office/drawing/2014/main" id="{925F5E1F-37DD-4F60-AE91-7D00B5A840F7}"/>
              </a:ext>
            </a:extLst>
          </p:cNvPr>
          <p:cNvSpPr>
            <a:spLocks noGrp="1"/>
          </p:cNvSpPr>
          <p:nvPr/>
        </p:nvSpPr>
        <p:spPr>
          <a:xfrm>
            <a:off x="742950" y="3143250"/>
            <a:ext cx="108585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E2</a:t>
            </a:r>
          </a:p>
        </p:txBody>
      </p:sp>
      <p:sp>
        <p:nvSpPr>
          <p:cNvPr id="26" name="Rectangle 25">
            <a:extLst>
              <a:ext uri="{FF2B5EF4-FFF2-40B4-BE49-F238E27FC236}">
                <a16:creationId xmlns:a16="http://schemas.microsoft.com/office/drawing/2014/main" id="{29D40E67-5C06-426A-AF33-779366765D2C}"/>
              </a:ext>
            </a:extLst>
          </p:cNvPr>
          <p:cNvSpPr>
            <a:spLocks noGrp="1"/>
          </p:cNvSpPr>
          <p:nvPr/>
        </p:nvSpPr>
        <p:spPr>
          <a:xfrm>
            <a:off x="1905000" y="3067050"/>
            <a:ext cx="1143000" cy="590550"/>
          </a:xfrm>
          <a:prstGeom prst="rect">
            <a:avLst/>
          </a:prstGeom>
          <a:solidFill>
            <a:srgbClr val="F8FAFC"/>
          </a:solidFill>
          <a:ln w="9525">
            <a:solidFill>
              <a:srgbClr val="CBD5E1"/>
            </a:solidFill>
            <a:prstDash val="solid"/>
          </a:ln>
        </p:spPr>
      </p:sp>
      <p:sp>
        <p:nvSpPr>
          <p:cNvPr id="27" name="Rectangle 26">
            <a:extLst>
              <a:ext uri="{FF2B5EF4-FFF2-40B4-BE49-F238E27FC236}">
                <a16:creationId xmlns:a16="http://schemas.microsoft.com/office/drawing/2014/main" id="{38BCCA2E-4EDB-4BA6-89F5-B0D14E190255}"/>
              </a:ext>
            </a:extLst>
          </p:cNvPr>
          <p:cNvSpPr>
            <a:spLocks noGrp="1"/>
          </p:cNvSpPr>
          <p:nvPr/>
        </p:nvSpPr>
        <p:spPr>
          <a:xfrm>
            <a:off x="1981200" y="31432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0,1972</a:t>
            </a:r>
          </a:p>
        </p:txBody>
      </p:sp>
      <p:sp>
        <p:nvSpPr>
          <p:cNvPr id="28" name="Rectangle 27">
            <a:extLst>
              <a:ext uri="{FF2B5EF4-FFF2-40B4-BE49-F238E27FC236}">
                <a16:creationId xmlns:a16="http://schemas.microsoft.com/office/drawing/2014/main" id="{8C108262-CAEB-419B-B059-AB9BA3BDBD91}"/>
              </a:ext>
            </a:extLst>
          </p:cNvPr>
          <p:cNvSpPr>
            <a:spLocks noGrp="1"/>
          </p:cNvSpPr>
          <p:nvPr/>
        </p:nvSpPr>
        <p:spPr>
          <a:xfrm>
            <a:off x="3048000" y="3067050"/>
            <a:ext cx="1143000" cy="590550"/>
          </a:xfrm>
          <a:prstGeom prst="rect">
            <a:avLst/>
          </a:prstGeom>
          <a:solidFill>
            <a:srgbClr val="F8FAFC"/>
          </a:solidFill>
          <a:ln w="9525">
            <a:solidFill>
              <a:srgbClr val="CBD5E1"/>
            </a:solidFill>
            <a:prstDash val="solid"/>
          </a:ln>
        </p:spPr>
      </p:sp>
      <p:sp>
        <p:nvSpPr>
          <p:cNvPr id="29" name="Rectangle 28">
            <a:extLst>
              <a:ext uri="{FF2B5EF4-FFF2-40B4-BE49-F238E27FC236}">
                <a16:creationId xmlns:a16="http://schemas.microsoft.com/office/drawing/2014/main" id="{6EE23D2B-9319-47CD-BA3A-DF4FBE81C3B8}"/>
              </a:ext>
            </a:extLst>
          </p:cNvPr>
          <p:cNvSpPr>
            <a:spLocks noGrp="1"/>
          </p:cNvSpPr>
          <p:nvPr/>
        </p:nvSpPr>
        <p:spPr>
          <a:xfrm>
            <a:off x="3124200" y="31432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0,3294</a:t>
            </a:r>
          </a:p>
        </p:txBody>
      </p:sp>
      <p:sp>
        <p:nvSpPr>
          <p:cNvPr id="30" name="Rectangle 29">
            <a:extLst>
              <a:ext uri="{FF2B5EF4-FFF2-40B4-BE49-F238E27FC236}">
                <a16:creationId xmlns:a16="http://schemas.microsoft.com/office/drawing/2014/main" id="{C532CE39-FE35-4D38-A8BA-43D784E89A18}"/>
              </a:ext>
            </a:extLst>
          </p:cNvPr>
          <p:cNvSpPr>
            <a:spLocks noGrp="1"/>
          </p:cNvSpPr>
          <p:nvPr/>
        </p:nvSpPr>
        <p:spPr>
          <a:xfrm>
            <a:off x="4191000" y="3067050"/>
            <a:ext cx="1143000" cy="590550"/>
          </a:xfrm>
          <a:prstGeom prst="rect">
            <a:avLst/>
          </a:prstGeom>
          <a:solidFill>
            <a:srgbClr val="F8FAFC"/>
          </a:solidFill>
          <a:ln w="9525">
            <a:solidFill>
              <a:srgbClr val="CBD5E1"/>
            </a:solidFill>
            <a:prstDash val="solid"/>
          </a:ln>
        </p:spPr>
      </p:sp>
      <p:sp>
        <p:nvSpPr>
          <p:cNvPr id="31" name="Rectangle 30">
            <a:extLst>
              <a:ext uri="{FF2B5EF4-FFF2-40B4-BE49-F238E27FC236}">
                <a16:creationId xmlns:a16="http://schemas.microsoft.com/office/drawing/2014/main" id="{3A6A64C4-589D-43A2-84D8-DDD0E0613949}"/>
              </a:ext>
            </a:extLst>
          </p:cNvPr>
          <p:cNvSpPr>
            <a:spLocks noGrp="1"/>
          </p:cNvSpPr>
          <p:nvPr/>
        </p:nvSpPr>
        <p:spPr>
          <a:xfrm>
            <a:off x="4267200" y="31432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0,2459</a:t>
            </a:r>
          </a:p>
        </p:txBody>
      </p:sp>
      <p:sp>
        <p:nvSpPr>
          <p:cNvPr id="32" name="Rectangle 31">
            <a:extLst>
              <a:ext uri="{FF2B5EF4-FFF2-40B4-BE49-F238E27FC236}">
                <a16:creationId xmlns:a16="http://schemas.microsoft.com/office/drawing/2014/main" id="{EED49836-F2D5-4629-A5E2-2DB2AC20A92B}"/>
              </a:ext>
            </a:extLst>
          </p:cNvPr>
          <p:cNvSpPr>
            <a:spLocks noGrp="1"/>
          </p:cNvSpPr>
          <p:nvPr/>
        </p:nvSpPr>
        <p:spPr>
          <a:xfrm>
            <a:off x="5334000" y="3067050"/>
            <a:ext cx="1143000" cy="590550"/>
          </a:xfrm>
          <a:prstGeom prst="rect">
            <a:avLst/>
          </a:prstGeom>
          <a:solidFill>
            <a:srgbClr val="F8FAFC"/>
          </a:solidFill>
          <a:ln w="9525">
            <a:solidFill>
              <a:srgbClr val="CBD5E1"/>
            </a:solidFill>
            <a:prstDash val="solid"/>
          </a:ln>
        </p:spPr>
      </p:sp>
      <p:sp>
        <p:nvSpPr>
          <p:cNvPr id="33" name="Rectangle 32">
            <a:extLst>
              <a:ext uri="{FF2B5EF4-FFF2-40B4-BE49-F238E27FC236}">
                <a16:creationId xmlns:a16="http://schemas.microsoft.com/office/drawing/2014/main" id="{93D8A334-AB1D-417C-814F-FBD9A7B9B2B9}"/>
              </a:ext>
            </a:extLst>
          </p:cNvPr>
          <p:cNvSpPr>
            <a:spLocks noGrp="1"/>
          </p:cNvSpPr>
          <p:nvPr/>
        </p:nvSpPr>
        <p:spPr>
          <a:xfrm>
            <a:off x="5410200" y="31432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0,4987</a:t>
            </a:r>
          </a:p>
        </p:txBody>
      </p:sp>
      <p:sp>
        <p:nvSpPr>
          <p:cNvPr id="34" name="Rectangle 33">
            <a:extLst>
              <a:ext uri="{FF2B5EF4-FFF2-40B4-BE49-F238E27FC236}">
                <a16:creationId xmlns:a16="http://schemas.microsoft.com/office/drawing/2014/main" id="{F5041EEB-9A27-4830-A050-CFEEF694DB05}"/>
              </a:ext>
            </a:extLst>
          </p:cNvPr>
          <p:cNvSpPr>
            <a:spLocks noGrp="1"/>
          </p:cNvSpPr>
          <p:nvPr/>
        </p:nvSpPr>
        <p:spPr>
          <a:xfrm>
            <a:off x="666750" y="3657600"/>
            <a:ext cx="1238250" cy="590550"/>
          </a:xfrm>
          <a:prstGeom prst="rect">
            <a:avLst/>
          </a:prstGeom>
          <a:solidFill>
            <a:srgbClr val="FFFFFF"/>
          </a:solidFill>
          <a:ln w="9525">
            <a:solidFill>
              <a:srgbClr val="CBD5E1"/>
            </a:solidFill>
            <a:prstDash val="solid"/>
          </a:ln>
        </p:spPr>
      </p:sp>
      <p:sp>
        <p:nvSpPr>
          <p:cNvPr id="35" name="Rectangle 34">
            <a:extLst>
              <a:ext uri="{FF2B5EF4-FFF2-40B4-BE49-F238E27FC236}">
                <a16:creationId xmlns:a16="http://schemas.microsoft.com/office/drawing/2014/main" id="{DFCD847C-DDC4-4E81-82B9-453D0FF8FD71}"/>
              </a:ext>
            </a:extLst>
          </p:cNvPr>
          <p:cNvSpPr>
            <a:spLocks noGrp="1"/>
          </p:cNvSpPr>
          <p:nvPr/>
        </p:nvSpPr>
        <p:spPr>
          <a:xfrm>
            <a:off x="742950" y="3733800"/>
            <a:ext cx="108585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E3/SAM</a:t>
            </a:r>
          </a:p>
        </p:txBody>
      </p:sp>
      <p:sp>
        <p:nvSpPr>
          <p:cNvPr id="36" name="Rectangle 35">
            <a:extLst>
              <a:ext uri="{FF2B5EF4-FFF2-40B4-BE49-F238E27FC236}">
                <a16:creationId xmlns:a16="http://schemas.microsoft.com/office/drawing/2014/main" id="{AF9D4078-BBB2-425D-BC1A-D0675469B736}"/>
              </a:ext>
            </a:extLst>
          </p:cNvPr>
          <p:cNvSpPr>
            <a:spLocks noGrp="1"/>
          </p:cNvSpPr>
          <p:nvPr/>
        </p:nvSpPr>
        <p:spPr>
          <a:xfrm>
            <a:off x="1905000" y="3657600"/>
            <a:ext cx="1143000" cy="590550"/>
          </a:xfrm>
          <a:prstGeom prst="rect">
            <a:avLst/>
          </a:prstGeom>
          <a:solidFill>
            <a:srgbClr val="FFFFFF"/>
          </a:solidFill>
          <a:ln w="9525">
            <a:solidFill>
              <a:srgbClr val="CBD5E1"/>
            </a:solidFill>
            <a:prstDash val="solid"/>
          </a:ln>
        </p:spPr>
      </p:sp>
      <p:sp>
        <p:nvSpPr>
          <p:cNvPr id="37" name="Rectangle 36">
            <a:extLst>
              <a:ext uri="{FF2B5EF4-FFF2-40B4-BE49-F238E27FC236}">
                <a16:creationId xmlns:a16="http://schemas.microsoft.com/office/drawing/2014/main" id="{FC65747E-D00A-4E8C-A787-35241DDA42CE}"/>
              </a:ext>
            </a:extLst>
          </p:cNvPr>
          <p:cNvSpPr>
            <a:spLocks noGrp="1"/>
          </p:cNvSpPr>
          <p:nvPr/>
        </p:nvSpPr>
        <p:spPr>
          <a:xfrm>
            <a:off x="1981200" y="37338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0,1351</a:t>
            </a:r>
          </a:p>
        </p:txBody>
      </p:sp>
      <p:sp>
        <p:nvSpPr>
          <p:cNvPr id="38" name="Rectangle 37">
            <a:extLst>
              <a:ext uri="{FF2B5EF4-FFF2-40B4-BE49-F238E27FC236}">
                <a16:creationId xmlns:a16="http://schemas.microsoft.com/office/drawing/2014/main" id="{6063ECC1-A1F9-4B71-9039-D1089C6F72C7}"/>
              </a:ext>
            </a:extLst>
          </p:cNvPr>
          <p:cNvSpPr>
            <a:spLocks noGrp="1"/>
          </p:cNvSpPr>
          <p:nvPr/>
        </p:nvSpPr>
        <p:spPr>
          <a:xfrm>
            <a:off x="3048000" y="3657600"/>
            <a:ext cx="1143000" cy="590550"/>
          </a:xfrm>
          <a:prstGeom prst="rect">
            <a:avLst/>
          </a:prstGeom>
          <a:solidFill>
            <a:srgbClr val="FFFFFF"/>
          </a:solidFill>
          <a:ln w="9525">
            <a:solidFill>
              <a:srgbClr val="CBD5E1"/>
            </a:solidFill>
            <a:prstDash val="solid"/>
          </a:ln>
        </p:spPr>
      </p:sp>
      <p:sp>
        <p:nvSpPr>
          <p:cNvPr id="39" name="Rectangle 38">
            <a:extLst>
              <a:ext uri="{FF2B5EF4-FFF2-40B4-BE49-F238E27FC236}">
                <a16:creationId xmlns:a16="http://schemas.microsoft.com/office/drawing/2014/main" id="{94283284-9F93-40A6-9FEC-00A4D84118F8}"/>
              </a:ext>
            </a:extLst>
          </p:cNvPr>
          <p:cNvSpPr>
            <a:spLocks noGrp="1"/>
          </p:cNvSpPr>
          <p:nvPr/>
        </p:nvSpPr>
        <p:spPr>
          <a:xfrm>
            <a:off x="3124200" y="37338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0,2381</a:t>
            </a:r>
          </a:p>
        </p:txBody>
      </p:sp>
      <p:sp>
        <p:nvSpPr>
          <p:cNvPr id="40" name="Rectangle 39">
            <a:extLst>
              <a:ext uri="{FF2B5EF4-FFF2-40B4-BE49-F238E27FC236}">
                <a16:creationId xmlns:a16="http://schemas.microsoft.com/office/drawing/2014/main" id="{C56029FC-2670-45F0-8550-D25F720DBC93}"/>
              </a:ext>
            </a:extLst>
          </p:cNvPr>
          <p:cNvSpPr>
            <a:spLocks noGrp="1"/>
          </p:cNvSpPr>
          <p:nvPr/>
        </p:nvSpPr>
        <p:spPr>
          <a:xfrm>
            <a:off x="4191000" y="3657600"/>
            <a:ext cx="1143000" cy="590550"/>
          </a:xfrm>
          <a:prstGeom prst="rect">
            <a:avLst/>
          </a:prstGeom>
          <a:solidFill>
            <a:srgbClr val="FFFFFF"/>
          </a:solidFill>
          <a:ln w="9525">
            <a:solidFill>
              <a:srgbClr val="CBD5E1"/>
            </a:solidFill>
            <a:prstDash val="solid"/>
          </a:ln>
        </p:spPr>
      </p:sp>
      <p:sp>
        <p:nvSpPr>
          <p:cNvPr id="41" name="Rectangle 40">
            <a:extLst>
              <a:ext uri="{FF2B5EF4-FFF2-40B4-BE49-F238E27FC236}">
                <a16:creationId xmlns:a16="http://schemas.microsoft.com/office/drawing/2014/main" id="{B01E3E14-DF11-4C09-8FC4-1D8B4ECE08C2}"/>
              </a:ext>
            </a:extLst>
          </p:cNvPr>
          <p:cNvSpPr>
            <a:spLocks noGrp="1"/>
          </p:cNvSpPr>
          <p:nvPr/>
        </p:nvSpPr>
        <p:spPr>
          <a:xfrm>
            <a:off x="4267200" y="37338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0,1409</a:t>
            </a:r>
          </a:p>
        </p:txBody>
      </p:sp>
      <p:sp>
        <p:nvSpPr>
          <p:cNvPr id="42" name="Rectangle 41">
            <a:extLst>
              <a:ext uri="{FF2B5EF4-FFF2-40B4-BE49-F238E27FC236}">
                <a16:creationId xmlns:a16="http://schemas.microsoft.com/office/drawing/2014/main" id="{5B1CACC6-D312-4CD6-A600-E6A0A9C78A0F}"/>
              </a:ext>
            </a:extLst>
          </p:cNvPr>
          <p:cNvSpPr>
            <a:spLocks noGrp="1"/>
          </p:cNvSpPr>
          <p:nvPr/>
        </p:nvSpPr>
        <p:spPr>
          <a:xfrm>
            <a:off x="5334000" y="3657600"/>
            <a:ext cx="1143000" cy="590550"/>
          </a:xfrm>
          <a:prstGeom prst="rect">
            <a:avLst/>
          </a:prstGeom>
          <a:solidFill>
            <a:srgbClr val="FFFFFF"/>
          </a:solidFill>
          <a:ln w="9525">
            <a:solidFill>
              <a:srgbClr val="CBD5E1"/>
            </a:solidFill>
            <a:prstDash val="solid"/>
          </a:ln>
        </p:spPr>
      </p:sp>
      <p:sp>
        <p:nvSpPr>
          <p:cNvPr id="43" name="Rectangle 42">
            <a:extLst>
              <a:ext uri="{FF2B5EF4-FFF2-40B4-BE49-F238E27FC236}">
                <a16:creationId xmlns:a16="http://schemas.microsoft.com/office/drawing/2014/main" id="{4BCC6310-C244-43FF-BC34-DDE4E2457E2E}"/>
              </a:ext>
            </a:extLst>
          </p:cNvPr>
          <p:cNvSpPr>
            <a:spLocks noGrp="1"/>
          </p:cNvSpPr>
          <p:nvPr/>
        </p:nvSpPr>
        <p:spPr>
          <a:xfrm>
            <a:off x="5410200" y="37338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0,7685</a:t>
            </a:r>
          </a:p>
        </p:txBody>
      </p:sp>
      <p:sp>
        <p:nvSpPr>
          <p:cNvPr id="44" name="Rectangle 43">
            <a:extLst>
              <a:ext uri="{FF2B5EF4-FFF2-40B4-BE49-F238E27FC236}">
                <a16:creationId xmlns:a16="http://schemas.microsoft.com/office/drawing/2014/main" id="{215086E6-61DA-4EDA-B9A2-61E5B945A22B}"/>
              </a:ext>
            </a:extLst>
          </p:cNvPr>
          <p:cNvSpPr>
            <a:spLocks noGrp="1"/>
          </p:cNvSpPr>
          <p:nvPr/>
        </p:nvSpPr>
        <p:spPr>
          <a:xfrm>
            <a:off x="666750" y="4248150"/>
            <a:ext cx="1238250" cy="590550"/>
          </a:xfrm>
          <a:prstGeom prst="rect">
            <a:avLst/>
          </a:prstGeom>
          <a:solidFill>
            <a:srgbClr val="F8FAFC"/>
          </a:solidFill>
          <a:ln w="9525">
            <a:solidFill>
              <a:srgbClr val="CBD5E1"/>
            </a:solidFill>
            <a:prstDash val="solid"/>
          </a:ln>
        </p:spPr>
      </p:sp>
      <p:sp>
        <p:nvSpPr>
          <p:cNvPr id="45" name="Rectangle 44">
            <a:extLst>
              <a:ext uri="{FF2B5EF4-FFF2-40B4-BE49-F238E27FC236}">
                <a16:creationId xmlns:a16="http://schemas.microsoft.com/office/drawing/2014/main" id="{770FB2B1-55D7-4A81-A25A-42FBEBE617A6}"/>
              </a:ext>
            </a:extLst>
          </p:cNvPr>
          <p:cNvSpPr>
            <a:spLocks noGrp="1"/>
          </p:cNvSpPr>
          <p:nvPr/>
        </p:nvSpPr>
        <p:spPr>
          <a:xfrm>
            <a:off x="742950" y="4324350"/>
            <a:ext cx="108585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E4</a:t>
            </a:r>
          </a:p>
        </p:txBody>
      </p:sp>
      <p:sp>
        <p:nvSpPr>
          <p:cNvPr id="46" name="Rectangle 45">
            <a:extLst>
              <a:ext uri="{FF2B5EF4-FFF2-40B4-BE49-F238E27FC236}">
                <a16:creationId xmlns:a16="http://schemas.microsoft.com/office/drawing/2014/main" id="{A1782D3C-6081-4FDE-B6DE-9B51DE21C198}"/>
              </a:ext>
            </a:extLst>
          </p:cNvPr>
          <p:cNvSpPr>
            <a:spLocks noGrp="1"/>
          </p:cNvSpPr>
          <p:nvPr/>
        </p:nvSpPr>
        <p:spPr>
          <a:xfrm>
            <a:off x="1905000" y="4248150"/>
            <a:ext cx="1143000" cy="590550"/>
          </a:xfrm>
          <a:prstGeom prst="rect">
            <a:avLst/>
          </a:prstGeom>
          <a:solidFill>
            <a:srgbClr val="F8FAFC"/>
          </a:solidFill>
          <a:ln w="9525">
            <a:solidFill>
              <a:srgbClr val="CBD5E1"/>
            </a:solidFill>
            <a:prstDash val="solid"/>
          </a:ln>
        </p:spPr>
      </p:sp>
      <p:sp>
        <p:nvSpPr>
          <p:cNvPr id="47" name="Rectangle 46">
            <a:extLst>
              <a:ext uri="{FF2B5EF4-FFF2-40B4-BE49-F238E27FC236}">
                <a16:creationId xmlns:a16="http://schemas.microsoft.com/office/drawing/2014/main" id="{DAEEAAFF-D38D-485C-B25D-C7D9599ABA2A}"/>
              </a:ext>
            </a:extLst>
          </p:cNvPr>
          <p:cNvSpPr>
            <a:spLocks noGrp="1"/>
          </p:cNvSpPr>
          <p:nvPr/>
        </p:nvSpPr>
        <p:spPr>
          <a:xfrm>
            <a:off x="1981200" y="43243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0,2183</a:t>
            </a:r>
          </a:p>
        </p:txBody>
      </p:sp>
      <p:sp>
        <p:nvSpPr>
          <p:cNvPr id="48" name="Rectangle 47">
            <a:extLst>
              <a:ext uri="{FF2B5EF4-FFF2-40B4-BE49-F238E27FC236}">
                <a16:creationId xmlns:a16="http://schemas.microsoft.com/office/drawing/2014/main" id="{D0B2FDD5-3832-4345-9EF9-6F227FCDE0EC}"/>
              </a:ext>
            </a:extLst>
          </p:cNvPr>
          <p:cNvSpPr>
            <a:spLocks noGrp="1"/>
          </p:cNvSpPr>
          <p:nvPr/>
        </p:nvSpPr>
        <p:spPr>
          <a:xfrm>
            <a:off x="3048000" y="4248150"/>
            <a:ext cx="1143000" cy="590550"/>
          </a:xfrm>
          <a:prstGeom prst="rect">
            <a:avLst/>
          </a:prstGeom>
          <a:solidFill>
            <a:srgbClr val="F8FAFC"/>
          </a:solidFill>
          <a:ln w="9525">
            <a:solidFill>
              <a:srgbClr val="CBD5E1"/>
            </a:solidFill>
            <a:prstDash val="solid"/>
          </a:ln>
        </p:spPr>
      </p:sp>
      <p:sp>
        <p:nvSpPr>
          <p:cNvPr id="49" name="Rectangle 48">
            <a:extLst>
              <a:ext uri="{FF2B5EF4-FFF2-40B4-BE49-F238E27FC236}">
                <a16:creationId xmlns:a16="http://schemas.microsoft.com/office/drawing/2014/main" id="{5D6A92ED-A53F-436C-912B-4B6D9A90D8EB}"/>
              </a:ext>
            </a:extLst>
          </p:cNvPr>
          <p:cNvSpPr>
            <a:spLocks noGrp="1"/>
          </p:cNvSpPr>
          <p:nvPr/>
        </p:nvSpPr>
        <p:spPr>
          <a:xfrm>
            <a:off x="3124200" y="43243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0,3583</a:t>
            </a:r>
          </a:p>
        </p:txBody>
      </p:sp>
      <p:sp>
        <p:nvSpPr>
          <p:cNvPr id="50" name="Rectangle 49">
            <a:extLst>
              <a:ext uri="{FF2B5EF4-FFF2-40B4-BE49-F238E27FC236}">
                <a16:creationId xmlns:a16="http://schemas.microsoft.com/office/drawing/2014/main" id="{5113CBAD-4540-4FD6-A58F-4CE92D978FA3}"/>
              </a:ext>
            </a:extLst>
          </p:cNvPr>
          <p:cNvSpPr>
            <a:spLocks noGrp="1"/>
          </p:cNvSpPr>
          <p:nvPr/>
        </p:nvSpPr>
        <p:spPr>
          <a:xfrm>
            <a:off x="4191000" y="4248150"/>
            <a:ext cx="1143000" cy="590550"/>
          </a:xfrm>
          <a:prstGeom prst="rect">
            <a:avLst/>
          </a:prstGeom>
          <a:solidFill>
            <a:srgbClr val="F8FAFC"/>
          </a:solidFill>
          <a:ln w="9525">
            <a:solidFill>
              <a:srgbClr val="CBD5E1"/>
            </a:solidFill>
            <a:prstDash val="solid"/>
          </a:ln>
        </p:spPr>
      </p:sp>
      <p:sp>
        <p:nvSpPr>
          <p:cNvPr id="51" name="Rectangle 50">
            <a:extLst>
              <a:ext uri="{FF2B5EF4-FFF2-40B4-BE49-F238E27FC236}">
                <a16:creationId xmlns:a16="http://schemas.microsoft.com/office/drawing/2014/main" id="{00B39B30-36C1-471B-A6B2-62B5265FC8BD}"/>
              </a:ext>
            </a:extLst>
          </p:cNvPr>
          <p:cNvSpPr>
            <a:spLocks noGrp="1"/>
          </p:cNvSpPr>
          <p:nvPr/>
        </p:nvSpPr>
        <p:spPr>
          <a:xfrm>
            <a:off x="4267200" y="43243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0,2358</a:t>
            </a:r>
          </a:p>
        </p:txBody>
      </p:sp>
      <p:sp>
        <p:nvSpPr>
          <p:cNvPr id="52" name="Rectangle 51">
            <a:extLst>
              <a:ext uri="{FF2B5EF4-FFF2-40B4-BE49-F238E27FC236}">
                <a16:creationId xmlns:a16="http://schemas.microsoft.com/office/drawing/2014/main" id="{CEA723F0-143B-456F-8FB8-808DA95E04E2}"/>
              </a:ext>
            </a:extLst>
          </p:cNvPr>
          <p:cNvSpPr>
            <a:spLocks noGrp="1"/>
          </p:cNvSpPr>
          <p:nvPr/>
        </p:nvSpPr>
        <p:spPr>
          <a:xfrm>
            <a:off x="5334000" y="4248150"/>
            <a:ext cx="1143000" cy="590550"/>
          </a:xfrm>
          <a:prstGeom prst="rect">
            <a:avLst/>
          </a:prstGeom>
          <a:solidFill>
            <a:srgbClr val="F8FAFC"/>
          </a:solidFill>
          <a:ln w="9525">
            <a:solidFill>
              <a:srgbClr val="CBD5E1"/>
            </a:solidFill>
            <a:prstDash val="solid"/>
          </a:ln>
        </p:spPr>
      </p:sp>
      <p:sp>
        <p:nvSpPr>
          <p:cNvPr id="53" name="Rectangle 52">
            <a:extLst>
              <a:ext uri="{FF2B5EF4-FFF2-40B4-BE49-F238E27FC236}">
                <a16:creationId xmlns:a16="http://schemas.microsoft.com/office/drawing/2014/main" id="{1572D7CA-7ED6-4BAB-9B43-3075D117076A}"/>
              </a:ext>
            </a:extLst>
          </p:cNvPr>
          <p:cNvSpPr>
            <a:spLocks noGrp="1"/>
          </p:cNvSpPr>
          <p:nvPr/>
        </p:nvSpPr>
        <p:spPr>
          <a:xfrm>
            <a:off x="5410200" y="432435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0,7455</a:t>
            </a:r>
          </a:p>
        </p:txBody>
      </p:sp>
      <p:sp>
        <p:nvSpPr>
          <p:cNvPr id="54" name="Rectangle 53">
            <a:extLst>
              <a:ext uri="{FF2B5EF4-FFF2-40B4-BE49-F238E27FC236}">
                <a16:creationId xmlns:a16="http://schemas.microsoft.com/office/drawing/2014/main" id="{7A6D61F3-4DD9-4B15-92FB-3E0DB1BCB4E5}"/>
              </a:ext>
            </a:extLst>
          </p:cNvPr>
          <p:cNvSpPr>
            <a:spLocks noGrp="1"/>
          </p:cNvSpPr>
          <p:nvPr/>
        </p:nvSpPr>
        <p:spPr>
          <a:xfrm>
            <a:off x="666750" y="4838700"/>
            <a:ext cx="1238250" cy="590550"/>
          </a:xfrm>
          <a:prstGeom prst="rect">
            <a:avLst/>
          </a:prstGeom>
          <a:solidFill>
            <a:srgbClr val="FFFFFF"/>
          </a:solidFill>
          <a:ln w="9525">
            <a:solidFill>
              <a:srgbClr val="CBD5E1"/>
            </a:solidFill>
            <a:prstDash val="solid"/>
          </a:ln>
        </p:spPr>
      </p:sp>
      <p:sp>
        <p:nvSpPr>
          <p:cNvPr id="55" name="Rectangle 54">
            <a:extLst>
              <a:ext uri="{FF2B5EF4-FFF2-40B4-BE49-F238E27FC236}">
                <a16:creationId xmlns:a16="http://schemas.microsoft.com/office/drawing/2014/main" id="{206423D0-D157-4D95-AD66-D34CF1AAB8BC}"/>
              </a:ext>
            </a:extLst>
          </p:cNvPr>
          <p:cNvSpPr>
            <a:spLocks noGrp="1"/>
          </p:cNvSpPr>
          <p:nvPr/>
        </p:nvSpPr>
        <p:spPr>
          <a:xfrm>
            <a:off x="742950" y="4914900"/>
            <a:ext cx="108585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F1</a:t>
            </a:r>
          </a:p>
        </p:txBody>
      </p:sp>
      <p:sp>
        <p:nvSpPr>
          <p:cNvPr id="56" name="Rectangle 55">
            <a:extLst>
              <a:ext uri="{FF2B5EF4-FFF2-40B4-BE49-F238E27FC236}">
                <a16:creationId xmlns:a16="http://schemas.microsoft.com/office/drawing/2014/main" id="{08150464-2A5D-4282-852C-2F730A808068}"/>
              </a:ext>
            </a:extLst>
          </p:cNvPr>
          <p:cNvSpPr>
            <a:spLocks noGrp="1"/>
          </p:cNvSpPr>
          <p:nvPr/>
        </p:nvSpPr>
        <p:spPr>
          <a:xfrm>
            <a:off x="1905000" y="4838700"/>
            <a:ext cx="1143000" cy="590550"/>
          </a:xfrm>
          <a:prstGeom prst="rect">
            <a:avLst/>
          </a:prstGeom>
          <a:solidFill>
            <a:srgbClr val="FFFFFF"/>
          </a:solidFill>
          <a:ln w="9525">
            <a:solidFill>
              <a:srgbClr val="CBD5E1"/>
            </a:solidFill>
            <a:prstDash val="solid"/>
          </a:ln>
        </p:spPr>
      </p:sp>
      <p:sp>
        <p:nvSpPr>
          <p:cNvPr id="57" name="Rectangle 56">
            <a:extLst>
              <a:ext uri="{FF2B5EF4-FFF2-40B4-BE49-F238E27FC236}">
                <a16:creationId xmlns:a16="http://schemas.microsoft.com/office/drawing/2014/main" id="{BC5247BB-A3A3-43D6-BDA4-178244509C21}"/>
              </a:ext>
            </a:extLst>
          </p:cNvPr>
          <p:cNvSpPr>
            <a:spLocks noGrp="1"/>
          </p:cNvSpPr>
          <p:nvPr/>
        </p:nvSpPr>
        <p:spPr>
          <a:xfrm>
            <a:off x="1981200" y="49149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0,3083</a:t>
            </a:r>
          </a:p>
        </p:txBody>
      </p:sp>
      <p:sp>
        <p:nvSpPr>
          <p:cNvPr id="58" name="Rectangle 57">
            <a:extLst>
              <a:ext uri="{FF2B5EF4-FFF2-40B4-BE49-F238E27FC236}">
                <a16:creationId xmlns:a16="http://schemas.microsoft.com/office/drawing/2014/main" id="{24FE79A6-CECA-4432-856E-9FD50AE88B4B}"/>
              </a:ext>
            </a:extLst>
          </p:cNvPr>
          <p:cNvSpPr>
            <a:spLocks noGrp="1"/>
          </p:cNvSpPr>
          <p:nvPr/>
        </p:nvSpPr>
        <p:spPr>
          <a:xfrm>
            <a:off x="3048000" y="4838700"/>
            <a:ext cx="1143000" cy="590550"/>
          </a:xfrm>
          <a:prstGeom prst="rect">
            <a:avLst/>
          </a:prstGeom>
          <a:solidFill>
            <a:srgbClr val="FFFFFF"/>
          </a:solidFill>
          <a:ln w="9525">
            <a:solidFill>
              <a:srgbClr val="CBD5E1"/>
            </a:solidFill>
            <a:prstDash val="solid"/>
          </a:ln>
        </p:spPr>
      </p:sp>
      <p:sp>
        <p:nvSpPr>
          <p:cNvPr id="59" name="Rectangle 58">
            <a:extLst>
              <a:ext uri="{FF2B5EF4-FFF2-40B4-BE49-F238E27FC236}">
                <a16:creationId xmlns:a16="http://schemas.microsoft.com/office/drawing/2014/main" id="{59454CEB-637A-4AE6-B921-F83FDE1637A8}"/>
              </a:ext>
            </a:extLst>
          </p:cNvPr>
          <p:cNvSpPr>
            <a:spLocks noGrp="1"/>
          </p:cNvSpPr>
          <p:nvPr/>
        </p:nvSpPr>
        <p:spPr>
          <a:xfrm>
            <a:off x="3124200" y="49149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0,4713</a:t>
            </a:r>
          </a:p>
        </p:txBody>
      </p:sp>
      <p:sp>
        <p:nvSpPr>
          <p:cNvPr id="60" name="Rectangle 59">
            <a:extLst>
              <a:ext uri="{FF2B5EF4-FFF2-40B4-BE49-F238E27FC236}">
                <a16:creationId xmlns:a16="http://schemas.microsoft.com/office/drawing/2014/main" id="{336D9467-619D-45DA-AE32-3B4D239EC6D2}"/>
              </a:ext>
            </a:extLst>
          </p:cNvPr>
          <p:cNvSpPr>
            <a:spLocks noGrp="1"/>
          </p:cNvSpPr>
          <p:nvPr/>
        </p:nvSpPr>
        <p:spPr>
          <a:xfrm>
            <a:off x="4191000" y="4838700"/>
            <a:ext cx="1143000" cy="590550"/>
          </a:xfrm>
          <a:prstGeom prst="rect">
            <a:avLst/>
          </a:prstGeom>
          <a:solidFill>
            <a:srgbClr val="FFFFFF"/>
          </a:solidFill>
          <a:ln w="9525">
            <a:solidFill>
              <a:srgbClr val="CBD5E1"/>
            </a:solidFill>
            <a:prstDash val="solid"/>
          </a:ln>
        </p:spPr>
      </p:sp>
      <p:sp>
        <p:nvSpPr>
          <p:cNvPr id="61" name="Rectangle 60">
            <a:extLst>
              <a:ext uri="{FF2B5EF4-FFF2-40B4-BE49-F238E27FC236}">
                <a16:creationId xmlns:a16="http://schemas.microsoft.com/office/drawing/2014/main" id="{316B2976-612D-4FEA-80F6-0F5616DD4AB9}"/>
              </a:ext>
            </a:extLst>
          </p:cNvPr>
          <p:cNvSpPr>
            <a:spLocks noGrp="1"/>
          </p:cNvSpPr>
          <p:nvPr/>
        </p:nvSpPr>
        <p:spPr>
          <a:xfrm>
            <a:off x="4267200" y="49149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0,4128</a:t>
            </a:r>
          </a:p>
        </p:txBody>
      </p:sp>
      <p:sp>
        <p:nvSpPr>
          <p:cNvPr id="62" name="Rectangle 61">
            <a:extLst>
              <a:ext uri="{FF2B5EF4-FFF2-40B4-BE49-F238E27FC236}">
                <a16:creationId xmlns:a16="http://schemas.microsoft.com/office/drawing/2014/main" id="{41499C2E-D7D1-44DB-A981-01AFA2E79C01}"/>
              </a:ext>
            </a:extLst>
          </p:cNvPr>
          <p:cNvSpPr>
            <a:spLocks noGrp="1"/>
          </p:cNvSpPr>
          <p:nvPr/>
        </p:nvSpPr>
        <p:spPr>
          <a:xfrm>
            <a:off x="5334000" y="4838700"/>
            <a:ext cx="1143000" cy="590550"/>
          </a:xfrm>
          <a:prstGeom prst="rect">
            <a:avLst/>
          </a:prstGeom>
          <a:solidFill>
            <a:srgbClr val="FFFFFF"/>
          </a:solidFill>
          <a:ln w="9525">
            <a:solidFill>
              <a:srgbClr val="CBD5E1"/>
            </a:solidFill>
            <a:prstDash val="solid"/>
          </a:ln>
        </p:spPr>
      </p:sp>
      <p:sp>
        <p:nvSpPr>
          <p:cNvPr id="63" name="Rectangle 62">
            <a:extLst>
              <a:ext uri="{FF2B5EF4-FFF2-40B4-BE49-F238E27FC236}">
                <a16:creationId xmlns:a16="http://schemas.microsoft.com/office/drawing/2014/main" id="{8D12C432-1C1D-46D6-A6C7-46685F70ED4F}"/>
              </a:ext>
            </a:extLst>
          </p:cNvPr>
          <p:cNvSpPr>
            <a:spLocks noGrp="1"/>
          </p:cNvSpPr>
          <p:nvPr/>
        </p:nvSpPr>
        <p:spPr>
          <a:xfrm>
            <a:off x="5410200" y="4914900"/>
            <a:ext cx="990600" cy="476250"/>
          </a:xfrm>
          <a:prstGeom prst="rect">
            <a:avLst/>
          </a:prstGeom>
          <a:noFill/>
          <a:ln w="0">
            <a:noFill/>
            <a:prstDash val="solid"/>
          </a:ln>
        </p:spPr>
        <p:txBody>
          <a:bodyPr/>
          <a:lstStyle/>
          <a:p>
            <a:pPr algn="l">
              <a:defRPr sz="1125" b="0">
                <a:solidFill>
                  <a:srgbClr val="111827"/>
                </a:solidFill>
              </a:defRPr>
            </a:pPr>
            <a:r>
              <a:rPr sz="1125" b="0">
                <a:solidFill>
                  <a:srgbClr val="111827"/>
                </a:solidFill>
              </a:rPr>
              <a:t>0,5492</a:t>
            </a:r>
          </a:p>
        </p:txBody>
      </p:sp>
      <p:pic>
        <p:nvPicPr>
          <p:cNvPr id="130" name="Picture 129"/>
          <p:cNvPicPr>
            <a:picLocks noChangeAspect="1"/>
          </p:cNvPicPr>
          <p:nvPr/>
        </p:nvPicPr>
        <p:blipFill>
          <a:blip r:embed="rId3"/>
          <a:stretch/>
        </p:blipFill>
        <p:spPr>
          <a:xfrm>
            <a:off x="6858000" y="2500313"/>
            <a:ext cx="4476750" cy="2238375"/>
          </a:xfrm>
          <a:prstGeom prst="rect">
            <a:avLst/>
          </a:prstGeom>
        </p:spPr>
      </p:pic>
      <p:sp>
        <p:nvSpPr>
          <p:cNvPr id="65" name="Rectangle 64">
            <a:extLst>
              <a:ext uri="{FF2B5EF4-FFF2-40B4-BE49-F238E27FC236}">
                <a16:creationId xmlns:a16="http://schemas.microsoft.com/office/drawing/2014/main" id="{C4A2FF39-5FA6-4B21-A71A-410B3E53E3BA}"/>
              </a:ext>
            </a:extLst>
          </p:cNvPr>
          <p:cNvSpPr>
            <a:spLocks noGrp="1"/>
          </p:cNvSpPr>
          <p:nvPr/>
        </p:nvSpPr>
        <p:spPr>
          <a:xfrm>
            <a:off x="914400" y="5715000"/>
            <a:ext cx="10363200" cy="400050"/>
          </a:xfrm>
          <a:prstGeom prst="rect">
            <a:avLst/>
          </a:prstGeom>
          <a:noFill/>
          <a:ln w="0">
            <a:noFill/>
            <a:prstDash val="solid"/>
          </a:ln>
        </p:spPr>
        <p:txBody>
          <a:bodyPr/>
          <a:lstStyle/>
          <a:p>
            <a:pPr algn="ctr">
              <a:defRPr sz="1350" b="0">
                <a:solidFill>
                  <a:srgbClr val="64748B"/>
                </a:solidFill>
              </a:defRPr>
            </a:pPr>
            <a:r>
              <a:rPr sz="1350" b="0">
                <a:solidFill>
                  <a:srgbClr val="64748B"/>
                </a:solidFill>
              </a:rPr>
              <a:t>F1 được tune trên 40 ảnh GT_OK và đánh giá holdout 40 ảnh; cần trình bày như cấu hình final có kiểm soát, không phải production estimate.</a:t>
            </a:r>
          </a:p>
        </p:txBody>
      </p:sp>
      <p:sp>
        <p:nvSpPr>
          <p:cNvPr id="66" name="Rectangle 65">
            <a:extLst>
              <a:ext uri="{FF2B5EF4-FFF2-40B4-BE49-F238E27FC236}">
                <a16:creationId xmlns:a16="http://schemas.microsoft.com/office/drawing/2014/main" id="{264FF726-E913-4373-8D4B-BD8C639D2C9A}"/>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15/21</a:t>
            </a:r>
          </a:p>
        </p:txBody>
      </p:sp>
    </p:spTree>
    <p:extLst>
      <p:ext uri="{BB962C8B-B14F-4D97-AF65-F5344CB8AC3E}">
        <p14:creationId xmlns:p14="http://schemas.microsoft.com/office/powerpoint/2010/main" val="2017408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A9A7891-4F8B-47E6-9C4E-C01E48A96B2B}"/>
              </a:ext>
            </a:extLst>
          </p:cNvPr>
          <p:cNvSpPr>
            <a:spLocks noGrp="1"/>
          </p:cNvSpPr>
          <p:nvPr/>
        </p:nvSpPr>
        <p:spPr>
          <a:xfrm>
            <a:off x="609599" y="457200"/>
            <a:ext cx="10704945" cy="781050"/>
          </a:xfrm>
          <a:prstGeom prst="rect">
            <a:avLst/>
          </a:prstGeom>
          <a:noFill/>
          <a:ln w="0">
            <a:noFill/>
            <a:prstDash val="solid"/>
          </a:ln>
        </p:spPr>
        <p:txBody>
          <a:bodyPr/>
          <a:lstStyle/>
          <a:p>
            <a:pPr algn="l">
              <a:defRPr sz="2850" b="1">
                <a:solidFill>
                  <a:srgbClr val="111827"/>
                </a:solidFill>
              </a:defRPr>
            </a:pPr>
            <a:r>
              <a:rPr sz="2850" b="1" dirty="0" err="1">
                <a:solidFill>
                  <a:srgbClr val="111827"/>
                </a:solidFill>
              </a:rPr>
              <a:t>So sánh trực tiếp E1-E4 và F1 trên GT_OK</a:t>
            </a:r>
          </a:p>
        </p:txBody>
      </p:sp>
      <p:sp>
        <p:nvSpPr>
          <p:cNvPr id="2" name="Rectangle 1">
            <a:extLst>
              <a:ext uri="{FF2B5EF4-FFF2-40B4-BE49-F238E27FC236}">
                <a16:creationId xmlns:a16="http://schemas.microsoft.com/office/drawing/2014/main" id="{BC295BE9-1E52-4579-895C-3FDD7B13ADB1}"/>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Qualitative results</a:t>
            </a:r>
          </a:p>
        </p:txBody>
      </p:sp>
      <p:sp>
        <p:nvSpPr>
          <p:cNvPr id="3" name="Rectangle 2">
            <a:extLst>
              <a:ext uri="{FF2B5EF4-FFF2-40B4-BE49-F238E27FC236}">
                <a16:creationId xmlns:a16="http://schemas.microsoft.com/office/drawing/2014/main" id="{12ABCAA0-2B4C-469C-817A-B27A51D07EDD}"/>
              </a:ext>
            </a:extLst>
          </p:cNvPr>
          <p:cNvSpPr>
            <a:spLocks noGrp="1"/>
          </p:cNvSpPr>
          <p:nvPr/>
        </p:nvSpPr>
        <p:spPr>
          <a:xfrm>
            <a:off x="609600" y="1562100"/>
            <a:ext cx="1809750" cy="38100"/>
          </a:xfrm>
          <a:prstGeom prst="rect">
            <a:avLst/>
          </a:prstGeom>
          <a:solidFill>
            <a:srgbClr val="16A34A"/>
          </a:solidFill>
          <a:ln w="0">
            <a:noFill/>
            <a:prstDash val="solid"/>
          </a:ln>
        </p:spPr>
      </p:sp>
      <p:sp>
        <p:nvSpPr>
          <p:cNvPr id="7" name="Rectangle 6">
            <a:extLst>
              <a:ext uri="{FF2B5EF4-FFF2-40B4-BE49-F238E27FC236}">
                <a16:creationId xmlns:a16="http://schemas.microsoft.com/office/drawing/2014/main" id="{7D9C6385-3BD0-40CD-9D62-FA602A72A544}"/>
              </a:ext>
            </a:extLst>
          </p:cNvPr>
          <p:cNvSpPr>
            <a:spLocks noGrp="1"/>
          </p:cNvSpPr>
          <p:nvPr/>
        </p:nvSpPr>
        <p:spPr>
          <a:xfrm>
            <a:off x="1285875" y="5095875"/>
            <a:ext cx="2571750" cy="261938"/>
          </a:xfrm>
          <a:prstGeom prst="rect">
            <a:avLst/>
          </a:prstGeom>
          <a:solidFill>
            <a:srgbClr val="E0F2FE"/>
          </a:solidFill>
          <a:ln w="9525">
            <a:solidFill>
              <a:srgbClr val="CBD5E1"/>
            </a:solidFill>
            <a:prstDash val="solid"/>
          </a:ln>
        </p:spPr>
      </p:sp>
      <p:sp>
        <p:nvSpPr>
          <p:cNvPr id="8" name="Rectangle 7">
            <a:extLst>
              <a:ext uri="{FF2B5EF4-FFF2-40B4-BE49-F238E27FC236}">
                <a16:creationId xmlns:a16="http://schemas.microsoft.com/office/drawing/2014/main" id="{CCAB4310-57BE-4954-98D5-A561B9D65AE2}"/>
              </a:ext>
            </a:extLst>
          </p:cNvPr>
          <p:cNvSpPr>
            <a:spLocks noGrp="1"/>
          </p:cNvSpPr>
          <p:nvPr/>
        </p:nvSpPr>
        <p:spPr>
          <a:xfrm>
            <a:off x="1362075" y="5172075"/>
            <a:ext cx="2419350" cy="147638"/>
          </a:xfrm>
          <a:prstGeom prst="rect">
            <a:avLst/>
          </a:prstGeom>
          <a:noFill/>
          <a:ln w="0">
            <a:noFill/>
            <a:prstDash val="solid"/>
          </a:ln>
        </p:spPr>
        <p:txBody>
          <a:bodyPr/>
          <a:lstStyle/>
          <a:p>
            <a:pPr algn="l">
              <a:defRPr sz="1200" b="1">
                <a:solidFill>
                  <a:srgbClr val="111827"/>
                </a:solidFill>
              </a:defRPr>
            </a:pPr>
            <a:r>
              <a:rPr sz="1200" b="1">
                <a:solidFill>
                  <a:srgbClr val="111827"/>
                </a:solidFill>
              </a:rPr>
              <a:t>Quan sát</a:t>
            </a:r>
          </a:p>
        </p:txBody>
      </p:sp>
      <p:sp>
        <p:nvSpPr>
          <p:cNvPr id="9" name="Rectangle 8">
            <a:extLst>
              <a:ext uri="{FF2B5EF4-FFF2-40B4-BE49-F238E27FC236}">
                <a16:creationId xmlns:a16="http://schemas.microsoft.com/office/drawing/2014/main" id="{D7B681E6-5399-48AF-89C2-0EBF7B55A46D}"/>
              </a:ext>
            </a:extLst>
          </p:cNvPr>
          <p:cNvSpPr>
            <a:spLocks noGrp="1"/>
          </p:cNvSpPr>
          <p:nvPr/>
        </p:nvSpPr>
        <p:spPr>
          <a:xfrm>
            <a:off x="3857625" y="5095875"/>
            <a:ext cx="7048500" cy="261938"/>
          </a:xfrm>
          <a:prstGeom prst="rect">
            <a:avLst/>
          </a:prstGeom>
          <a:solidFill>
            <a:srgbClr val="E0F2FE"/>
          </a:solidFill>
          <a:ln w="9525">
            <a:solidFill>
              <a:srgbClr val="CBD5E1"/>
            </a:solidFill>
            <a:prstDash val="solid"/>
          </a:ln>
        </p:spPr>
      </p:sp>
      <p:sp>
        <p:nvSpPr>
          <p:cNvPr id="10" name="Rectangle 9">
            <a:extLst>
              <a:ext uri="{FF2B5EF4-FFF2-40B4-BE49-F238E27FC236}">
                <a16:creationId xmlns:a16="http://schemas.microsoft.com/office/drawing/2014/main" id="{4A14B51A-EEC7-4013-BBB8-F222D364CAC3}"/>
              </a:ext>
            </a:extLst>
          </p:cNvPr>
          <p:cNvSpPr>
            <a:spLocks noGrp="1"/>
          </p:cNvSpPr>
          <p:nvPr/>
        </p:nvSpPr>
        <p:spPr>
          <a:xfrm>
            <a:off x="3933825" y="5172075"/>
            <a:ext cx="6896100" cy="147638"/>
          </a:xfrm>
          <a:prstGeom prst="rect">
            <a:avLst/>
          </a:prstGeom>
          <a:noFill/>
          <a:ln w="0">
            <a:noFill/>
            <a:prstDash val="solid"/>
          </a:ln>
        </p:spPr>
        <p:txBody>
          <a:bodyPr/>
          <a:lstStyle/>
          <a:p>
            <a:pPr algn="l">
              <a:defRPr sz="1200" b="1">
                <a:solidFill>
                  <a:srgbClr val="111827"/>
                </a:solidFill>
              </a:defRPr>
            </a:pPr>
            <a:r>
              <a:rPr sz="1200" b="1">
                <a:solidFill>
                  <a:srgbClr val="111827"/>
                </a:solidFill>
              </a:rPr>
              <a:t>Ý nghĩa</a:t>
            </a:r>
          </a:p>
        </p:txBody>
      </p:sp>
      <p:sp>
        <p:nvSpPr>
          <p:cNvPr id="11" name="Rectangle 10">
            <a:extLst>
              <a:ext uri="{FF2B5EF4-FFF2-40B4-BE49-F238E27FC236}">
                <a16:creationId xmlns:a16="http://schemas.microsoft.com/office/drawing/2014/main" id="{DB384FD7-4FB2-4621-B27A-81E8FC47C5F6}"/>
              </a:ext>
            </a:extLst>
          </p:cNvPr>
          <p:cNvSpPr>
            <a:spLocks noGrp="1"/>
          </p:cNvSpPr>
          <p:nvPr/>
        </p:nvSpPr>
        <p:spPr>
          <a:xfrm>
            <a:off x="1285875" y="5357813"/>
            <a:ext cx="2571750" cy="261938"/>
          </a:xfrm>
          <a:prstGeom prst="rect">
            <a:avLst/>
          </a:prstGeom>
          <a:solidFill>
            <a:srgbClr val="FFFFFF"/>
          </a:solidFill>
          <a:ln w="9525">
            <a:solidFill>
              <a:srgbClr val="CBD5E1"/>
            </a:solidFill>
            <a:prstDash val="solid"/>
          </a:ln>
        </p:spPr>
      </p:sp>
      <p:sp>
        <p:nvSpPr>
          <p:cNvPr id="12" name="Rectangle 11">
            <a:extLst>
              <a:ext uri="{FF2B5EF4-FFF2-40B4-BE49-F238E27FC236}">
                <a16:creationId xmlns:a16="http://schemas.microsoft.com/office/drawing/2014/main" id="{4EABDF83-65FB-4517-9829-A0244A440A0F}"/>
              </a:ext>
            </a:extLst>
          </p:cNvPr>
          <p:cNvSpPr>
            <a:spLocks noGrp="1"/>
          </p:cNvSpPr>
          <p:nvPr/>
        </p:nvSpPr>
        <p:spPr>
          <a:xfrm>
            <a:off x="1362075" y="5434013"/>
            <a:ext cx="241935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E1 / E2</a:t>
            </a:r>
          </a:p>
        </p:txBody>
      </p:sp>
      <p:sp>
        <p:nvSpPr>
          <p:cNvPr id="13" name="Rectangle 12">
            <a:extLst>
              <a:ext uri="{FF2B5EF4-FFF2-40B4-BE49-F238E27FC236}">
                <a16:creationId xmlns:a16="http://schemas.microsoft.com/office/drawing/2014/main" id="{0E93EB35-47B3-496D-85B3-3116C4325FBB}"/>
              </a:ext>
            </a:extLst>
          </p:cNvPr>
          <p:cNvSpPr>
            <a:spLocks noGrp="1"/>
          </p:cNvSpPr>
          <p:nvPr/>
        </p:nvSpPr>
        <p:spPr>
          <a:xfrm>
            <a:off x="3857625" y="5357813"/>
            <a:ext cx="7048500" cy="261938"/>
          </a:xfrm>
          <a:prstGeom prst="rect">
            <a:avLst/>
          </a:prstGeom>
          <a:solidFill>
            <a:srgbClr val="FFFFFF"/>
          </a:solidFill>
          <a:ln w="9525">
            <a:solidFill>
              <a:srgbClr val="CBD5E1"/>
            </a:solidFill>
            <a:prstDash val="solid"/>
          </a:ln>
        </p:spPr>
      </p:sp>
      <p:sp>
        <p:nvSpPr>
          <p:cNvPr id="14" name="Rectangle 13">
            <a:extLst>
              <a:ext uri="{FF2B5EF4-FFF2-40B4-BE49-F238E27FC236}">
                <a16:creationId xmlns:a16="http://schemas.microsoft.com/office/drawing/2014/main" id="{41F68FD6-3A3B-4DC4-BFEF-513FC7E4FA2E}"/>
              </a:ext>
            </a:extLst>
          </p:cNvPr>
          <p:cNvSpPr>
            <a:spLocks noGrp="1"/>
          </p:cNvSpPr>
          <p:nvPr/>
        </p:nvSpPr>
        <p:spPr>
          <a:xfrm>
            <a:off x="3933825" y="5434013"/>
            <a:ext cx="689610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định vị đúng vùng nhưng biên còn thô; E2 mượt hơn nhờ Grad-CAM++</a:t>
            </a:r>
          </a:p>
        </p:txBody>
      </p:sp>
      <p:sp>
        <p:nvSpPr>
          <p:cNvPr id="15" name="Rectangle 14">
            <a:extLst>
              <a:ext uri="{FF2B5EF4-FFF2-40B4-BE49-F238E27FC236}">
                <a16:creationId xmlns:a16="http://schemas.microsoft.com/office/drawing/2014/main" id="{FB8F7276-2D69-4FAA-B2D2-5079332489BC}"/>
              </a:ext>
            </a:extLst>
          </p:cNvPr>
          <p:cNvSpPr>
            <a:spLocks noGrp="1"/>
          </p:cNvSpPr>
          <p:nvPr/>
        </p:nvSpPr>
        <p:spPr>
          <a:xfrm>
            <a:off x="1285875" y="5619750"/>
            <a:ext cx="2571750" cy="261938"/>
          </a:xfrm>
          <a:prstGeom prst="rect">
            <a:avLst/>
          </a:prstGeom>
          <a:solidFill>
            <a:srgbClr val="F8FAFC"/>
          </a:solidFill>
          <a:ln w="9525">
            <a:solidFill>
              <a:srgbClr val="CBD5E1"/>
            </a:solidFill>
            <a:prstDash val="solid"/>
          </a:ln>
        </p:spPr>
      </p:sp>
      <p:sp>
        <p:nvSpPr>
          <p:cNvPr id="16" name="Rectangle 15">
            <a:extLst>
              <a:ext uri="{FF2B5EF4-FFF2-40B4-BE49-F238E27FC236}">
                <a16:creationId xmlns:a16="http://schemas.microsoft.com/office/drawing/2014/main" id="{905A7D82-F538-435E-9BC0-9C275C118B9F}"/>
              </a:ext>
            </a:extLst>
          </p:cNvPr>
          <p:cNvSpPr>
            <a:spLocks noGrp="1"/>
          </p:cNvSpPr>
          <p:nvPr/>
        </p:nvSpPr>
        <p:spPr>
          <a:xfrm>
            <a:off x="1362075" y="5695950"/>
            <a:ext cx="241935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E3 (SAM-refined)</a:t>
            </a:r>
          </a:p>
        </p:txBody>
      </p:sp>
      <p:sp>
        <p:nvSpPr>
          <p:cNvPr id="17" name="Rectangle 16">
            <a:extLst>
              <a:ext uri="{FF2B5EF4-FFF2-40B4-BE49-F238E27FC236}">
                <a16:creationId xmlns:a16="http://schemas.microsoft.com/office/drawing/2014/main" id="{FADBFF9D-05A1-4F74-A68D-F385FC800186}"/>
              </a:ext>
            </a:extLst>
          </p:cNvPr>
          <p:cNvSpPr>
            <a:spLocks noGrp="1"/>
          </p:cNvSpPr>
          <p:nvPr/>
        </p:nvSpPr>
        <p:spPr>
          <a:xfrm>
            <a:off x="3857625" y="5619750"/>
            <a:ext cx="7048500" cy="261938"/>
          </a:xfrm>
          <a:prstGeom prst="rect">
            <a:avLst/>
          </a:prstGeom>
          <a:solidFill>
            <a:srgbClr val="F8FAFC"/>
          </a:solidFill>
          <a:ln w="9525">
            <a:solidFill>
              <a:srgbClr val="CBD5E1"/>
            </a:solidFill>
            <a:prstDash val="solid"/>
          </a:ln>
        </p:spPr>
      </p:sp>
      <p:sp>
        <p:nvSpPr>
          <p:cNvPr id="18" name="Rectangle 17">
            <a:extLst>
              <a:ext uri="{FF2B5EF4-FFF2-40B4-BE49-F238E27FC236}">
                <a16:creationId xmlns:a16="http://schemas.microsoft.com/office/drawing/2014/main" id="{49044B71-93BC-4A23-BAB5-15E856F4A24F}"/>
              </a:ext>
            </a:extLst>
          </p:cNvPr>
          <p:cNvSpPr>
            <a:spLocks noGrp="1"/>
          </p:cNvSpPr>
          <p:nvPr/>
        </p:nvSpPr>
        <p:spPr>
          <a:xfrm>
            <a:off x="3933825" y="5695950"/>
            <a:ext cx="689610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biên sắc hơn nhưng dễ mở rộng vùng bệnh — IoU thấp nhất trong ví dụ này</a:t>
            </a:r>
          </a:p>
        </p:txBody>
      </p:sp>
      <p:sp>
        <p:nvSpPr>
          <p:cNvPr id="19" name="Rectangle 18">
            <a:extLst>
              <a:ext uri="{FF2B5EF4-FFF2-40B4-BE49-F238E27FC236}">
                <a16:creationId xmlns:a16="http://schemas.microsoft.com/office/drawing/2014/main" id="{800E67F4-943A-4DAD-B2C3-B514ED2D51B1}"/>
              </a:ext>
            </a:extLst>
          </p:cNvPr>
          <p:cNvSpPr>
            <a:spLocks noGrp="1"/>
          </p:cNvSpPr>
          <p:nvPr/>
        </p:nvSpPr>
        <p:spPr>
          <a:xfrm>
            <a:off x="1285875" y="5881688"/>
            <a:ext cx="2571750" cy="261938"/>
          </a:xfrm>
          <a:prstGeom prst="rect">
            <a:avLst/>
          </a:prstGeom>
          <a:solidFill>
            <a:srgbClr val="FFFFFF"/>
          </a:solidFill>
          <a:ln w="9525">
            <a:solidFill>
              <a:srgbClr val="CBD5E1"/>
            </a:solidFill>
            <a:prstDash val="solid"/>
          </a:ln>
        </p:spPr>
      </p:sp>
      <p:sp>
        <p:nvSpPr>
          <p:cNvPr id="20" name="Rectangle 19">
            <a:extLst>
              <a:ext uri="{FF2B5EF4-FFF2-40B4-BE49-F238E27FC236}">
                <a16:creationId xmlns:a16="http://schemas.microsoft.com/office/drawing/2014/main" id="{A6B8F1D4-0938-4070-A67C-DFED11F413CB}"/>
              </a:ext>
            </a:extLst>
          </p:cNvPr>
          <p:cNvSpPr>
            <a:spLocks noGrp="1"/>
          </p:cNvSpPr>
          <p:nvPr/>
        </p:nvSpPr>
        <p:spPr>
          <a:xfrm>
            <a:off x="1362075" y="5957888"/>
            <a:ext cx="241935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E4 / F1 (fusion)</a:t>
            </a:r>
          </a:p>
        </p:txBody>
      </p:sp>
      <p:sp>
        <p:nvSpPr>
          <p:cNvPr id="21" name="Rectangle 20">
            <a:extLst>
              <a:ext uri="{FF2B5EF4-FFF2-40B4-BE49-F238E27FC236}">
                <a16:creationId xmlns:a16="http://schemas.microsoft.com/office/drawing/2014/main" id="{966E8A75-C13E-49E9-B166-C43C1EB0A62F}"/>
              </a:ext>
            </a:extLst>
          </p:cNvPr>
          <p:cNvSpPr>
            <a:spLocks noGrp="1"/>
          </p:cNvSpPr>
          <p:nvPr/>
        </p:nvSpPr>
        <p:spPr>
          <a:xfrm>
            <a:off x="3857625" y="5881688"/>
            <a:ext cx="7048500" cy="261938"/>
          </a:xfrm>
          <a:prstGeom prst="rect">
            <a:avLst/>
          </a:prstGeom>
          <a:solidFill>
            <a:srgbClr val="FFFFFF"/>
          </a:solidFill>
          <a:ln w="9525">
            <a:solidFill>
              <a:srgbClr val="CBD5E1"/>
            </a:solidFill>
            <a:prstDash val="solid"/>
          </a:ln>
        </p:spPr>
      </p:sp>
      <p:sp>
        <p:nvSpPr>
          <p:cNvPr id="22" name="Rectangle 21">
            <a:extLst>
              <a:ext uri="{FF2B5EF4-FFF2-40B4-BE49-F238E27FC236}">
                <a16:creationId xmlns:a16="http://schemas.microsoft.com/office/drawing/2014/main" id="{B512B247-1D2F-45B9-B717-67D06D542BAD}"/>
              </a:ext>
            </a:extLst>
          </p:cNvPr>
          <p:cNvSpPr>
            <a:spLocks noGrp="1"/>
          </p:cNvSpPr>
          <p:nvPr/>
        </p:nvSpPr>
        <p:spPr>
          <a:xfrm>
            <a:off x="3933825" y="5957888"/>
            <a:ext cx="6896100" cy="147638"/>
          </a:xfrm>
          <a:prstGeom prst="rect">
            <a:avLst/>
          </a:prstGeom>
          <a:noFill/>
          <a:ln w="0">
            <a:noFill/>
            <a:prstDash val="solid"/>
          </a:ln>
        </p:spPr>
        <p:txBody>
          <a:bodyPr/>
          <a:lstStyle/>
          <a:p>
            <a:pPr algn="l">
              <a:defRPr sz="1125" b="0">
                <a:solidFill>
                  <a:srgbClr val="111827"/>
                </a:solidFill>
              </a:defRPr>
            </a:pPr>
            <a:r>
              <a:rPr sz="1125" b="0">
                <a:solidFill>
                  <a:srgbClr val="111827"/>
                </a:solidFill>
              </a:rPr>
              <a:t>E4 là checkpoint đơn lẻ cân bằng nhất; F1 kết hợp E2/E3/E4 và giới hạn coverage theo lớp</a:t>
            </a:r>
          </a:p>
        </p:txBody>
      </p:sp>
      <p:sp>
        <p:nvSpPr>
          <p:cNvPr id="23" name="Rectangle 22">
            <a:extLst>
              <a:ext uri="{FF2B5EF4-FFF2-40B4-BE49-F238E27FC236}">
                <a16:creationId xmlns:a16="http://schemas.microsoft.com/office/drawing/2014/main" id="{EF78FA25-1B5E-4562-8795-8C4B80A0F968}"/>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16/21</a:t>
            </a:r>
          </a:p>
        </p:txBody>
      </p:sp>
      <p:pic>
        <p:nvPicPr>
          <p:cNvPr id="25" name="Picture 24" descr="slide_model_comparison.png"/>
          <p:cNvPicPr>
            <a:picLocks noChangeAspect="1"/>
          </p:cNvPicPr>
          <p:nvPr/>
        </p:nvPicPr>
        <p:blipFill>
          <a:blip r:embed="rId6"/>
          <a:stretch>
            <a:fillRect/>
          </a:stretch>
        </p:blipFill>
        <p:spPr>
          <a:xfrm>
            <a:off x="746000" y="2575520"/>
            <a:ext cx="10700000" cy="1802210"/>
          </a:xfrm>
          <a:prstGeom prst="rect">
            <a:avLst/>
          </a:prstGeom>
        </p:spPr>
      </p:pic>
    </p:spTree>
    <p:extLst>
      <p:ext uri="{BB962C8B-B14F-4D97-AF65-F5344CB8AC3E}">
        <p14:creationId xmlns:p14="http://schemas.microsoft.com/office/powerpoint/2010/main" val="1862677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AACEA40-E999-4972-86C8-C4CBBB2C634F}"/>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SAM không phải pipeline cuối vì precision giảm mạnh</a:t>
            </a:r>
          </a:p>
        </p:txBody>
      </p:sp>
      <p:sp>
        <p:nvSpPr>
          <p:cNvPr id="2" name="Rectangle 1">
            <a:extLst>
              <a:ext uri="{FF2B5EF4-FFF2-40B4-BE49-F238E27FC236}">
                <a16:creationId xmlns:a16="http://schemas.microsoft.com/office/drawing/2014/main" id="{641143F2-32D3-4D2B-9043-B35C975C86DE}"/>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Result analysis</a:t>
            </a:r>
          </a:p>
        </p:txBody>
      </p:sp>
      <p:sp>
        <p:nvSpPr>
          <p:cNvPr id="3" name="Rectangle 2">
            <a:extLst>
              <a:ext uri="{FF2B5EF4-FFF2-40B4-BE49-F238E27FC236}">
                <a16:creationId xmlns:a16="http://schemas.microsoft.com/office/drawing/2014/main" id="{D8845341-91D0-418A-9EB3-2F8015C0FFBB}"/>
              </a:ext>
            </a:extLst>
          </p:cNvPr>
          <p:cNvSpPr>
            <a:spLocks noGrp="1"/>
          </p:cNvSpPr>
          <p:nvPr/>
        </p:nvSpPr>
        <p:spPr>
          <a:xfrm>
            <a:off x="609600" y="1562100"/>
            <a:ext cx="1809750" cy="38100"/>
          </a:xfrm>
          <a:prstGeom prst="rect">
            <a:avLst/>
          </a:prstGeom>
          <a:solidFill>
            <a:srgbClr val="16A34A"/>
          </a:solidFill>
          <a:ln w="0">
            <a:noFill/>
            <a:prstDash val="solid"/>
          </a:ln>
        </p:spPr>
        <p:txBody>
          <a:bodyPr/>
          <a:p/>
        </p:txBody>
      </p:sp>
      <p:sp>
        <p:nvSpPr>
          <p:cNvPr id="4" name="Rectangle 3">
            <a:extLst>
              <a:ext uri="{FF2B5EF4-FFF2-40B4-BE49-F238E27FC236}">
                <a16:creationId xmlns:a16="http://schemas.microsoft.com/office/drawing/2014/main" id="{BA96D078-CB9A-4164-838F-A5AB961264EF}"/>
              </a:ext>
            </a:extLst>
          </p:cNvPr>
          <p:cNvSpPr>
            <a:spLocks noGrp="1"/>
          </p:cNvSpPr>
          <p:nvPr/>
        </p:nvSpPr>
        <p:spPr>
          <a:xfrm>
            <a:off x="1000125" y="2095500"/>
            <a:ext cx="2286000" cy="1333500"/>
          </a:xfrm>
          <a:prstGeom prst="rect">
            <a:avLst/>
          </a:prstGeom>
          <a:solidFill>
            <a:srgbClr val="F3F4F6"/>
          </a:solidFill>
          <a:ln w="9525">
            <a:solidFill>
              <a:srgbClr val="CBD5E1"/>
            </a:solidFill>
            <a:prstDash val="solid"/>
          </a:ln>
        </p:spPr>
        <p:txBody>
          <a:bodyPr/>
          <a:p/>
        </p:txBody>
      </p:sp>
      <p:sp>
        <p:nvSpPr>
          <p:cNvPr id="5" name="Rectangle 4">
            <a:extLst>
              <a:ext uri="{FF2B5EF4-FFF2-40B4-BE49-F238E27FC236}">
                <a16:creationId xmlns:a16="http://schemas.microsoft.com/office/drawing/2014/main" id="{DA83FBAF-5E2C-44FE-805A-B1CE5432E156}"/>
              </a:ext>
            </a:extLst>
          </p:cNvPr>
          <p:cNvSpPr>
            <a:spLocks noGrp="1"/>
          </p:cNvSpPr>
          <p:nvPr/>
        </p:nvSpPr>
        <p:spPr>
          <a:xfrm>
            <a:off x="1171575" y="2266950"/>
            <a:ext cx="1943100" cy="495300"/>
          </a:xfrm>
          <a:prstGeom prst="rect">
            <a:avLst/>
          </a:prstGeom>
          <a:noFill/>
          <a:ln w="0">
            <a:noFill/>
            <a:prstDash val="solid"/>
          </a:ln>
        </p:spPr>
        <p:txBody>
          <a:bodyPr/>
          <a:lstStyle/>
          <a:p>
            <a:pPr algn="ctr">
              <a:defRPr sz="2550" b="1">
                <a:solidFill>
                  <a:srgbClr val="16A34A"/>
                </a:solidFill>
              </a:defRPr>
            </a:pPr>
            <a:r>
              <a:rPr sz="2550" b="1">
                <a:solidFill>
                  <a:srgbClr val="16A34A"/>
                </a:solidFill>
              </a:rPr>
              <a:t>0,7685</a:t>
            </a:r>
          </a:p>
        </p:txBody>
      </p:sp>
      <p:sp>
        <p:nvSpPr>
          <p:cNvPr id="6" name="Rectangle 5">
            <a:extLst>
              <a:ext uri="{FF2B5EF4-FFF2-40B4-BE49-F238E27FC236}">
                <a16:creationId xmlns:a16="http://schemas.microsoft.com/office/drawing/2014/main" id="{63E669BC-BF88-409B-97B0-00C200585B0E}"/>
              </a:ext>
            </a:extLst>
          </p:cNvPr>
          <p:cNvSpPr>
            <a:spLocks noGrp="1"/>
          </p:cNvSpPr>
          <p:nvPr/>
        </p:nvSpPr>
        <p:spPr>
          <a:xfrm>
            <a:off x="1171575" y="2838450"/>
            <a:ext cx="194310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E3/SAM Recall</a:t>
            </a:r>
          </a:p>
        </p:txBody>
      </p:sp>
      <p:sp>
        <p:nvSpPr>
          <p:cNvPr id="7" name="Rectangle 6">
            <a:extLst>
              <a:ext uri="{FF2B5EF4-FFF2-40B4-BE49-F238E27FC236}">
                <a16:creationId xmlns:a16="http://schemas.microsoft.com/office/drawing/2014/main" id="{6ED5545D-EB63-4959-8F2C-25F0E254C72F}"/>
              </a:ext>
            </a:extLst>
          </p:cNvPr>
          <p:cNvSpPr>
            <a:spLocks noGrp="1"/>
          </p:cNvSpPr>
          <p:nvPr/>
        </p:nvSpPr>
        <p:spPr>
          <a:xfrm>
            <a:off x="3762375" y="2095500"/>
            <a:ext cx="2286000" cy="1333500"/>
          </a:xfrm>
          <a:prstGeom prst="rect">
            <a:avLst/>
          </a:prstGeom>
          <a:solidFill>
            <a:srgbClr val="F3F4F6"/>
          </a:solidFill>
          <a:ln w="9525">
            <a:solidFill>
              <a:srgbClr val="CBD5E1"/>
            </a:solidFill>
            <a:prstDash val="solid"/>
          </a:ln>
        </p:spPr>
        <p:txBody>
          <a:bodyPr/>
          <a:p/>
        </p:txBody>
      </p:sp>
      <p:sp>
        <p:nvSpPr>
          <p:cNvPr id="8" name="Rectangle 7">
            <a:extLst>
              <a:ext uri="{FF2B5EF4-FFF2-40B4-BE49-F238E27FC236}">
                <a16:creationId xmlns:a16="http://schemas.microsoft.com/office/drawing/2014/main" id="{634567EF-FB51-48E8-B357-0498BF64928A}"/>
              </a:ext>
            </a:extLst>
          </p:cNvPr>
          <p:cNvSpPr>
            <a:spLocks noGrp="1"/>
          </p:cNvSpPr>
          <p:nvPr/>
        </p:nvSpPr>
        <p:spPr>
          <a:xfrm>
            <a:off x="3933825" y="2266950"/>
            <a:ext cx="1943100" cy="495300"/>
          </a:xfrm>
          <a:prstGeom prst="rect">
            <a:avLst/>
          </a:prstGeom>
          <a:noFill/>
          <a:ln w="0">
            <a:noFill/>
            <a:prstDash val="solid"/>
          </a:ln>
        </p:spPr>
        <p:txBody>
          <a:bodyPr/>
          <a:lstStyle/>
          <a:p>
            <a:pPr algn="ctr">
              <a:defRPr sz="2550" b="1">
                <a:solidFill>
                  <a:srgbClr val="DC2626"/>
                </a:solidFill>
              </a:defRPr>
            </a:pPr>
            <a:r>
              <a:rPr sz="2550" b="1">
                <a:solidFill>
                  <a:srgbClr val="DC2626"/>
                </a:solidFill>
              </a:rPr>
              <a:t>0,1409</a:t>
            </a:r>
          </a:p>
        </p:txBody>
      </p:sp>
      <p:sp>
        <p:nvSpPr>
          <p:cNvPr id="9" name="Rectangle 8">
            <a:extLst>
              <a:ext uri="{FF2B5EF4-FFF2-40B4-BE49-F238E27FC236}">
                <a16:creationId xmlns:a16="http://schemas.microsoft.com/office/drawing/2014/main" id="{C4C2E2AF-EE07-417F-B7B9-E78A481320E4}"/>
              </a:ext>
            </a:extLst>
          </p:cNvPr>
          <p:cNvSpPr>
            <a:spLocks noGrp="1"/>
          </p:cNvSpPr>
          <p:nvPr/>
        </p:nvSpPr>
        <p:spPr>
          <a:xfrm>
            <a:off x="3933825" y="2838450"/>
            <a:ext cx="194310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E3/SAM Precision</a:t>
            </a:r>
          </a:p>
        </p:txBody>
      </p:sp>
      <p:sp>
        <p:nvSpPr>
          <p:cNvPr id="10" name="Rectangle 9">
            <a:extLst>
              <a:ext uri="{FF2B5EF4-FFF2-40B4-BE49-F238E27FC236}">
                <a16:creationId xmlns:a16="http://schemas.microsoft.com/office/drawing/2014/main" id="{7C8ECC2D-CC6B-4124-898B-7B40818DAF92}"/>
              </a:ext>
            </a:extLst>
          </p:cNvPr>
          <p:cNvSpPr>
            <a:spLocks noGrp="1"/>
          </p:cNvSpPr>
          <p:nvPr/>
        </p:nvSpPr>
        <p:spPr>
          <a:xfrm>
            <a:off x="6524625" y="2095500"/>
            <a:ext cx="2286000" cy="1333500"/>
          </a:xfrm>
          <a:prstGeom prst="rect">
            <a:avLst/>
          </a:prstGeom>
          <a:solidFill>
            <a:srgbClr val="F3F4F6"/>
          </a:solidFill>
          <a:ln w="9525">
            <a:solidFill>
              <a:srgbClr val="CBD5E1"/>
            </a:solidFill>
            <a:prstDash val="solid"/>
          </a:ln>
        </p:spPr>
        <p:txBody>
          <a:bodyPr/>
          <a:p/>
        </p:txBody>
      </p:sp>
      <p:sp>
        <p:nvSpPr>
          <p:cNvPr id="11" name="Rectangle 10">
            <a:extLst>
              <a:ext uri="{FF2B5EF4-FFF2-40B4-BE49-F238E27FC236}">
                <a16:creationId xmlns:a16="http://schemas.microsoft.com/office/drawing/2014/main" id="{B5FB76D0-9EE2-4CCE-A1B8-2CA595798F90}"/>
              </a:ext>
            </a:extLst>
          </p:cNvPr>
          <p:cNvSpPr>
            <a:spLocks noGrp="1"/>
          </p:cNvSpPr>
          <p:nvPr/>
        </p:nvSpPr>
        <p:spPr>
          <a:xfrm>
            <a:off x="6696075" y="2266950"/>
            <a:ext cx="1943100" cy="495300"/>
          </a:xfrm>
          <a:prstGeom prst="rect">
            <a:avLst/>
          </a:prstGeom>
          <a:noFill/>
          <a:ln w="0">
            <a:noFill/>
            <a:prstDash val="solid"/>
          </a:ln>
        </p:spPr>
        <p:txBody>
          <a:bodyPr/>
          <a:lstStyle/>
          <a:p>
            <a:pPr algn="ctr">
              <a:defRPr sz="2550" b="1">
                <a:solidFill>
                  <a:srgbClr val="D97706"/>
                </a:solidFill>
              </a:defRPr>
            </a:pPr>
            <a:r>
              <a:rPr sz="2550" b="1">
                <a:solidFill>
                  <a:srgbClr val="D97706"/>
                </a:solidFill>
              </a:rPr>
              <a:t>0,1351</a:t>
            </a:r>
          </a:p>
        </p:txBody>
      </p:sp>
      <p:sp>
        <p:nvSpPr>
          <p:cNvPr id="12" name="Rectangle 11">
            <a:extLst>
              <a:ext uri="{FF2B5EF4-FFF2-40B4-BE49-F238E27FC236}">
                <a16:creationId xmlns:a16="http://schemas.microsoft.com/office/drawing/2014/main" id="{61798C59-5C3B-464C-9630-5153485264FE}"/>
              </a:ext>
            </a:extLst>
          </p:cNvPr>
          <p:cNvSpPr>
            <a:spLocks noGrp="1"/>
          </p:cNvSpPr>
          <p:nvPr/>
        </p:nvSpPr>
        <p:spPr>
          <a:xfrm>
            <a:off x="6696075" y="2838450"/>
            <a:ext cx="1943100" cy="342900"/>
          </a:xfrm>
          <a:prstGeom prst="rect">
            <a:avLst/>
          </a:prstGeom>
          <a:noFill/>
          <a:ln w="0">
            <a:noFill/>
            <a:prstDash val="solid"/>
          </a:ln>
        </p:spPr>
        <p:txBody>
          <a:bodyPr/>
          <a:lstStyle/>
          <a:p>
            <a:pPr algn="ctr">
              <a:defRPr sz="1200" b="0">
                <a:solidFill>
                  <a:srgbClr val="64748B"/>
                </a:solidFill>
              </a:defRPr>
            </a:pPr>
            <a:r>
              <a:rPr sz="1200" b="0">
                <a:solidFill>
                  <a:srgbClr val="64748B"/>
                </a:solidFill>
              </a:rPr>
              <a:t>E3/SAM IoU</a:t>
            </a:r>
          </a:p>
        </p:txBody>
      </p:sp>
      <p:sp>
        <p:nvSpPr>
          <p:cNvPr id="13" name="Rectangle 12">
            <a:extLst>
              <a:ext uri="{FF2B5EF4-FFF2-40B4-BE49-F238E27FC236}">
                <a16:creationId xmlns:a16="http://schemas.microsoft.com/office/drawing/2014/main" id="{1EF698D8-846B-4FA9-8BE2-791AEE25FA87}"/>
              </a:ext>
            </a:extLst>
          </p:cNvPr>
          <p:cNvSpPr>
            <a:spLocks noGrp="1"/>
          </p:cNvSpPr>
          <p:nvPr/>
        </p:nvSpPr>
        <p:spPr>
          <a:xfrm>
            <a:off x="1143000" y="4000500"/>
            <a:ext cx="9525000" cy="571500"/>
          </a:xfrm>
          <a:prstGeom prst="rect">
            <a:avLst/>
          </a:prstGeom>
          <a:noFill/>
          <a:ln w="0">
            <a:noFill/>
            <a:prstDash val="solid"/>
          </a:ln>
        </p:spPr>
        <p:txBody>
          <a:bodyPr/>
          <a:lstStyle/>
          <a:p>
            <a:pPr algn="ctr">
              <a:defRPr sz="2100" b="1">
                <a:solidFill>
                  <a:srgbClr val="111827"/>
                </a:solidFill>
              </a:defRPr>
            </a:pPr>
            <a:r>
              <a:rPr sz="2100" b="1">
                <a:solidFill>
                  <a:srgbClr val="111827"/>
                </a:solidFill>
              </a:rPr>
              <a:t>Diễn giải: SAM bắt được nhiều vùng bệnh hơn, nhưng dự đoán thừa quá nhiều nên IoU giảm.</a:t>
            </a:r>
          </a:p>
        </p:txBody>
      </p:sp>
      <p:sp>
        <p:nvSpPr>
          <p:cNvPr id="14" name="Rectangle 13">
            <a:extLst>
              <a:ext uri="{FF2B5EF4-FFF2-40B4-BE49-F238E27FC236}">
                <a16:creationId xmlns:a16="http://schemas.microsoft.com/office/drawing/2014/main" id="{35C7F3A1-747E-4FA1-A078-5A08E3E69D3F}"/>
              </a:ext>
            </a:extLst>
          </p:cNvPr>
          <p:cNvSpPr>
            <a:spLocks noGrp="1"/>
          </p:cNvSpPr>
          <p:nvPr/>
        </p:nvSpPr>
        <p:spPr>
          <a:xfrm>
            <a:off x="1714500" y="5000625"/>
            <a:ext cx="8763000" cy="857250"/>
          </a:xfrm>
          <a:prstGeom prst="rect">
            <a:avLst/>
          </a:prstGeom>
          <a:noFill/>
          <a:ln w="0">
            <a:noFill/>
            <a:prstDash val="solid"/>
          </a:ln>
        </p:spPr>
        <p:txBody>
          <a:bodyPr/>
          <a:lstStyle/>
          <a:p>
            <a:pPr algn="l">
              <a:defRPr sz="1650" b="0">
                <a:solidFill>
                  <a:srgbClr val="111827"/>
                </a:solidFill>
              </a:defRPr>
            </a:pPr>
            <a:r>
              <a:rPr sz="1650" b="0">
                <a:solidFill>
                  <a:srgbClr val="111827"/>
                </a:solidFill>
              </a:rPr>
              <a:t>• Pseudo-test cao ở E3 phản ánh học lại mask SAM, không phải mask thật.</a:t>
            </a:r>
          </a:p>
          <a:p>
            <a:pPr algn="l">
              <a:defRPr sz="1650" b="0">
                <a:solidFill>
                  <a:srgbClr val="111827"/>
                </a:solidFill>
              </a:defRPr>
            </a:pPr>
            <a:r>
              <a:rPr sz="1650" b="0">
                <a:solidFill>
                  <a:srgbClr val="111827"/>
                </a:solidFill>
              </a:rPr>
              <a:t>• F1 dùng E3 như tín hiệu phụ, không chọn E3 làm mô hình cuối.</a:t>
            </a:r>
          </a:p>
          <a:p>
            <a:r>
              <a:rPr sz="1650">
                <a:solidFill>
                  <a:srgbClr val="111827"/>
                </a:solidFill>
              </a:rPr>
              <a:t>• Cơ chế bảo vệ SAM dùng điều kiện kép (IoU ≥ 0,15 và tỉ lệ diện tích ≤ 2,0), không chỉ IoU — nhưng ngưỡng tỉ lệ hiện tại còn lỏng hơn mức nở quan sát được.</a:t>
            </a:r>
          </a:p>
        </p:txBody>
      </p:sp>
      <p:sp>
        <p:nvSpPr>
          <p:cNvPr id="15" name="Rectangle 14">
            <a:extLst>
              <a:ext uri="{FF2B5EF4-FFF2-40B4-BE49-F238E27FC236}">
                <a16:creationId xmlns:a16="http://schemas.microsoft.com/office/drawing/2014/main" id="{D356C699-B91D-4B8B-BA86-A013CB4FF5F3}"/>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17/21</a:t>
            </a:r>
          </a:p>
        </p:txBody>
      </p:sp>
    </p:spTree>
    <p:extLst>
      <p:ext uri="{BB962C8B-B14F-4D97-AF65-F5344CB8AC3E}">
        <p14:creationId xmlns:p14="http://schemas.microsoft.com/office/powerpoint/2010/main" val="176595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0AFFAB1-98AE-407E-9FD2-25C4FE7CD711}"/>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Kết quả trả lời các câu hỏi nghiên cứu</a:t>
            </a:r>
          </a:p>
        </p:txBody>
      </p:sp>
      <p:sp>
        <p:nvSpPr>
          <p:cNvPr id="2" name="Rectangle 1">
            <a:extLst>
              <a:ext uri="{FF2B5EF4-FFF2-40B4-BE49-F238E27FC236}">
                <a16:creationId xmlns:a16="http://schemas.microsoft.com/office/drawing/2014/main" id="{5DF976F3-E00A-4B07-98DF-5D1271DC50A4}"/>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Discussion</a:t>
            </a:r>
          </a:p>
        </p:txBody>
      </p:sp>
      <p:sp>
        <p:nvSpPr>
          <p:cNvPr id="3" name="Rectangle 2">
            <a:extLst>
              <a:ext uri="{FF2B5EF4-FFF2-40B4-BE49-F238E27FC236}">
                <a16:creationId xmlns:a16="http://schemas.microsoft.com/office/drawing/2014/main" id="{35D5FAA5-A1C8-4A6C-ADB4-6534B5D3C4A4}"/>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94B04C8A-0808-4130-B8F7-E5451A48B195}"/>
              </a:ext>
            </a:extLst>
          </p:cNvPr>
          <p:cNvSpPr>
            <a:spLocks noGrp="1"/>
          </p:cNvSpPr>
          <p:nvPr/>
        </p:nvSpPr>
        <p:spPr>
          <a:xfrm>
            <a:off x="723900" y="1981200"/>
            <a:ext cx="4000500" cy="666750"/>
          </a:xfrm>
          <a:prstGeom prst="rect">
            <a:avLst/>
          </a:prstGeom>
          <a:solidFill>
            <a:srgbClr val="DCFCE7"/>
          </a:solidFill>
          <a:ln w="9525">
            <a:solidFill>
              <a:srgbClr val="CBD5E1"/>
            </a:solidFill>
            <a:prstDash val="solid"/>
          </a:ln>
        </p:spPr>
      </p:sp>
      <p:sp>
        <p:nvSpPr>
          <p:cNvPr id="5" name="Rectangle 4">
            <a:extLst>
              <a:ext uri="{FF2B5EF4-FFF2-40B4-BE49-F238E27FC236}">
                <a16:creationId xmlns:a16="http://schemas.microsoft.com/office/drawing/2014/main" id="{F29175E0-409C-49EC-8BBA-32EA4BB65E11}"/>
              </a:ext>
            </a:extLst>
          </p:cNvPr>
          <p:cNvSpPr>
            <a:spLocks noGrp="1"/>
          </p:cNvSpPr>
          <p:nvPr/>
        </p:nvSpPr>
        <p:spPr>
          <a:xfrm>
            <a:off x="800100" y="2057400"/>
            <a:ext cx="3848100" cy="552450"/>
          </a:xfrm>
          <a:prstGeom prst="rect">
            <a:avLst/>
          </a:prstGeom>
          <a:noFill/>
          <a:ln w="0">
            <a:noFill/>
            <a:prstDash val="solid"/>
          </a:ln>
        </p:spPr>
        <p:txBody>
          <a:bodyPr/>
          <a:lstStyle/>
          <a:p>
            <a:pPr algn="l">
              <a:defRPr sz="1200" b="1">
                <a:solidFill>
                  <a:srgbClr val="111827"/>
                </a:solidFill>
              </a:defRPr>
            </a:pPr>
            <a:r>
              <a:rPr sz="1200" b="1">
                <a:solidFill>
                  <a:srgbClr val="111827"/>
                </a:solidFill>
              </a:rPr>
              <a:t>Research question</a:t>
            </a:r>
          </a:p>
        </p:txBody>
      </p:sp>
      <p:sp>
        <p:nvSpPr>
          <p:cNvPr id="6" name="Rectangle 5">
            <a:extLst>
              <a:ext uri="{FF2B5EF4-FFF2-40B4-BE49-F238E27FC236}">
                <a16:creationId xmlns:a16="http://schemas.microsoft.com/office/drawing/2014/main" id="{FEE5B367-77F1-4613-BB28-4A5FF9B82060}"/>
              </a:ext>
            </a:extLst>
          </p:cNvPr>
          <p:cNvSpPr>
            <a:spLocks noGrp="1"/>
          </p:cNvSpPr>
          <p:nvPr/>
        </p:nvSpPr>
        <p:spPr>
          <a:xfrm>
            <a:off x="4724400" y="1981200"/>
            <a:ext cx="6743700" cy="666750"/>
          </a:xfrm>
          <a:prstGeom prst="rect">
            <a:avLst/>
          </a:prstGeom>
          <a:solidFill>
            <a:srgbClr val="DCFCE7"/>
          </a:solidFill>
          <a:ln w="9525">
            <a:solidFill>
              <a:srgbClr val="CBD5E1"/>
            </a:solidFill>
            <a:prstDash val="solid"/>
          </a:ln>
        </p:spPr>
      </p:sp>
      <p:sp>
        <p:nvSpPr>
          <p:cNvPr id="7" name="Rectangle 6">
            <a:extLst>
              <a:ext uri="{FF2B5EF4-FFF2-40B4-BE49-F238E27FC236}">
                <a16:creationId xmlns:a16="http://schemas.microsoft.com/office/drawing/2014/main" id="{CF2C3D41-5D28-4DB9-BC9E-2250F67CE1F0}"/>
              </a:ext>
            </a:extLst>
          </p:cNvPr>
          <p:cNvSpPr>
            <a:spLocks noGrp="1"/>
          </p:cNvSpPr>
          <p:nvPr/>
        </p:nvSpPr>
        <p:spPr>
          <a:xfrm>
            <a:off x="4800600" y="2057400"/>
            <a:ext cx="6591300" cy="552450"/>
          </a:xfrm>
          <a:prstGeom prst="rect">
            <a:avLst/>
          </a:prstGeom>
          <a:noFill/>
          <a:ln w="0">
            <a:noFill/>
            <a:prstDash val="solid"/>
          </a:ln>
        </p:spPr>
        <p:txBody>
          <a:bodyPr/>
          <a:lstStyle/>
          <a:p>
            <a:pPr algn="l">
              <a:defRPr sz="1200" b="1">
                <a:solidFill>
                  <a:srgbClr val="111827"/>
                </a:solidFill>
              </a:defRPr>
            </a:pPr>
            <a:r>
              <a:rPr sz="1200" b="1">
                <a:solidFill>
                  <a:srgbClr val="111827"/>
                </a:solidFill>
              </a:rPr>
              <a:t>Câu trả lời ngắn</a:t>
            </a:r>
          </a:p>
        </p:txBody>
      </p:sp>
      <p:sp>
        <p:nvSpPr>
          <p:cNvPr id="8" name="Rectangle 7">
            <a:extLst>
              <a:ext uri="{FF2B5EF4-FFF2-40B4-BE49-F238E27FC236}">
                <a16:creationId xmlns:a16="http://schemas.microsoft.com/office/drawing/2014/main" id="{3347A4FB-ABF4-4689-850B-0A3B503D5C03}"/>
              </a:ext>
            </a:extLst>
          </p:cNvPr>
          <p:cNvSpPr>
            <a:spLocks noGrp="1"/>
          </p:cNvSpPr>
          <p:nvPr/>
        </p:nvSpPr>
        <p:spPr>
          <a:xfrm>
            <a:off x="723900" y="2647950"/>
            <a:ext cx="4000500" cy="666750"/>
          </a:xfrm>
          <a:prstGeom prst="rect">
            <a:avLst/>
          </a:prstGeom>
          <a:solidFill>
            <a:srgbClr val="FFFFFF"/>
          </a:solidFill>
          <a:ln w="9525">
            <a:solidFill>
              <a:srgbClr val="CBD5E1"/>
            </a:solidFill>
            <a:prstDash val="solid"/>
          </a:ln>
        </p:spPr>
      </p:sp>
      <p:sp>
        <p:nvSpPr>
          <p:cNvPr id="9" name="Rectangle 8">
            <a:extLst>
              <a:ext uri="{FF2B5EF4-FFF2-40B4-BE49-F238E27FC236}">
                <a16:creationId xmlns:a16="http://schemas.microsoft.com/office/drawing/2014/main" id="{85BF02D8-CB84-4BA6-B73F-EC15B08F0BDC}"/>
              </a:ext>
            </a:extLst>
          </p:cNvPr>
          <p:cNvSpPr>
            <a:spLocks noGrp="1"/>
          </p:cNvSpPr>
          <p:nvPr/>
        </p:nvSpPr>
        <p:spPr>
          <a:xfrm>
            <a:off x="800100" y="2724150"/>
            <a:ext cx="38481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Phân loại có hiệu quả không?</a:t>
            </a:r>
          </a:p>
        </p:txBody>
      </p:sp>
      <p:sp>
        <p:nvSpPr>
          <p:cNvPr id="10" name="Rectangle 9">
            <a:extLst>
              <a:ext uri="{FF2B5EF4-FFF2-40B4-BE49-F238E27FC236}">
                <a16:creationId xmlns:a16="http://schemas.microsoft.com/office/drawing/2014/main" id="{81A07CED-9699-4288-911B-A6E99D0E28FB}"/>
              </a:ext>
            </a:extLst>
          </p:cNvPr>
          <p:cNvSpPr>
            <a:spLocks noGrp="1"/>
          </p:cNvSpPr>
          <p:nvPr/>
        </p:nvSpPr>
        <p:spPr>
          <a:xfrm>
            <a:off x="4724400" y="2647950"/>
            <a:ext cx="6743700" cy="666750"/>
          </a:xfrm>
          <a:prstGeom prst="rect">
            <a:avLst/>
          </a:prstGeom>
          <a:solidFill>
            <a:srgbClr val="FFFFFF"/>
          </a:solidFill>
          <a:ln w="9525">
            <a:solidFill>
              <a:srgbClr val="CBD5E1"/>
            </a:solidFill>
            <a:prstDash val="solid"/>
          </a:ln>
        </p:spPr>
      </p:sp>
      <p:sp>
        <p:nvSpPr>
          <p:cNvPr id="11" name="Rectangle 10">
            <a:extLst>
              <a:ext uri="{FF2B5EF4-FFF2-40B4-BE49-F238E27FC236}">
                <a16:creationId xmlns:a16="http://schemas.microsoft.com/office/drawing/2014/main" id="{1C355121-F900-4277-91A5-ACF15D97C22B}"/>
              </a:ext>
            </a:extLst>
          </p:cNvPr>
          <p:cNvSpPr>
            <a:spLocks noGrp="1"/>
          </p:cNvSpPr>
          <p:nvPr/>
        </p:nvSpPr>
        <p:spPr>
          <a:xfrm>
            <a:off x="4800600" y="2724150"/>
            <a:ext cx="65913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Có: accuracy/F1 97,19% trên test set.</a:t>
            </a:r>
          </a:p>
        </p:txBody>
      </p:sp>
      <p:sp>
        <p:nvSpPr>
          <p:cNvPr id="12" name="Rectangle 11">
            <a:extLst>
              <a:ext uri="{FF2B5EF4-FFF2-40B4-BE49-F238E27FC236}">
                <a16:creationId xmlns:a16="http://schemas.microsoft.com/office/drawing/2014/main" id="{025F9709-773A-45B7-930D-28688F11EAC9}"/>
              </a:ext>
            </a:extLst>
          </p:cNvPr>
          <p:cNvSpPr>
            <a:spLocks noGrp="1"/>
          </p:cNvSpPr>
          <p:nvPr/>
        </p:nvSpPr>
        <p:spPr>
          <a:xfrm>
            <a:off x="723900" y="3314700"/>
            <a:ext cx="4000500" cy="666750"/>
          </a:xfrm>
          <a:prstGeom prst="rect">
            <a:avLst/>
          </a:prstGeom>
          <a:solidFill>
            <a:srgbClr val="F8FAFC"/>
          </a:solidFill>
          <a:ln w="9525">
            <a:solidFill>
              <a:srgbClr val="CBD5E1"/>
            </a:solidFill>
            <a:prstDash val="solid"/>
          </a:ln>
        </p:spPr>
      </p:sp>
      <p:sp>
        <p:nvSpPr>
          <p:cNvPr id="13" name="Rectangle 12">
            <a:extLst>
              <a:ext uri="{FF2B5EF4-FFF2-40B4-BE49-F238E27FC236}">
                <a16:creationId xmlns:a16="http://schemas.microsoft.com/office/drawing/2014/main" id="{F32A0C09-6911-4942-B384-33DCDC6BB975}"/>
              </a:ext>
            </a:extLst>
          </p:cNvPr>
          <p:cNvSpPr>
            <a:spLocks noGrp="1"/>
          </p:cNvSpPr>
          <p:nvPr/>
        </p:nvSpPr>
        <p:spPr>
          <a:xfrm>
            <a:off x="800100" y="3390900"/>
            <a:ext cx="38481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Grad-CAM++ có sinh pseudo-label được không?</a:t>
            </a:r>
          </a:p>
        </p:txBody>
      </p:sp>
      <p:sp>
        <p:nvSpPr>
          <p:cNvPr id="14" name="Rectangle 13">
            <a:extLst>
              <a:ext uri="{FF2B5EF4-FFF2-40B4-BE49-F238E27FC236}">
                <a16:creationId xmlns:a16="http://schemas.microsoft.com/office/drawing/2014/main" id="{86D328BF-D475-424A-AD74-5C90E3952541}"/>
              </a:ext>
            </a:extLst>
          </p:cNvPr>
          <p:cNvSpPr>
            <a:spLocks noGrp="1"/>
          </p:cNvSpPr>
          <p:nvPr/>
        </p:nvSpPr>
        <p:spPr>
          <a:xfrm>
            <a:off x="4724400" y="3314700"/>
            <a:ext cx="6743700" cy="666750"/>
          </a:xfrm>
          <a:prstGeom prst="rect">
            <a:avLst/>
          </a:prstGeom>
          <a:solidFill>
            <a:srgbClr val="F8FAFC"/>
          </a:solidFill>
          <a:ln w="9525">
            <a:solidFill>
              <a:srgbClr val="CBD5E1"/>
            </a:solidFill>
            <a:prstDash val="solid"/>
          </a:ln>
        </p:spPr>
      </p:sp>
      <p:sp>
        <p:nvSpPr>
          <p:cNvPr id="15" name="Rectangle 14">
            <a:extLst>
              <a:ext uri="{FF2B5EF4-FFF2-40B4-BE49-F238E27FC236}">
                <a16:creationId xmlns:a16="http://schemas.microsoft.com/office/drawing/2014/main" id="{ED37849C-704D-44CB-BED0-D43024525033}"/>
              </a:ext>
            </a:extLst>
          </p:cNvPr>
          <p:cNvSpPr>
            <a:spLocks noGrp="1"/>
          </p:cNvSpPr>
          <p:nvPr/>
        </p:nvSpPr>
        <p:spPr>
          <a:xfrm>
            <a:off x="4800600" y="3390900"/>
            <a:ext cx="65913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Có, nhưng mask còn phụ thuộc threshold và hậu xử lý.</a:t>
            </a:r>
          </a:p>
        </p:txBody>
      </p:sp>
      <p:sp>
        <p:nvSpPr>
          <p:cNvPr id="16" name="Rectangle 15">
            <a:extLst>
              <a:ext uri="{FF2B5EF4-FFF2-40B4-BE49-F238E27FC236}">
                <a16:creationId xmlns:a16="http://schemas.microsoft.com/office/drawing/2014/main" id="{D03E12B1-F0EE-4F56-8205-5CA4E387AD1F}"/>
              </a:ext>
            </a:extLst>
          </p:cNvPr>
          <p:cNvSpPr>
            <a:spLocks noGrp="1"/>
          </p:cNvSpPr>
          <p:nvPr/>
        </p:nvSpPr>
        <p:spPr>
          <a:xfrm>
            <a:off x="723900" y="3981450"/>
            <a:ext cx="4000500" cy="666750"/>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F2EA68B7-6880-47B9-B2BE-BCF5604C0208}"/>
              </a:ext>
            </a:extLst>
          </p:cNvPr>
          <p:cNvSpPr>
            <a:spLocks noGrp="1"/>
          </p:cNvSpPr>
          <p:nvPr/>
        </p:nvSpPr>
        <p:spPr>
          <a:xfrm>
            <a:off x="800100" y="4057650"/>
            <a:ext cx="38481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SAM có là pipeline cuối không?</a:t>
            </a:r>
          </a:p>
        </p:txBody>
      </p:sp>
      <p:sp>
        <p:nvSpPr>
          <p:cNvPr id="18" name="Rectangle 17">
            <a:extLst>
              <a:ext uri="{FF2B5EF4-FFF2-40B4-BE49-F238E27FC236}">
                <a16:creationId xmlns:a16="http://schemas.microsoft.com/office/drawing/2014/main" id="{E6DFACE4-A4B9-4F2D-9016-8A43A2A316AC}"/>
              </a:ext>
            </a:extLst>
          </p:cNvPr>
          <p:cNvSpPr>
            <a:spLocks noGrp="1"/>
          </p:cNvSpPr>
          <p:nvPr/>
        </p:nvSpPr>
        <p:spPr>
          <a:xfrm>
            <a:off x="4724400" y="3981450"/>
            <a:ext cx="6743700" cy="666750"/>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98D7674A-FAFB-49F0-ACF4-5AD66794E3FB}"/>
              </a:ext>
            </a:extLst>
          </p:cNvPr>
          <p:cNvSpPr>
            <a:spLocks noGrp="1"/>
          </p:cNvSpPr>
          <p:nvPr/>
        </p:nvSpPr>
        <p:spPr>
          <a:xfrm>
            <a:off x="4800600" y="4057650"/>
            <a:ext cx="65913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Không; E3 recall cao nhưng precision thấp.</a:t>
            </a:r>
          </a:p>
        </p:txBody>
      </p:sp>
      <p:sp>
        <p:nvSpPr>
          <p:cNvPr id="20" name="Rectangle 19">
            <a:extLst>
              <a:ext uri="{FF2B5EF4-FFF2-40B4-BE49-F238E27FC236}">
                <a16:creationId xmlns:a16="http://schemas.microsoft.com/office/drawing/2014/main" id="{196A289A-E00E-4B4C-9581-CE175A039EC5}"/>
              </a:ext>
            </a:extLst>
          </p:cNvPr>
          <p:cNvSpPr>
            <a:spLocks noGrp="1"/>
          </p:cNvSpPr>
          <p:nvPr/>
        </p:nvSpPr>
        <p:spPr>
          <a:xfrm>
            <a:off x="723900" y="4648200"/>
            <a:ext cx="4000500" cy="666750"/>
          </a:xfrm>
          <a:prstGeom prst="rect">
            <a:avLst/>
          </a:prstGeom>
          <a:solidFill>
            <a:srgbClr val="F8FAFC"/>
          </a:solidFill>
          <a:ln w="9525">
            <a:solidFill>
              <a:srgbClr val="CBD5E1"/>
            </a:solidFill>
            <a:prstDash val="solid"/>
          </a:ln>
        </p:spPr>
      </p:sp>
      <p:sp>
        <p:nvSpPr>
          <p:cNvPr id="21" name="Rectangle 20">
            <a:extLst>
              <a:ext uri="{FF2B5EF4-FFF2-40B4-BE49-F238E27FC236}">
                <a16:creationId xmlns:a16="http://schemas.microsoft.com/office/drawing/2014/main" id="{C4F06363-591F-407A-89D7-0A2EB2408973}"/>
              </a:ext>
            </a:extLst>
          </p:cNvPr>
          <p:cNvSpPr>
            <a:spLocks noGrp="1"/>
          </p:cNvSpPr>
          <p:nvPr/>
        </p:nvSpPr>
        <p:spPr>
          <a:xfrm>
            <a:off x="800100" y="4724400"/>
            <a:ext cx="38481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GT_OK có cần không?</a:t>
            </a:r>
          </a:p>
        </p:txBody>
      </p:sp>
      <p:sp>
        <p:nvSpPr>
          <p:cNvPr id="22" name="Rectangle 21">
            <a:extLst>
              <a:ext uri="{FF2B5EF4-FFF2-40B4-BE49-F238E27FC236}">
                <a16:creationId xmlns:a16="http://schemas.microsoft.com/office/drawing/2014/main" id="{1AA3EC51-3ED8-4727-912D-0221F4F2794D}"/>
              </a:ext>
            </a:extLst>
          </p:cNvPr>
          <p:cNvSpPr>
            <a:spLocks noGrp="1"/>
          </p:cNvSpPr>
          <p:nvPr/>
        </p:nvSpPr>
        <p:spPr>
          <a:xfrm>
            <a:off x="4724400" y="4648200"/>
            <a:ext cx="6743700" cy="666750"/>
          </a:xfrm>
          <a:prstGeom prst="rect">
            <a:avLst/>
          </a:prstGeom>
          <a:solidFill>
            <a:srgbClr val="F8FAFC"/>
          </a:solidFill>
          <a:ln w="9525">
            <a:solidFill>
              <a:srgbClr val="CBD5E1"/>
            </a:solidFill>
            <a:prstDash val="solid"/>
          </a:ln>
        </p:spPr>
      </p:sp>
      <p:sp>
        <p:nvSpPr>
          <p:cNvPr id="23" name="Rectangle 22">
            <a:extLst>
              <a:ext uri="{FF2B5EF4-FFF2-40B4-BE49-F238E27FC236}">
                <a16:creationId xmlns:a16="http://schemas.microsoft.com/office/drawing/2014/main" id="{FE957AA1-71E3-40EE-88E8-55C4E24C0D3B}"/>
              </a:ext>
            </a:extLst>
          </p:cNvPr>
          <p:cNvSpPr>
            <a:spLocks noGrp="1"/>
          </p:cNvSpPr>
          <p:nvPr/>
        </p:nvSpPr>
        <p:spPr>
          <a:xfrm>
            <a:off x="4800600" y="4724400"/>
            <a:ext cx="6591300" cy="552450"/>
          </a:xfrm>
          <a:prstGeom prst="rect">
            <a:avLst/>
          </a:prstGeom>
          <a:noFill/>
          <a:ln w="0">
            <a:noFill/>
            <a:prstDash val="solid"/>
          </a:ln>
        </p:spPr>
        <p:txBody>
          <a:bodyPr/>
          <a:lstStyle/>
          <a:p>
            <a:pPr algn="l">
              <a:defRPr sz="1125" b="0">
                <a:solidFill>
                  <a:srgbClr val="111827"/>
                </a:solidFill>
              </a:defRPr>
            </a:pPr>
            <a:r>
              <a:rPr sz="1125" b="0">
                <a:solidFill>
                  <a:srgbClr val="111827"/>
                </a:solidFill>
              </a:rPr>
              <a:t>Có; đây là mốc chung để đánh giá định vị.</a:t>
            </a:r>
          </a:p>
        </p:txBody>
      </p:sp>
      <p:sp>
        <p:nvSpPr>
          <p:cNvPr id="24" name="Rectangle 23">
            <a:extLst>
              <a:ext uri="{FF2B5EF4-FFF2-40B4-BE49-F238E27FC236}">
                <a16:creationId xmlns:a16="http://schemas.microsoft.com/office/drawing/2014/main" id="{BFE98EF2-7673-44CC-BF13-B8107A243D8E}"/>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18/21</a:t>
            </a:r>
          </a:p>
        </p:txBody>
      </p:sp>
    </p:spTree>
    <p:extLst>
      <p:ext uri="{BB962C8B-B14F-4D97-AF65-F5344CB8AC3E}">
        <p14:creationId xmlns:p14="http://schemas.microsoft.com/office/powerpoint/2010/main" val="94761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881237-77C5-423D-8ECC-6DE03A1D0141}"/>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Đóng góp và cách đánh giá</a:t>
            </a:r>
          </a:p>
        </p:txBody>
      </p:sp>
      <p:sp>
        <p:nvSpPr>
          <p:cNvPr id="2" name="Rectangle 1">
            <a:extLst>
              <a:ext uri="{FF2B5EF4-FFF2-40B4-BE49-F238E27FC236}">
                <a16:creationId xmlns:a16="http://schemas.microsoft.com/office/drawing/2014/main" id="{89DB07D6-92FC-4F98-AE14-D4B42F85AEE8}"/>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Contributions</a:t>
            </a:r>
          </a:p>
        </p:txBody>
      </p:sp>
      <p:sp>
        <p:nvSpPr>
          <p:cNvPr id="3" name="Rectangle 2">
            <a:extLst>
              <a:ext uri="{FF2B5EF4-FFF2-40B4-BE49-F238E27FC236}">
                <a16:creationId xmlns:a16="http://schemas.microsoft.com/office/drawing/2014/main" id="{DA223185-1FBF-46BA-892E-E5FE298D116F}"/>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A6556AA8-6216-4785-BB34-C6D763C4E8A2}"/>
              </a:ext>
            </a:extLst>
          </p:cNvPr>
          <p:cNvSpPr>
            <a:spLocks noGrp="1"/>
          </p:cNvSpPr>
          <p:nvPr/>
        </p:nvSpPr>
        <p:spPr>
          <a:xfrm>
            <a:off x="704850" y="2047875"/>
            <a:ext cx="3238500" cy="2857500"/>
          </a:xfrm>
          <a:prstGeom prst="rect">
            <a:avLst/>
          </a:prstGeom>
          <a:solidFill>
            <a:srgbClr val="F0FDF4"/>
          </a:solidFill>
          <a:ln w="19050">
            <a:solidFill>
              <a:srgbClr val="BBF7D0"/>
            </a:solidFill>
            <a:prstDash val="solid"/>
          </a:ln>
        </p:spPr>
      </p:sp>
      <p:sp>
        <p:nvSpPr>
          <p:cNvPr id="5" name="Rectangle 4">
            <a:extLst>
              <a:ext uri="{FF2B5EF4-FFF2-40B4-BE49-F238E27FC236}">
                <a16:creationId xmlns:a16="http://schemas.microsoft.com/office/drawing/2014/main" id="{C7905EAF-D9D3-4EBA-8C63-9F6AD15BB5FB}"/>
              </a:ext>
            </a:extLst>
          </p:cNvPr>
          <p:cNvSpPr>
            <a:spLocks noGrp="1"/>
          </p:cNvSpPr>
          <p:nvPr/>
        </p:nvSpPr>
        <p:spPr>
          <a:xfrm>
            <a:off x="1000125" y="2333625"/>
            <a:ext cx="2667000" cy="323850"/>
          </a:xfrm>
          <a:prstGeom prst="rect">
            <a:avLst/>
          </a:prstGeom>
          <a:noFill/>
          <a:ln w="0">
            <a:noFill/>
            <a:prstDash val="solid"/>
          </a:ln>
        </p:spPr>
        <p:txBody>
          <a:bodyPr/>
          <a:lstStyle/>
          <a:p>
            <a:pPr algn="l">
              <a:defRPr sz="2100" b="1">
                <a:solidFill>
                  <a:srgbClr val="16A34A"/>
                </a:solidFill>
              </a:defRPr>
            </a:pPr>
            <a:r>
              <a:rPr sz="2100" b="1">
                <a:solidFill>
                  <a:srgbClr val="16A34A"/>
                </a:solidFill>
              </a:rPr>
              <a:t>Technical</a:t>
            </a:r>
          </a:p>
        </p:txBody>
      </p:sp>
      <p:sp>
        <p:nvSpPr>
          <p:cNvPr id="6" name="Rectangle 5">
            <a:extLst>
              <a:ext uri="{FF2B5EF4-FFF2-40B4-BE49-F238E27FC236}">
                <a16:creationId xmlns:a16="http://schemas.microsoft.com/office/drawing/2014/main" id="{D47E568D-A538-44CC-9329-C8DEA147F29C}"/>
              </a:ext>
            </a:extLst>
          </p:cNvPr>
          <p:cNvSpPr>
            <a:spLocks noGrp="1"/>
          </p:cNvSpPr>
          <p:nvPr/>
        </p:nvSpPr>
        <p:spPr>
          <a:xfrm>
            <a:off x="1000125" y="2905125"/>
            <a:ext cx="2667000" cy="1428750"/>
          </a:xfrm>
          <a:prstGeom prst="rect">
            <a:avLst/>
          </a:prstGeom>
          <a:noFill/>
          <a:ln w="0">
            <a:noFill/>
            <a:prstDash val="solid"/>
          </a:ln>
        </p:spPr>
        <p:txBody>
          <a:bodyPr/>
          <a:lstStyle/>
          <a:p>
            <a:pPr algn="l">
              <a:defRPr sz="1350" b="0">
                <a:solidFill>
                  <a:srgbClr val="111827"/>
                </a:solidFill>
              </a:defRPr>
            </a:pPr>
            <a:r>
              <a:rPr sz="1350" b="0">
                <a:solidFill>
                  <a:srgbClr val="111827"/>
                </a:solidFill>
              </a:rPr>
              <a:t>• Weakly-supervised classification-to-segmentation pipeline</a:t>
            </a:r>
          </a:p>
          <a:p>
            <a:pPr algn="l">
              <a:defRPr sz="1350" b="0">
                <a:solidFill>
                  <a:srgbClr val="111827"/>
                </a:solidFill>
              </a:defRPr>
            </a:pPr>
            <a:r>
              <a:rPr sz="1350" b="0">
                <a:solidFill>
                  <a:srgbClr val="111827"/>
                </a:solidFill>
              </a:rPr>
              <a:t>• Healthy mask rỗng</a:t>
            </a:r>
          </a:p>
          <a:p>
            <a:pPr algn="l">
              <a:defRPr sz="1350" b="0">
                <a:solidFill>
                  <a:srgbClr val="111827"/>
                </a:solidFill>
              </a:defRPr>
            </a:pPr>
            <a:r>
              <a:rPr sz="1350" b="0">
                <a:solidFill>
                  <a:srgbClr val="111827"/>
                </a:solidFill>
              </a:rPr>
              <a:t>• F1 fusion có kiểm soát</a:t>
            </a:r>
          </a:p>
        </p:txBody>
      </p:sp>
      <p:sp>
        <p:nvSpPr>
          <p:cNvPr id="7" name="Rectangle 6">
            <a:extLst>
              <a:ext uri="{FF2B5EF4-FFF2-40B4-BE49-F238E27FC236}">
                <a16:creationId xmlns:a16="http://schemas.microsoft.com/office/drawing/2014/main" id="{EAE93107-194D-42E4-BE1D-BC2185E5FAA0}"/>
              </a:ext>
            </a:extLst>
          </p:cNvPr>
          <p:cNvSpPr>
            <a:spLocks noGrp="1"/>
          </p:cNvSpPr>
          <p:nvPr/>
        </p:nvSpPr>
        <p:spPr>
          <a:xfrm>
            <a:off x="4476750" y="2047875"/>
            <a:ext cx="3238500" cy="2857500"/>
          </a:xfrm>
          <a:prstGeom prst="rect">
            <a:avLst/>
          </a:prstGeom>
          <a:solidFill>
            <a:srgbClr val="EFF6FF"/>
          </a:solidFill>
          <a:ln w="19050">
            <a:solidFill>
              <a:srgbClr val="BFDBFE"/>
            </a:solidFill>
            <a:prstDash val="solid"/>
          </a:ln>
        </p:spPr>
      </p:sp>
      <p:sp>
        <p:nvSpPr>
          <p:cNvPr id="8" name="Rectangle 7">
            <a:extLst>
              <a:ext uri="{FF2B5EF4-FFF2-40B4-BE49-F238E27FC236}">
                <a16:creationId xmlns:a16="http://schemas.microsoft.com/office/drawing/2014/main" id="{BCC16F9D-C6E3-44E5-B19F-F1C1E00F7E1A}"/>
              </a:ext>
            </a:extLst>
          </p:cNvPr>
          <p:cNvSpPr>
            <a:spLocks noGrp="1"/>
          </p:cNvSpPr>
          <p:nvPr/>
        </p:nvSpPr>
        <p:spPr>
          <a:xfrm>
            <a:off x="4762500" y="2333625"/>
            <a:ext cx="2667000" cy="323850"/>
          </a:xfrm>
          <a:prstGeom prst="rect">
            <a:avLst/>
          </a:prstGeom>
          <a:noFill/>
          <a:ln w="0">
            <a:noFill/>
            <a:prstDash val="solid"/>
          </a:ln>
        </p:spPr>
        <p:txBody>
          <a:bodyPr/>
          <a:lstStyle/>
          <a:p>
            <a:pPr algn="l">
              <a:defRPr sz="2100" b="1">
                <a:solidFill>
                  <a:srgbClr val="2563EB"/>
                </a:solidFill>
              </a:defRPr>
            </a:pPr>
            <a:r>
              <a:rPr sz="2100" b="1">
                <a:solidFill>
                  <a:srgbClr val="2563EB"/>
                </a:solidFill>
              </a:rPr>
              <a:t>Experimental</a:t>
            </a:r>
          </a:p>
        </p:txBody>
      </p:sp>
      <p:sp>
        <p:nvSpPr>
          <p:cNvPr id="9" name="Rectangle 8">
            <a:extLst>
              <a:ext uri="{FF2B5EF4-FFF2-40B4-BE49-F238E27FC236}">
                <a16:creationId xmlns:a16="http://schemas.microsoft.com/office/drawing/2014/main" id="{AEA463AE-109E-4F26-8B3E-B6CFA3249E76}"/>
              </a:ext>
            </a:extLst>
          </p:cNvPr>
          <p:cNvSpPr>
            <a:spLocks noGrp="1"/>
          </p:cNvSpPr>
          <p:nvPr/>
        </p:nvSpPr>
        <p:spPr>
          <a:xfrm>
            <a:off x="4762500" y="2905125"/>
            <a:ext cx="2667000" cy="1428750"/>
          </a:xfrm>
          <a:prstGeom prst="rect">
            <a:avLst/>
          </a:prstGeom>
          <a:noFill/>
          <a:ln w="0">
            <a:noFill/>
            <a:prstDash val="solid"/>
          </a:ln>
        </p:spPr>
        <p:txBody>
          <a:bodyPr/>
          <a:lstStyle/>
          <a:p>
            <a:pPr algn="l">
              <a:defRPr sz="1350" b="0">
                <a:solidFill>
                  <a:srgbClr val="111827"/>
                </a:solidFill>
              </a:defRPr>
            </a:pPr>
            <a:r>
              <a:rPr sz="1350" b="0">
                <a:solidFill>
                  <a:srgbClr val="111827"/>
                </a:solidFill>
              </a:rPr>
              <a:t>• So sánh E1-E4 trên GT_OK</a:t>
            </a:r>
          </a:p>
          <a:p>
            <a:pPr algn="l">
              <a:defRPr sz="1350" b="0">
                <a:solidFill>
                  <a:srgbClr val="111827"/>
                </a:solidFill>
              </a:defRPr>
            </a:pPr>
            <a:r>
              <a:rPr sz="1350" b="0">
                <a:solidFill>
                  <a:srgbClr val="111827"/>
                </a:solidFill>
              </a:rPr>
              <a:t>• Chỉ ra giới hạn pseudo-test</a:t>
            </a:r>
          </a:p>
          <a:p>
            <a:pPr algn="l">
              <a:defRPr sz="1350" b="0">
                <a:solidFill>
                  <a:srgbClr val="111827"/>
                </a:solidFill>
              </a:defRPr>
            </a:pPr>
            <a:r>
              <a:rPr sz="1350" b="0">
                <a:solidFill>
                  <a:srgbClr val="111827"/>
                </a:solidFill>
              </a:rPr>
              <a:t>• Phân tích SAM bằng precision/recall</a:t>
            </a:r>
          </a:p>
        </p:txBody>
      </p:sp>
      <p:sp>
        <p:nvSpPr>
          <p:cNvPr id="10" name="Rectangle 9">
            <a:extLst>
              <a:ext uri="{FF2B5EF4-FFF2-40B4-BE49-F238E27FC236}">
                <a16:creationId xmlns:a16="http://schemas.microsoft.com/office/drawing/2014/main" id="{EE2A62AF-24A4-4DC0-B3CD-55E5CBDC48F3}"/>
              </a:ext>
            </a:extLst>
          </p:cNvPr>
          <p:cNvSpPr>
            <a:spLocks noGrp="1"/>
          </p:cNvSpPr>
          <p:nvPr/>
        </p:nvSpPr>
        <p:spPr>
          <a:xfrm>
            <a:off x="8248650" y="2047875"/>
            <a:ext cx="3238500" cy="2857500"/>
          </a:xfrm>
          <a:prstGeom prst="rect">
            <a:avLst/>
          </a:prstGeom>
          <a:solidFill>
            <a:srgbClr val="FFF7ED"/>
          </a:solidFill>
          <a:ln w="19050">
            <a:solidFill>
              <a:srgbClr val="FED7AA"/>
            </a:solidFill>
            <a:prstDash val="solid"/>
          </a:ln>
        </p:spPr>
      </p:sp>
      <p:sp>
        <p:nvSpPr>
          <p:cNvPr id="11" name="Rectangle 10">
            <a:extLst>
              <a:ext uri="{FF2B5EF4-FFF2-40B4-BE49-F238E27FC236}">
                <a16:creationId xmlns:a16="http://schemas.microsoft.com/office/drawing/2014/main" id="{A508B621-C06A-4950-9C0F-25E994C518C4}"/>
              </a:ext>
            </a:extLst>
          </p:cNvPr>
          <p:cNvSpPr>
            <a:spLocks noGrp="1"/>
          </p:cNvSpPr>
          <p:nvPr/>
        </p:nvSpPr>
        <p:spPr>
          <a:xfrm>
            <a:off x="8534400" y="2333625"/>
            <a:ext cx="2667000" cy="323850"/>
          </a:xfrm>
          <a:prstGeom prst="rect">
            <a:avLst/>
          </a:prstGeom>
          <a:noFill/>
          <a:ln w="0">
            <a:noFill/>
            <a:prstDash val="solid"/>
          </a:ln>
        </p:spPr>
        <p:txBody>
          <a:bodyPr/>
          <a:lstStyle/>
          <a:p>
            <a:pPr algn="l">
              <a:defRPr sz="2100" b="1">
                <a:solidFill>
                  <a:srgbClr val="D97706"/>
                </a:solidFill>
              </a:defRPr>
            </a:pPr>
            <a:r>
              <a:rPr sz="2100" b="1">
                <a:solidFill>
                  <a:srgbClr val="D97706"/>
                </a:solidFill>
              </a:rPr>
              <a:t>Practical</a:t>
            </a:r>
          </a:p>
        </p:txBody>
      </p:sp>
      <p:sp>
        <p:nvSpPr>
          <p:cNvPr id="12" name="Rectangle 11">
            <a:extLst>
              <a:ext uri="{FF2B5EF4-FFF2-40B4-BE49-F238E27FC236}">
                <a16:creationId xmlns:a16="http://schemas.microsoft.com/office/drawing/2014/main" id="{18FCEFC6-CC19-463B-8C85-E6C50F5070B9}"/>
              </a:ext>
            </a:extLst>
          </p:cNvPr>
          <p:cNvSpPr>
            <a:spLocks noGrp="1"/>
          </p:cNvSpPr>
          <p:nvPr/>
        </p:nvSpPr>
        <p:spPr>
          <a:xfrm>
            <a:off x="8534400" y="2905125"/>
            <a:ext cx="2667000" cy="1428750"/>
          </a:xfrm>
          <a:prstGeom prst="rect">
            <a:avLst/>
          </a:prstGeom>
          <a:noFill/>
          <a:ln w="0">
            <a:noFill/>
            <a:prstDash val="solid"/>
          </a:ln>
        </p:spPr>
        <p:txBody>
          <a:bodyPr/>
          <a:lstStyle/>
          <a:p>
            <a:pPr algn="l">
              <a:defRPr sz="1350" b="0">
                <a:solidFill>
                  <a:srgbClr val="111827"/>
                </a:solidFill>
              </a:defRPr>
            </a:pPr>
            <a:r>
              <a:rPr sz="1350" b="0">
                <a:solidFill>
                  <a:srgbClr val="111827"/>
                </a:solidFill>
              </a:rPr>
              <a:t>• Demo inference</a:t>
            </a:r>
          </a:p>
          <a:p>
            <a:pPr algn="l">
              <a:defRPr sz="1350" b="0">
                <a:solidFill>
                  <a:srgbClr val="111827"/>
                </a:solidFill>
              </a:defRPr>
            </a:pPr>
            <a:r>
              <a:rPr sz="1350" b="0">
                <a:solidFill>
                  <a:srgbClr val="111827"/>
                </a:solidFill>
              </a:rPr>
              <a:t>• Nhãn bệnh + heatmap + mask</a:t>
            </a:r>
          </a:p>
          <a:p>
            <a:pPr algn="l">
              <a:defRPr sz="1350" b="0">
                <a:solidFill>
                  <a:srgbClr val="111827"/>
                </a:solidFill>
              </a:defRPr>
            </a:pPr>
            <a:r>
              <a:rPr sz="1350" b="0">
                <a:solidFill>
                  <a:srgbClr val="111827"/>
                </a:solidFill>
              </a:rPr>
              <a:t>• Cơ sở cho đánh giá severity</a:t>
            </a:r>
          </a:p>
        </p:txBody>
      </p:sp>
      <p:sp>
        <p:nvSpPr>
          <p:cNvPr id="13" name="Rectangle 12">
            <a:extLst>
              <a:ext uri="{FF2B5EF4-FFF2-40B4-BE49-F238E27FC236}">
                <a16:creationId xmlns:a16="http://schemas.microsoft.com/office/drawing/2014/main" id="{DE4C366C-FDD1-4FC4-8D3C-7E5EDF2E4277}"/>
              </a:ext>
            </a:extLst>
          </p:cNvPr>
          <p:cNvSpPr>
            <a:spLocks noGrp="1"/>
          </p:cNvSpPr>
          <p:nvPr/>
        </p:nvSpPr>
        <p:spPr>
          <a:xfrm>
            <a:off x="1143000" y="5429250"/>
            <a:ext cx="9906000" cy="381000"/>
          </a:xfrm>
          <a:prstGeom prst="rect">
            <a:avLst/>
          </a:prstGeom>
          <a:noFill/>
          <a:ln w="0">
            <a:noFill/>
            <a:prstDash val="solid"/>
          </a:ln>
        </p:spPr>
        <p:txBody>
          <a:bodyPr/>
          <a:lstStyle/>
          <a:p>
            <a:pPr algn="ctr">
              <a:defRPr sz="1500" b="1">
                <a:solidFill>
                  <a:srgbClr val="111827"/>
                </a:solidFill>
              </a:defRPr>
            </a:pPr>
            <a:r>
              <a:rPr sz="1500" b="1">
                <a:solidFill>
                  <a:srgbClr val="111827"/>
                </a:solidFill>
              </a:rPr>
              <a:t>Không claim novelty ở kiến trúc; đóng góp là kết hợp, kiểm chứng và phân tích giới hạn trên dữ liệu thực.</a:t>
            </a:r>
          </a:p>
        </p:txBody>
      </p:sp>
      <p:sp>
        <p:nvSpPr>
          <p:cNvPr id="14" name="Rectangle 13">
            <a:extLst>
              <a:ext uri="{FF2B5EF4-FFF2-40B4-BE49-F238E27FC236}">
                <a16:creationId xmlns:a16="http://schemas.microsoft.com/office/drawing/2014/main" id="{AC2E3155-7E31-467B-B42F-944289330838}"/>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19/21</a:t>
            </a:r>
          </a:p>
        </p:txBody>
      </p:sp>
    </p:spTree>
    <p:extLst>
      <p:ext uri="{BB962C8B-B14F-4D97-AF65-F5344CB8AC3E}">
        <p14:creationId xmlns:p14="http://schemas.microsoft.com/office/powerpoint/2010/main" val="1467215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BD5CDBE-4DA7-41A7-9FFF-EDFC986D3B18}"/>
              </a:ext>
            </a:extLst>
          </p:cNvPr>
          <p:cNvSpPr>
            <a:spLocks noGrp="1"/>
          </p:cNvSpPr>
          <p:nvPr/>
        </p:nvSpPr>
        <p:spPr>
          <a:xfrm>
            <a:off x="609600" y="457200"/>
            <a:ext cx="8667750" cy="781050"/>
          </a:xfrm>
          <a:prstGeom prst="rect">
            <a:avLst/>
          </a:prstGeom>
          <a:noFill/>
          <a:ln w="0">
            <a:noFill/>
            <a:prstDash val="solid"/>
          </a:ln>
        </p:spPr>
        <p:txBody>
          <a:bodyPr/>
          <a:lstStyle/>
          <a:p>
            <a:pPr algn="l">
              <a:defRPr sz="2850" b="1">
                <a:solidFill>
                  <a:srgbClr val="111827"/>
                </a:solidFill>
              </a:defRPr>
            </a:pPr>
            <a:r>
              <a:rPr sz="2850" b="1">
                <a:solidFill>
                  <a:srgbClr val="111827"/>
                </a:solidFill>
              </a:rPr>
              <a:t>Hạn chế mở ra hướng cải tiến trực tiếp</a:t>
            </a:r>
          </a:p>
        </p:txBody>
      </p:sp>
      <p:sp>
        <p:nvSpPr>
          <p:cNvPr id="2" name="Rectangle 1">
            <a:extLst>
              <a:ext uri="{FF2B5EF4-FFF2-40B4-BE49-F238E27FC236}">
                <a16:creationId xmlns:a16="http://schemas.microsoft.com/office/drawing/2014/main" id="{DBE7C546-AA94-4D85-82E9-BAE5ECB98731}"/>
              </a:ext>
            </a:extLst>
          </p:cNvPr>
          <p:cNvSpPr>
            <a:spLocks noGrp="1"/>
          </p:cNvSpPr>
          <p:nvPr/>
        </p:nvSpPr>
        <p:spPr>
          <a:xfrm>
            <a:off x="628650" y="1181100"/>
            <a:ext cx="8572500" cy="323850"/>
          </a:xfrm>
          <a:prstGeom prst="rect">
            <a:avLst/>
          </a:prstGeom>
          <a:noFill/>
          <a:ln w="0">
            <a:noFill/>
            <a:prstDash val="solid"/>
          </a:ln>
        </p:spPr>
        <p:txBody>
          <a:bodyPr/>
          <a:lstStyle/>
          <a:p>
            <a:pPr algn="l">
              <a:defRPr sz="1350" b="0">
                <a:solidFill>
                  <a:srgbClr val="64748B"/>
                </a:solidFill>
              </a:defRPr>
            </a:pPr>
            <a:r>
              <a:rPr sz="1350" b="0">
                <a:solidFill>
                  <a:srgbClr val="64748B"/>
                </a:solidFill>
              </a:rPr>
              <a:t>Limitations and future work</a:t>
            </a:r>
          </a:p>
        </p:txBody>
      </p:sp>
      <p:sp>
        <p:nvSpPr>
          <p:cNvPr id="3" name="Rectangle 2">
            <a:extLst>
              <a:ext uri="{FF2B5EF4-FFF2-40B4-BE49-F238E27FC236}">
                <a16:creationId xmlns:a16="http://schemas.microsoft.com/office/drawing/2014/main" id="{5AA4CE81-200F-421D-95E1-B47ED88B3479}"/>
              </a:ext>
            </a:extLst>
          </p:cNvPr>
          <p:cNvSpPr>
            <a:spLocks noGrp="1"/>
          </p:cNvSpPr>
          <p:nvPr/>
        </p:nvSpPr>
        <p:spPr>
          <a:xfrm>
            <a:off x="609600" y="1562100"/>
            <a:ext cx="1809750" cy="38100"/>
          </a:xfrm>
          <a:prstGeom prst="rect">
            <a:avLst/>
          </a:prstGeom>
          <a:solidFill>
            <a:srgbClr val="16A34A"/>
          </a:solidFill>
          <a:ln w="0">
            <a:noFill/>
            <a:prstDash val="solid"/>
          </a:ln>
        </p:spPr>
      </p:sp>
      <p:sp>
        <p:nvSpPr>
          <p:cNvPr id="4" name="Rectangle 3">
            <a:extLst>
              <a:ext uri="{FF2B5EF4-FFF2-40B4-BE49-F238E27FC236}">
                <a16:creationId xmlns:a16="http://schemas.microsoft.com/office/drawing/2014/main" id="{B78F474E-9AC0-4948-848F-B426085A2BA0}"/>
              </a:ext>
            </a:extLst>
          </p:cNvPr>
          <p:cNvSpPr>
            <a:spLocks noGrp="1"/>
          </p:cNvSpPr>
          <p:nvPr/>
        </p:nvSpPr>
        <p:spPr>
          <a:xfrm>
            <a:off x="704850" y="1952625"/>
            <a:ext cx="4762500" cy="619125"/>
          </a:xfrm>
          <a:prstGeom prst="rect">
            <a:avLst/>
          </a:prstGeom>
          <a:solidFill>
            <a:srgbClr val="FEE2E2"/>
          </a:solidFill>
          <a:ln w="9525">
            <a:solidFill>
              <a:srgbClr val="CBD5E1"/>
            </a:solidFill>
            <a:prstDash val="solid"/>
          </a:ln>
        </p:spPr>
      </p:sp>
      <p:sp>
        <p:nvSpPr>
          <p:cNvPr id="5" name="Rectangle 4">
            <a:extLst>
              <a:ext uri="{FF2B5EF4-FFF2-40B4-BE49-F238E27FC236}">
                <a16:creationId xmlns:a16="http://schemas.microsoft.com/office/drawing/2014/main" id="{44371108-CFCF-4B78-8676-6C75BE9A70EE}"/>
              </a:ext>
            </a:extLst>
          </p:cNvPr>
          <p:cNvSpPr>
            <a:spLocks noGrp="1"/>
          </p:cNvSpPr>
          <p:nvPr/>
        </p:nvSpPr>
        <p:spPr>
          <a:xfrm>
            <a:off x="781050" y="2028825"/>
            <a:ext cx="461010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Hạn chế</a:t>
            </a:r>
          </a:p>
        </p:txBody>
      </p:sp>
      <p:sp>
        <p:nvSpPr>
          <p:cNvPr id="6" name="Rectangle 5">
            <a:extLst>
              <a:ext uri="{FF2B5EF4-FFF2-40B4-BE49-F238E27FC236}">
                <a16:creationId xmlns:a16="http://schemas.microsoft.com/office/drawing/2014/main" id="{00F45559-D078-4272-9FE4-831B407EF5D3}"/>
              </a:ext>
            </a:extLst>
          </p:cNvPr>
          <p:cNvSpPr>
            <a:spLocks noGrp="1"/>
          </p:cNvSpPr>
          <p:nvPr/>
        </p:nvSpPr>
        <p:spPr>
          <a:xfrm>
            <a:off x="5467350" y="1952625"/>
            <a:ext cx="6019800" cy="619125"/>
          </a:xfrm>
          <a:prstGeom prst="rect">
            <a:avLst/>
          </a:prstGeom>
          <a:solidFill>
            <a:srgbClr val="FEE2E2"/>
          </a:solidFill>
          <a:ln w="9525">
            <a:solidFill>
              <a:srgbClr val="CBD5E1"/>
            </a:solidFill>
            <a:prstDash val="solid"/>
          </a:ln>
        </p:spPr>
      </p:sp>
      <p:sp>
        <p:nvSpPr>
          <p:cNvPr id="7" name="Rectangle 6">
            <a:extLst>
              <a:ext uri="{FF2B5EF4-FFF2-40B4-BE49-F238E27FC236}">
                <a16:creationId xmlns:a16="http://schemas.microsoft.com/office/drawing/2014/main" id="{2507A642-0E6C-4C0D-A674-4A666742D268}"/>
              </a:ext>
            </a:extLst>
          </p:cNvPr>
          <p:cNvSpPr>
            <a:spLocks noGrp="1"/>
          </p:cNvSpPr>
          <p:nvPr/>
        </p:nvSpPr>
        <p:spPr>
          <a:xfrm>
            <a:off x="5543550" y="2028825"/>
            <a:ext cx="5867400" cy="504825"/>
          </a:xfrm>
          <a:prstGeom prst="rect">
            <a:avLst/>
          </a:prstGeom>
          <a:noFill/>
          <a:ln w="0">
            <a:noFill/>
            <a:prstDash val="solid"/>
          </a:ln>
        </p:spPr>
        <p:txBody>
          <a:bodyPr/>
          <a:lstStyle/>
          <a:p>
            <a:pPr algn="l">
              <a:defRPr sz="1200" b="1">
                <a:solidFill>
                  <a:srgbClr val="111827"/>
                </a:solidFill>
              </a:defRPr>
            </a:pPr>
            <a:r>
              <a:rPr sz="1200" b="1">
                <a:solidFill>
                  <a:srgbClr val="111827"/>
                </a:solidFill>
              </a:rPr>
              <a:t>Hướng phát triển</a:t>
            </a:r>
          </a:p>
        </p:txBody>
      </p:sp>
      <p:sp>
        <p:nvSpPr>
          <p:cNvPr id="8" name="Rectangle 7">
            <a:extLst>
              <a:ext uri="{FF2B5EF4-FFF2-40B4-BE49-F238E27FC236}">
                <a16:creationId xmlns:a16="http://schemas.microsoft.com/office/drawing/2014/main" id="{EDCADCDE-6C8B-4C02-9539-6422CE0AEABC}"/>
              </a:ext>
            </a:extLst>
          </p:cNvPr>
          <p:cNvSpPr>
            <a:spLocks noGrp="1"/>
          </p:cNvSpPr>
          <p:nvPr/>
        </p:nvSpPr>
        <p:spPr>
          <a:xfrm>
            <a:off x="704850" y="2571750"/>
            <a:ext cx="4762500" cy="619125"/>
          </a:xfrm>
          <a:prstGeom prst="rect">
            <a:avLst/>
          </a:prstGeom>
          <a:solidFill>
            <a:srgbClr val="FFFFFF"/>
          </a:solidFill>
          <a:ln w="9525">
            <a:solidFill>
              <a:srgbClr val="CBD5E1"/>
            </a:solidFill>
            <a:prstDash val="solid"/>
          </a:ln>
        </p:spPr>
      </p:sp>
      <p:sp>
        <p:nvSpPr>
          <p:cNvPr id="9" name="Rectangle 8">
            <a:extLst>
              <a:ext uri="{FF2B5EF4-FFF2-40B4-BE49-F238E27FC236}">
                <a16:creationId xmlns:a16="http://schemas.microsoft.com/office/drawing/2014/main" id="{657BD55B-D299-4358-A58A-4337D5173197}"/>
              </a:ext>
            </a:extLst>
          </p:cNvPr>
          <p:cNvSpPr>
            <a:spLocks noGrp="1"/>
          </p:cNvSpPr>
          <p:nvPr/>
        </p:nvSpPr>
        <p:spPr>
          <a:xfrm>
            <a:off x="781050" y="2647950"/>
            <a:ext cx="46101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GT_OK chỉ có 80 ảnh</a:t>
            </a:r>
          </a:p>
        </p:txBody>
      </p:sp>
      <p:sp>
        <p:nvSpPr>
          <p:cNvPr id="10" name="Rectangle 9">
            <a:extLst>
              <a:ext uri="{FF2B5EF4-FFF2-40B4-BE49-F238E27FC236}">
                <a16:creationId xmlns:a16="http://schemas.microsoft.com/office/drawing/2014/main" id="{EC4D240C-CE5C-4E31-825E-9D6BDED2AF75}"/>
              </a:ext>
            </a:extLst>
          </p:cNvPr>
          <p:cNvSpPr>
            <a:spLocks noGrp="1"/>
          </p:cNvSpPr>
          <p:nvPr/>
        </p:nvSpPr>
        <p:spPr>
          <a:xfrm>
            <a:off x="5467350" y="2571750"/>
            <a:ext cx="6019800" cy="619125"/>
          </a:xfrm>
          <a:prstGeom prst="rect">
            <a:avLst/>
          </a:prstGeom>
          <a:solidFill>
            <a:srgbClr val="FFFFFF"/>
          </a:solidFill>
          <a:ln w="9525">
            <a:solidFill>
              <a:srgbClr val="CBD5E1"/>
            </a:solidFill>
            <a:prstDash val="solid"/>
          </a:ln>
        </p:spPr>
      </p:sp>
      <p:sp>
        <p:nvSpPr>
          <p:cNvPr id="11" name="Rectangle 10">
            <a:extLst>
              <a:ext uri="{FF2B5EF4-FFF2-40B4-BE49-F238E27FC236}">
                <a16:creationId xmlns:a16="http://schemas.microsoft.com/office/drawing/2014/main" id="{A380550F-33DA-46B3-AF50-5E42FA806653}"/>
              </a:ext>
            </a:extLst>
          </p:cNvPr>
          <p:cNvSpPr>
            <a:spLocks noGrp="1"/>
          </p:cNvSpPr>
          <p:nvPr/>
        </p:nvSpPr>
        <p:spPr>
          <a:xfrm>
            <a:off x="5543550" y="2647950"/>
            <a:ext cx="58674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Mở rộng mask thủ công và holdout độc lập</a:t>
            </a:r>
          </a:p>
        </p:txBody>
      </p:sp>
      <p:sp>
        <p:nvSpPr>
          <p:cNvPr id="12" name="Rectangle 11">
            <a:extLst>
              <a:ext uri="{FF2B5EF4-FFF2-40B4-BE49-F238E27FC236}">
                <a16:creationId xmlns:a16="http://schemas.microsoft.com/office/drawing/2014/main" id="{76F9D1B1-697C-430A-86E5-3187466125EC}"/>
              </a:ext>
            </a:extLst>
          </p:cNvPr>
          <p:cNvSpPr>
            <a:spLocks noGrp="1"/>
          </p:cNvSpPr>
          <p:nvPr/>
        </p:nvSpPr>
        <p:spPr>
          <a:xfrm>
            <a:off x="704850" y="3190875"/>
            <a:ext cx="4762500" cy="619125"/>
          </a:xfrm>
          <a:prstGeom prst="rect">
            <a:avLst/>
          </a:prstGeom>
          <a:solidFill>
            <a:srgbClr val="F8FAFC"/>
          </a:solidFill>
          <a:ln w="9525">
            <a:solidFill>
              <a:srgbClr val="CBD5E1"/>
            </a:solidFill>
            <a:prstDash val="solid"/>
          </a:ln>
        </p:spPr>
      </p:sp>
      <p:sp>
        <p:nvSpPr>
          <p:cNvPr id="13" name="Rectangle 12">
            <a:extLst>
              <a:ext uri="{FF2B5EF4-FFF2-40B4-BE49-F238E27FC236}">
                <a16:creationId xmlns:a16="http://schemas.microsoft.com/office/drawing/2014/main" id="{A29E23FD-2846-41A3-8694-1F3CB83148C1}"/>
              </a:ext>
            </a:extLst>
          </p:cNvPr>
          <p:cNvSpPr>
            <a:spLocks noGrp="1"/>
          </p:cNvSpPr>
          <p:nvPr/>
        </p:nvSpPr>
        <p:spPr>
          <a:xfrm>
            <a:off x="781050" y="3267075"/>
            <a:ext cx="46101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Precision segmentation còn thấp</a:t>
            </a:r>
          </a:p>
        </p:txBody>
      </p:sp>
      <p:sp>
        <p:nvSpPr>
          <p:cNvPr id="14" name="Rectangle 13">
            <a:extLst>
              <a:ext uri="{FF2B5EF4-FFF2-40B4-BE49-F238E27FC236}">
                <a16:creationId xmlns:a16="http://schemas.microsoft.com/office/drawing/2014/main" id="{1855FD64-A670-46B5-9692-7E23AE4F84FD}"/>
              </a:ext>
            </a:extLst>
          </p:cNvPr>
          <p:cNvSpPr>
            <a:spLocks noGrp="1"/>
          </p:cNvSpPr>
          <p:nvPr/>
        </p:nvSpPr>
        <p:spPr>
          <a:xfrm>
            <a:off x="5467350" y="3190875"/>
            <a:ext cx="6019800" cy="619125"/>
          </a:xfrm>
          <a:prstGeom prst="rect">
            <a:avLst/>
          </a:prstGeom>
          <a:solidFill>
            <a:srgbClr val="F8FAFC"/>
          </a:solidFill>
          <a:ln w="9525">
            <a:solidFill>
              <a:srgbClr val="CBD5E1"/>
            </a:solidFill>
            <a:prstDash val="solid"/>
          </a:ln>
        </p:spPr>
      </p:sp>
      <p:sp>
        <p:nvSpPr>
          <p:cNvPr id="15" name="Rectangle 14">
            <a:extLst>
              <a:ext uri="{FF2B5EF4-FFF2-40B4-BE49-F238E27FC236}">
                <a16:creationId xmlns:a16="http://schemas.microsoft.com/office/drawing/2014/main" id="{C597DD5B-3190-48A4-89EE-0D9739CFCEEF}"/>
              </a:ext>
            </a:extLst>
          </p:cNvPr>
          <p:cNvSpPr>
            <a:spLocks noGrp="1"/>
          </p:cNvSpPr>
          <p:nvPr/>
        </p:nvSpPr>
        <p:spPr>
          <a:xfrm>
            <a:off x="5543550" y="3267075"/>
            <a:ext cx="58674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Fine-tune với GT thật, quality gate theo lớp</a:t>
            </a:r>
          </a:p>
        </p:txBody>
      </p:sp>
      <p:sp>
        <p:nvSpPr>
          <p:cNvPr id="16" name="Rectangle 15">
            <a:extLst>
              <a:ext uri="{FF2B5EF4-FFF2-40B4-BE49-F238E27FC236}">
                <a16:creationId xmlns:a16="http://schemas.microsoft.com/office/drawing/2014/main" id="{58D2943E-80C3-4DB8-B574-7EAFD297BB72}"/>
              </a:ext>
            </a:extLst>
          </p:cNvPr>
          <p:cNvSpPr>
            <a:spLocks noGrp="1"/>
          </p:cNvSpPr>
          <p:nvPr/>
        </p:nvSpPr>
        <p:spPr>
          <a:xfrm>
            <a:off x="704850" y="3810000"/>
            <a:ext cx="4762500" cy="619125"/>
          </a:xfrm>
          <a:prstGeom prst="rect">
            <a:avLst/>
          </a:prstGeom>
          <a:solidFill>
            <a:srgbClr val="FFFFFF"/>
          </a:solidFill>
          <a:ln w="9525">
            <a:solidFill>
              <a:srgbClr val="CBD5E1"/>
            </a:solidFill>
            <a:prstDash val="solid"/>
          </a:ln>
        </p:spPr>
      </p:sp>
      <p:sp>
        <p:nvSpPr>
          <p:cNvPr id="17" name="Rectangle 16">
            <a:extLst>
              <a:ext uri="{FF2B5EF4-FFF2-40B4-BE49-F238E27FC236}">
                <a16:creationId xmlns:a16="http://schemas.microsoft.com/office/drawing/2014/main" id="{3DD59BD4-F8AA-4CE0-87A4-7E147669FCFE}"/>
              </a:ext>
            </a:extLst>
          </p:cNvPr>
          <p:cNvSpPr>
            <a:spLocks noGrp="1"/>
          </p:cNvSpPr>
          <p:nvPr/>
        </p:nvSpPr>
        <p:spPr>
          <a:xfrm>
            <a:off x="781050" y="3886200"/>
            <a:ext cx="46101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Chưa kiểm thử dataset ngoài</a:t>
            </a:r>
          </a:p>
        </p:txBody>
      </p:sp>
      <p:sp>
        <p:nvSpPr>
          <p:cNvPr id="18" name="Rectangle 17">
            <a:extLst>
              <a:ext uri="{FF2B5EF4-FFF2-40B4-BE49-F238E27FC236}">
                <a16:creationId xmlns:a16="http://schemas.microsoft.com/office/drawing/2014/main" id="{4411DE48-39E8-4B1D-A748-DD66FE5D0D7C}"/>
              </a:ext>
            </a:extLst>
          </p:cNvPr>
          <p:cNvSpPr>
            <a:spLocks noGrp="1"/>
          </p:cNvSpPr>
          <p:nvPr/>
        </p:nvSpPr>
        <p:spPr>
          <a:xfrm>
            <a:off x="5467350" y="3810000"/>
            <a:ext cx="6019800" cy="619125"/>
          </a:xfrm>
          <a:prstGeom prst="rect">
            <a:avLst/>
          </a:prstGeom>
          <a:solidFill>
            <a:srgbClr val="FFFFFF"/>
          </a:solidFill>
          <a:ln w="9525">
            <a:solidFill>
              <a:srgbClr val="CBD5E1"/>
            </a:solidFill>
            <a:prstDash val="solid"/>
          </a:ln>
        </p:spPr>
      </p:sp>
      <p:sp>
        <p:nvSpPr>
          <p:cNvPr id="19" name="Rectangle 18">
            <a:extLst>
              <a:ext uri="{FF2B5EF4-FFF2-40B4-BE49-F238E27FC236}">
                <a16:creationId xmlns:a16="http://schemas.microsoft.com/office/drawing/2014/main" id="{6D70A25A-BDE5-41A4-83B0-DF55722461F4}"/>
              </a:ext>
            </a:extLst>
          </p:cNvPr>
          <p:cNvSpPr>
            <a:spLocks noGrp="1"/>
          </p:cNvSpPr>
          <p:nvPr/>
        </p:nvSpPr>
        <p:spPr>
          <a:xfrm>
            <a:off x="5543550" y="3886200"/>
            <a:ext cx="58674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Đánh giá trên vườn/vùng/thiết bị khác</a:t>
            </a:r>
          </a:p>
        </p:txBody>
      </p:sp>
      <p:sp>
        <p:nvSpPr>
          <p:cNvPr id="20" name="Rectangle 19">
            <a:extLst>
              <a:ext uri="{FF2B5EF4-FFF2-40B4-BE49-F238E27FC236}">
                <a16:creationId xmlns:a16="http://schemas.microsoft.com/office/drawing/2014/main" id="{F9201FE6-9CEF-411A-9517-09121CA503A0}"/>
              </a:ext>
            </a:extLst>
          </p:cNvPr>
          <p:cNvSpPr>
            <a:spLocks noGrp="1"/>
          </p:cNvSpPr>
          <p:nvPr/>
        </p:nvSpPr>
        <p:spPr>
          <a:xfrm>
            <a:off x="704850" y="4429125"/>
            <a:ext cx="4762500" cy="619125"/>
          </a:xfrm>
          <a:prstGeom prst="rect">
            <a:avLst/>
          </a:prstGeom>
          <a:solidFill>
            <a:srgbClr val="F8FAFC"/>
          </a:solidFill>
          <a:ln w="9525">
            <a:solidFill>
              <a:srgbClr val="CBD5E1"/>
            </a:solidFill>
            <a:prstDash val="solid"/>
          </a:ln>
        </p:spPr>
      </p:sp>
      <p:sp>
        <p:nvSpPr>
          <p:cNvPr id="21" name="Rectangle 20">
            <a:extLst>
              <a:ext uri="{FF2B5EF4-FFF2-40B4-BE49-F238E27FC236}">
                <a16:creationId xmlns:a16="http://schemas.microsoft.com/office/drawing/2014/main" id="{49EE61E4-E397-4E76-B64B-4FD7D7EF994B}"/>
              </a:ext>
            </a:extLst>
          </p:cNvPr>
          <p:cNvSpPr>
            <a:spLocks noGrp="1"/>
          </p:cNvSpPr>
          <p:nvPr/>
        </p:nvSpPr>
        <p:spPr>
          <a:xfrm>
            <a:off x="781050" y="4505325"/>
            <a:ext cx="46101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Pseudo-label chưa mã hóa mức độ bệnh</a:t>
            </a:r>
          </a:p>
        </p:txBody>
      </p:sp>
      <p:sp>
        <p:nvSpPr>
          <p:cNvPr id="22" name="Rectangle 21">
            <a:extLst>
              <a:ext uri="{FF2B5EF4-FFF2-40B4-BE49-F238E27FC236}">
                <a16:creationId xmlns:a16="http://schemas.microsoft.com/office/drawing/2014/main" id="{EB1424BB-C01D-4E7A-83E3-C586E4EE18A4}"/>
              </a:ext>
            </a:extLst>
          </p:cNvPr>
          <p:cNvSpPr>
            <a:spLocks noGrp="1"/>
          </p:cNvSpPr>
          <p:nvPr/>
        </p:nvSpPr>
        <p:spPr>
          <a:xfrm>
            <a:off x="5467350" y="4429125"/>
            <a:ext cx="6019800" cy="619125"/>
          </a:xfrm>
          <a:prstGeom prst="rect">
            <a:avLst/>
          </a:prstGeom>
          <a:solidFill>
            <a:srgbClr val="F8FAFC"/>
          </a:solidFill>
          <a:ln w="9525">
            <a:solidFill>
              <a:srgbClr val="CBD5E1"/>
            </a:solidFill>
            <a:prstDash val="solid"/>
          </a:ln>
        </p:spPr>
      </p:sp>
      <p:sp>
        <p:nvSpPr>
          <p:cNvPr id="23" name="Rectangle 22">
            <a:extLst>
              <a:ext uri="{FF2B5EF4-FFF2-40B4-BE49-F238E27FC236}">
                <a16:creationId xmlns:a16="http://schemas.microsoft.com/office/drawing/2014/main" id="{8CDC9ED6-4B18-4FB2-BDDE-D68E82F2BEF7}"/>
              </a:ext>
            </a:extLst>
          </p:cNvPr>
          <p:cNvSpPr>
            <a:spLocks noGrp="1"/>
          </p:cNvSpPr>
          <p:nvPr/>
        </p:nvSpPr>
        <p:spPr>
          <a:xfrm>
            <a:off x="5543550" y="4505325"/>
            <a:ext cx="58674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Ước lượng severity theo diện tích tổn thương</a:t>
            </a:r>
          </a:p>
        </p:txBody>
      </p:sp>
      <p:sp>
        <p:nvSpPr>
          <p:cNvPr id="24" name="Rectangle 23">
            <a:extLst>
              <a:ext uri="{FF2B5EF4-FFF2-40B4-BE49-F238E27FC236}">
                <a16:creationId xmlns:a16="http://schemas.microsoft.com/office/drawing/2014/main" id="{0DB5AAD1-5031-4F27-9368-B8B9D38B6D35}"/>
              </a:ext>
            </a:extLst>
          </p:cNvPr>
          <p:cNvSpPr>
            <a:spLocks noGrp="1"/>
          </p:cNvSpPr>
          <p:nvPr/>
        </p:nvSpPr>
        <p:spPr>
          <a:xfrm>
            <a:off x="704850" y="5048250"/>
            <a:ext cx="4762500" cy="619125"/>
          </a:xfrm>
          <a:prstGeom prst="rect">
            <a:avLst/>
          </a:prstGeom>
          <a:solidFill>
            <a:srgbClr val="FFFFFF"/>
          </a:solidFill>
          <a:ln w="9525">
            <a:solidFill>
              <a:srgbClr val="CBD5E1"/>
            </a:solidFill>
            <a:prstDash val="solid"/>
          </a:ln>
        </p:spPr>
      </p:sp>
      <p:sp>
        <p:nvSpPr>
          <p:cNvPr id="25" name="Rectangle 24">
            <a:extLst>
              <a:ext uri="{FF2B5EF4-FFF2-40B4-BE49-F238E27FC236}">
                <a16:creationId xmlns:a16="http://schemas.microsoft.com/office/drawing/2014/main" id="{11FE8754-4E59-43EB-94EF-725A05CC337B}"/>
              </a:ext>
            </a:extLst>
          </p:cNvPr>
          <p:cNvSpPr>
            <a:spLocks noGrp="1"/>
          </p:cNvSpPr>
          <p:nvPr/>
        </p:nvSpPr>
        <p:spPr>
          <a:xfrm>
            <a:off x="781050" y="5124450"/>
            <a:ext cx="46101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Mỗi cấu hình ít seed</a:t>
            </a:r>
          </a:p>
        </p:txBody>
      </p:sp>
      <p:sp>
        <p:nvSpPr>
          <p:cNvPr id="26" name="Rectangle 25">
            <a:extLst>
              <a:ext uri="{FF2B5EF4-FFF2-40B4-BE49-F238E27FC236}">
                <a16:creationId xmlns:a16="http://schemas.microsoft.com/office/drawing/2014/main" id="{ED9C7E3C-3DA6-4DD2-95E9-3D5AB9C9B7C4}"/>
              </a:ext>
            </a:extLst>
          </p:cNvPr>
          <p:cNvSpPr>
            <a:spLocks noGrp="1"/>
          </p:cNvSpPr>
          <p:nvPr/>
        </p:nvSpPr>
        <p:spPr>
          <a:xfrm>
            <a:off x="5467350" y="5048250"/>
            <a:ext cx="6019800" cy="619125"/>
          </a:xfrm>
          <a:prstGeom prst="rect">
            <a:avLst/>
          </a:prstGeom>
          <a:solidFill>
            <a:srgbClr val="FFFFFF"/>
          </a:solidFill>
          <a:ln w="9525">
            <a:solidFill>
              <a:srgbClr val="CBD5E1"/>
            </a:solidFill>
            <a:prstDash val="solid"/>
          </a:ln>
        </p:spPr>
      </p:sp>
      <p:sp>
        <p:nvSpPr>
          <p:cNvPr id="27" name="Rectangle 26">
            <a:extLst>
              <a:ext uri="{FF2B5EF4-FFF2-40B4-BE49-F238E27FC236}">
                <a16:creationId xmlns:a16="http://schemas.microsoft.com/office/drawing/2014/main" id="{F09A9791-9A3B-405E-BCA8-421903F399BC}"/>
              </a:ext>
            </a:extLst>
          </p:cNvPr>
          <p:cNvSpPr>
            <a:spLocks noGrp="1"/>
          </p:cNvSpPr>
          <p:nvPr/>
        </p:nvSpPr>
        <p:spPr>
          <a:xfrm>
            <a:off x="5543550" y="5124450"/>
            <a:ext cx="5867400" cy="504825"/>
          </a:xfrm>
          <a:prstGeom prst="rect">
            <a:avLst/>
          </a:prstGeom>
          <a:noFill/>
          <a:ln w="0">
            <a:noFill/>
            <a:prstDash val="solid"/>
          </a:ln>
        </p:spPr>
        <p:txBody>
          <a:bodyPr/>
          <a:lstStyle/>
          <a:p>
            <a:pPr algn="l">
              <a:defRPr sz="1125" b="0">
                <a:solidFill>
                  <a:srgbClr val="111827"/>
                </a:solidFill>
              </a:defRPr>
            </a:pPr>
            <a:r>
              <a:rPr sz="1125" b="0">
                <a:solidFill>
                  <a:srgbClr val="111827"/>
                </a:solidFill>
              </a:rPr>
              <a:t>Chạy nhiều seed để ước lượng phương sai</a:t>
            </a:r>
          </a:p>
        </p:txBody>
      </p:sp>
      <p:sp>
        <p:nvSpPr>
          <p:cNvPr id="28" name="Rectangle 27">
            <a:extLst>
              <a:ext uri="{FF2B5EF4-FFF2-40B4-BE49-F238E27FC236}">
                <a16:creationId xmlns:a16="http://schemas.microsoft.com/office/drawing/2014/main" id="{EA9D675C-8154-4F46-B788-ACC818C36A70}"/>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20/21</a:t>
            </a:r>
          </a:p>
        </p:txBody>
      </p:sp>
    </p:spTree>
    <p:extLst>
      <p:ext uri="{BB962C8B-B14F-4D97-AF65-F5344CB8AC3E}">
        <p14:creationId xmlns:p14="http://schemas.microsoft.com/office/powerpoint/2010/main" val="1906349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62F15F-52C3-4800-A934-DAF22508FB96}"/>
              </a:ext>
            </a:extLst>
          </p:cNvPr>
          <p:cNvSpPr>
            <a:spLocks noGrp="1"/>
          </p:cNvSpPr>
          <p:nvPr/>
        </p:nvSpPr>
        <p:spPr>
          <a:xfrm>
            <a:off x="781050" y="857250"/>
            <a:ext cx="4953000" cy="723900"/>
          </a:xfrm>
          <a:prstGeom prst="rect">
            <a:avLst/>
          </a:prstGeom>
          <a:noFill/>
          <a:ln w="0">
            <a:noFill/>
            <a:prstDash val="solid"/>
          </a:ln>
        </p:spPr>
        <p:txBody>
          <a:bodyPr/>
          <a:lstStyle/>
          <a:p>
            <a:pPr algn="l">
              <a:defRPr sz="4350" b="1">
                <a:solidFill>
                  <a:srgbClr val="111827"/>
                </a:solidFill>
              </a:defRPr>
            </a:pPr>
            <a:r>
              <a:rPr sz="4350" b="1">
                <a:solidFill>
                  <a:srgbClr val="111827"/>
                </a:solidFill>
              </a:rPr>
              <a:t>Kết luận</a:t>
            </a:r>
          </a:p>
        </p:txBody>
      </p:sp>
      <p:sp>
        <p:nvSpPr>
          <p:cNvPr id="2" name="Rectangle 1">
            <a:extLst>
              <a:ext uri="{FF2B5EF4-FFF2-40B4-BE49-F238E27FC236}">
                <a16:creationId xmlns:a16="http://schemas.microsoft.com/office/drawing/2014/main" id="{BB60B024-BCBF-438B-AAFC-2934B6FE9056}"/>
              </a:ext>
            </a:extLst>
          </p:cNvPr>
          <p:cNvSpPr>
            <a:spLocks noGrp="1"/>
          </p:cNvSpPr>
          <p:nvPr/>
        </p:nvSpPr>
        <p:spPr>
          <a:xfrm>
            <a:off x="876300" y="2047875"/>
            <a:ext cx="7429500" cy="2476500"/>
          </a:xfrm>
          <a:prstGeom prst="rect">
            <a:avLst/>
          </a:prstGeom>
          <a:noFill/>
          <a:ln w="0">
            <a:noFill/>
            <a:prstDash val="solid"/>
          </a:ln>
        </p:spPr>
        <p:txBody>
          <a:bodyPr/>
          <a:lstStyle/>
          <a:p>
            <a:pPr algn="l">
              <a:defRPr sz="1875" b="0">
                <a:solidFill>
                  <a:srgbClr val="111827"/>
                </a:solidFill>
              </a:defRPr>
            </a:pPr>
            <a:r>
              <a:rPr sz="1875" b="0">
                <a:solidFill>
                  <a:srgbClr val="111827"/>
                </a:solidFill>
              </a:rPr>
              <a:t>• Đã xây dựng pipeline phân loại và phân đoạn bệnh lá sầu riêng.</a:t>
            </a:r>
          </a:p>
          <a:p>
            <a:pPr algn="l">
              <a:defRPr sz="1875" b="0">
                <a:solidFill>
                  <a:srgbClr val="111827"/>
                </a:solidFill>
              </a:defRPr>
            </a:pPr>
            <a:r>
              <a:rPr sz="1875" b="0">
                <a:solidFill>
                  <a:srgbClr val="111827"/>
                </a:solidFill>
              </a:rPr>
              <a:t>• Classification đạt accuracy/F1 97,19% trên 890 ảnh test.</a:t>
            </a:r>
          </a:p>
          <a:p>
            <a:pPr algn="l">
              <a:defRPr sz="1875" b="0">
                <a:solidFill>
                  <a:srgbClr val="111827"/>
                </a:solidFill>
              </a:defRPr>
            </a:pPr>
            <a:r>
              <a:rPr sz="1875" b="0">
                <a:solidFill>
                  <a:srgbClr val="111827"/>
                </a:solidFill>
              </a:rPr>
              <a:t>• Segmentation tốt nhất hiện tại là F1: IoU 0,3083, Dice 0,4713 trên GT_OK.</a:t>
            </a:r>
          </a:p>
          <a:p>
            <a:pPr algn="l">
              <a:defRPr sz="1875" b="0">
                <a:solidFill>
                  <a:srgbClr val="111827"/>
                </a:solidFill>
              </a:defRPr>
            </a:pPr>
            <a:r>
              <a:rPr sz="1875" b="0">
                <a:solidFill>
                  <a:srgbClr val="111827"/>
                </a:solidFill>
              </a:rPr>
              <a:t>• Kết quả có giá trị nghiên cứu và demo, nhưng chưa nên gọi là production-ready.</a:t>
            </a:r>
          </a:p>
        </p:txBody>
      </p:sp>
      <p:sp>
        <p:nvSpPr>
          <p:cNvPr id="3" name="Rectangle 2">
            <a:extLst>
              <a:ext uri="{FF2B5EF4-FFF2-40B4-BE49-F238E27FC236}">
                <a16:creationId xmlns:a16="http://schemas.microsoft.com/office/drawing/2014/main" id="{C81C71E2-DF04-41F5-8E94-7F72405E817D}"/>
              </a:ext>
            </a:extLst>
          </p:cNvPr>
          <p:cNvSpPr>
            <a:spLocks noGrp="1"/>
          </p:cNvSpPr>
          <p:nvPr/>
        </p:nvSpPr>
        <p:spPr>
          <a:xfrm>
            <a:off x="8429625" y="2476500"/>
            <a:ext cx="2857500" cy="1619250"/>
          </a:xfrm>
          <a:prstGeom prst="rect">
            <a:avLst/>
          </a:prstGeom>
          <a:noFill/>
          <a:ln w="0">
            <a:noFill/>
            <a:prstDash val="solid"/>
          </a:ln>
        </p:spPr>
        <p:txBody>
          <a:bodyPr/>
          <a:lstStyle/>
          <a:p>
            <a:pPr algn="ctr">
              <a:defRPr sz="3300" b="1">
                <a:solidFill>
                  <a:srgbClr val="16A34A"/>
                </a:solidFill>
              </a:defRPr>
            </a:pPr>
            <a:r>
              <a:rPr sz="3300" b="1">
                <a:solidFill>
                  <a:srgbClr val="16A34A"/>
                </a:solidFill>
              </a:rPr>
              <a:t>Xin cảm ơn hội đồng</a:t>
            </a:r>
          </a:p>
          <a:p>
            <a:pPr algn="ctr">
              <a:defRPr sz="3300" b="1">
                <a:solidFill>
                  <a:srgbClr val="16A34A"/>
                </a:solidFill>
              </a:defRPr>
            </a:pPr>
            <a:r>
              <a:rPr sz="3300" b="1">
                <a:solidFill>
                  <a:srgbClr val="16A34A"/>
                </a:solidFill>
              </a:rPr>
              <a:t>Q&amp;A</a:t>
            </a:r>
          </a:p>
        </p:txBody>
      </p:sp>
      <p:sp>
        <p:nvSpPr>
          <p:cNvPr id="4" name="Rectangle 3">
            <a:extLst>
              <a:ext uri="{FF2B5EF4-FFF2-40B4-BE49-F238E27FC236}">
                <a16:creationId xmlns:a16="http://schemas.microsoft.com/office/drawing/2014/main" id="{D55231FE-8552-4C2D-8C2C-D1B588F48F5F}"/>
              </a:ext>
            </a:extLst>
          </p:cNvPr>
          <p:cNvSpPr>
            <a:spLocks noGrp="1"/>
          </p:cNvSpPr>
          <p:nvPr/>
        </p:nvSpPr>
        <p:spPr>
          <a:xfrm>
            <a:off x="8534400" y="4191000"/>
            <a:ext cx="2476500" cy="38100"/>
          </a:xfrm>
          <a:prstGeom prst="rect">
            <a:avLst/>
          </a:prstGeom>
          <a:solidFill>
            <a:srgbClr val="16A34A"/>
          </a:solidFill>
          <a:ln w="0">
            <a:noFill/>
            <a:prstDash val="solid"/>
          </a:ln>
        </p:spPr>
      </p:sp>
      <p:sp>
        <p:nvSpPr>
          <p:cNvPr id="5" name="Rectangle 4">
            <a:extLst>
              <a:ext uri="{FF2B5EF4-FFF2-40B4-BE49-F238E27FC236}">
                <a16:creationId xmlns:a16="http://schemas.microsoft.com/office/drawing/2014/main" id="{AA42536E-F27A-4B36-9177-98BD6415FB8A}"/>
              </a:ext>
            </a:extLst>
          </p:cNvPr>
          <p:cNvSpPr>
            <a:spLocks noGrp="1"/>
          </p:cNvSpPr>
          <p:nvPr/>
        </p:nvSpPr>
        <p:spPr>
          <a:xfrm>
            <a:off x="609600" y="6496050"/>
            <a:ext cx="4762500" cy="190500"/>
          </a:xfrm>
          <a:prstGeom prst="rect">
            <a:avLst/>
          </a:prstGeom>
          <a:noFill/>
          <a:ln w="0">
            <a:noFill/>
            <a:prstDash val="solid"/>
          </a:ln>
        </p:spPr>
        <p:txBody>
          <a:bodyPr/>
          <a:lstStyle/>
          <a:p>
            <a:pPr algn="l">
              <a:defRPr sz="900" b="0">
                <a:solidFill>
                  <a:srgbClr val="94A3B8"/>
                </a:solidFill>
              </a:defRPr>
            </a:pPr>
            <a:r>
              <a:rPr sz="900" b="0">
                <a:solidFill>
                  <a:srgbClr val="94A3B8"/>
                </a:solidFill>
              </a:rPr>
              <a:t>Đoàn Minh Hiếu | Bảo vệ luận văn | 21/21</a:t>
            </a:r>
          </a:p>
        </p:txBody>
      </p:sp>
    </p:spTree>
    <p:extLst>
      <p:ext uri="{BB962C8B-B14F-4D97-AF65-F5344CB8AC3E}">
        <p14:creationId xmlns:p14="http://schemas.microsoft.com/office/powerpoint/2010/main" val="286766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3867</Words>
  <Application>Microsoft Office PowerPoint</Application>
  <DocSecurity>0</DocSecurity>
  <PresentationFormat>Widescreen</PresentationFormat>
  <Paragraphs>464</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HieuDM15</cp:lastModifiedBy>
  <cp:revision>1</cp:revision>
  <dcterms:created xsi:type="dcterms:W3CDTF">2026-08-30T09:35:11Z</dcterms:created>
  <dcterms:modified xsi:type="dcterms:W3CDTF">2026-08-30T10:11:43Z</dcterms:modified>
</cp:coreProperties>
</file>